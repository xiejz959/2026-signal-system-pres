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2"/>
  </p:normalViewPr>
  <p:slideViewPr>
    <p:cSldViewPr snapToGrid="0" snapToObjects="1">
      <p:cViewPr varScale="1">
        <p:scale>
          <a:sx n="91" d="100"/>
          <a:sy n="91" d="100"/>
        </p:scale>
        <p:origin x="192" y="6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wav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4" Type="http://schemas.openxmlformats.org/officeDocument/2006/relationships/audio" Target="../media/media2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753606"/>
            <a:ext cx="106591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dirty="0">
                <a:solidFill>
                  <a:srgbClr val="F5F5F7"/>
                </a:solidFill>
                <a:latin typeface="Avenir Next"/>
              </a:rPr>
              <a:t>Designing a Noise Reduction Filter
for Voice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9120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D7D7DC"/>
                </a:solidFill>
                <a:latin typeface="Avenir Next"/>
              </a:rPr>
              <a:t>A simulated public-announcement case study using frequency-domain analysis and a basic low-pass filter.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54953"/>
            <a:ext cx="30694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D7D7DC"/>
                </a:solidFill>
                <a:latin typeface="Avenir Next"/>
              </a:rPr>
              <a:t>ECE0402 • Signals, Systems &amp;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74997"/>
            <a:ext cx="49419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1400" dirty="0" err="1">
                <a:solidFill>
                  <a:srgbClr val="D7D7DC"/>
                </a:solidFill>
                <a:latin typeface="Avenir Next"/>
              </a:rPr>
              <a:t>Junze</a:t>
            </a:r>
            <a:r>
              <a:rPr lang="en-US" altLang="zh-CN" sz="1400" dirty="0">
                <a:solidFill>
                  <a:srgbClr val="D7D7DC"/>
                </a:solidFill>
                <a:latin typeface="Avenir Next"/>
              </a:rPr>
              <a:t> Xie, Ming Chen, Zifan Xu, Yimin Chen &amp;Wanting Luo</a:t>
            </a:r>
            <a:endParaRPr sz="1400" dirty="0">
              <a:solidFill>
                <a:srgbClr val="D7D7DC"/>
              </a:solidFill>
              <a:latin typeface="Avenir Nex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27083" y="6263640"/>
            <a:ext cx="1428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E6125-0049-FD30-CDB4-241134754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644AB-9689-890D-304D-991349A1AE1B}"/>
              </a:ext>
            </a:extLst>
          </p:cNvPr>
          <p:cNvSpPr txBox="1"/>
          <p:nvPr/>
        </p:nvSpPr>
        <p:spPr>
          <a:xfrm>
            <a:off x="822960" y="548640"/>
            <a:ext cx="59713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Why this problem matters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65DE99-9469-5998-30A0-65836DDD049E}"/>
              </a:ext>
            </a:extLst>
          </p:cNvPr>
          <p:cNvSpPr/>
          <p:nvPr/>
        </p:nvSpPr>
        <p:spPr>
          <a:xfrm>
            <a:off x="822960" y="1835977"/>
            <a:ext cx="2869596" cy="1096468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Real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C6E44A-F7AC-057A-0A6E-3849914B0B5F}"/>
              </a:ext>
            </a:extLst>
          </p:cNvPr>
          <p:cNvSpPr/>
          <p:nvPr/>
        </p:nvSpPr>
        <p:spPr>
          <a:xfrm>
            <a:off x="8416646" y="3276355"/>
            <a:ext cx="2869596" cy="1096468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Controllable model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C70E1E-0E33-E7FB-3723-40227227E27F}"/>
              </a:ext>
            </a:extLst>
          </p:cNvPr>
          <p:cNvSpPr/>
          <p:nvPr/>
        </p:nvSpPr>
        <p:spPr>
          <a:xfrm>
            <a:off x="822960" y="4757194"/>
            <a:ext cx="2869596" cy="1096468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Explainable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74D24-CF59-47C0-39F6-8BDE8D784778}"/>
              </a:ext>
            </a:extLst>
          </p:cNvPr>
          <p:cNvSpPr txBox="1"/>
          <p:nvPr/>
        </p:nvSpPr>
        <p:spPr>
          <a:xfrm>
            <a:off x="9727084" y="6263640"/>
            <a:ext cx="14285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549370-BF6E-59AC-4E3C-B6285C49F170}"/>
              </a:ext>
            </a:extLst>
          </p:cNvPr>
          <p:cNvSpPr txBox="1"/>
          <p:nvPr/>
        </p:nvSpPr>
        <p:spPr>
          <a:xfrm>
            <a:off x="4444678" y="1835977"/>
            <a:ext cx="6493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>
                <a:solidFill>
                  <a:srgbClr val="F5F5F7"/>
                </a:solidFill>
                <a:latin typeface="Avenir Next"/>
              </a:defRPr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Voice recordings and public announcements often lose clarity when background noise is present.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4E92E8-8F29-092F-8E59-08AEBC167F47}"/>
              </a:ext>
            </a:extLst>
          </p:cNvPr>
          <p:cNvSpPr txBox="1"/>
          <p:nvPr/>
        </p:nvSpPr>
        <p:spPr>
          <a:xfrm>
            <a:off x="1203768" y="3244655"/>
            <a:ext cx="7374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>
                <a:solidFill>
                  <a:srgbClr val="F5F5F7"/>
                </a:solidFill>
                <a:latin typeface="Avenir Next"/>
              </a:defRPr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High-frequency hiss is a useful starting point because it is common in recording chains and easier to analyze.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71FE70-3298-E31F-12CB-33341328BFA1}"/>
              </a:ext>
            </a:extLst>
          </p:cNvPr>
          <p:cNvSpPr txBox="1"/>
          <p:nvPr/>
        </p:nvSpPr>
        <p:spPr>
          <a:xfrm>
            <a:off x="4247909" y="4757194"/>
            <a:ext cx="7292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>
                <a:solidFill>
                  <a:srgbClr val="F5F5F7"/>
                </a:solidFill>
                <a:latin typeface="Avenir Next"/>
              </a:defRPr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 simple, explainable filter is enough to show how Signals and Systems ideas work in a real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48757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07569-816A-F444-1EFE-4B08EE57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BEE1E-5FB7-A15F-1F1A-392448CE4062}"/>
              </a:ext>
            </a:extLst>
          </p:cNvPr>
          <p:cNvSpPr txBox="1"/>
          <p:nvPr/>
        </p:nvSpPr>
        <p:spPr>
          <a:xfrm>
            <a:off x="822960" y="548640"/>
            <a:ext cx="44412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Problem statement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15CF5A2-53C0-1BF9-7CF6-C644928A91D6}"/>
              </a:ext>
            </a:extLst>
          </p:cNvPr>
          <p:cNvSpPr/>
          <p:nvPr/>
        </p:nvSpPr>
        <p:spPr>
          <a:xfrm>
            <a:off x="1183798" y="2598004"/>
            <a:ext cx="2246735" cy="830996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5F7"/>
                </a:solidFill>
                <a:latin typeface="Avenir Next"/>
              </a:defRPr>
            </a:pPr>
            <a:r>
              <a:rPr sz="2000" dirty="0"/>
              <a:t>clean voice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FF72A4-ED69-D44C-3C57-9BED236D8068}"/>
              </a:ext>
            </a:extLst>
          </p:cNvPr>
          <p:cNvSpPr/>
          <p:nvPr/>
        </p:nvSpPr>
        <p:spPr>
          <a:xfrm>
            <a:off x="1183798" y="4099018"/>
            <a:ext cx="2246735" cy="830996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5F7"/>
                </a:solidFill>
                <a:latin typeface="Avenir Next"/>
              </a:defRPr>
            </a:pPr>
            <a:r>
              <a:rPr sz="2000" b="1" dirty="0">
                <a:solidFill>
                  <a:srgbClr val="F5F5F7"/>
                </a:solidFill>
                <a:latin typeface="Avenir Next"/>
              </a:rPr>
              <a:t>hiss noise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F6C2F4-1ECE-D22E-9F1F-9D313D398A6C}"/>
              </a:ext>
            </a:extLst>
          </p:cNvPr>
          <p:cNvSpPr/>
          <p:nvPr/>
        </p:nvSpPr>
        <p:spPr>
          <a:xfrm>
            <a:off x="5037883" y="3360554"/>
            <a:ext cx="2368180" cy="830996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5F7"/>
                </a:solidFill>
                <a:latin typeface="Avenir Next"/>
              </a:defRPr>
            </a:pPr>
            <a:r>
              <a:rPr sz="2000" dirty="0"/>
              <a:t>noisy voice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3A27975-787F-03D3-2B6F-B8867474D881}"/>
              </a:ext>
            </a:extLst>
          </p:cNvPr>
          <p:cNvSpPr/>
          <p:nvPr/>
        </p:nvSpPr>
        <p:spPr>
          <a:xfrm>
            <a:off x="8640022" y="3334266"/>
            <a:ext cx="2368180" cy="830996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5F7"/>
                </a:solidFill>
                <a:latin typeface="Avenir Next"/>
              </a:defRPr>
            </a:pPr>
            <a:r>
              <a:rPr sz="2000" b="1" dirty="0">
                <a:solidFill>
                  <a:srgbClr val="F5F5F7"/>
                </a:solidFill>
                <a:latin typeface="Avenir Next"/>
              </a:rPr>
              <a:t>filtered voice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EA9F8-5A9D-D982-0CFA-F52DBF32CFA2}"/>
              </a:ext>
            </a:extLst>
          </p:cNvPr>
          <p:cNvSpPr txBox="1"/>
          <p:nvPr/>
        </p:nvSpPr>
        <p:spPr>
          <a:xfrm>
            <a:off x="9727084" y="6263640"/>
            <a:ext cx="14285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9B9094-3FF7-0F10-F35C-2CD8E159ABEA}"/>
              </a:ext>
            </a:extLst>
          </p:cNvPr>
          <p:cNvSpPr txBox="1"/>
          <p:nvPr/>
        </p:nvSpPr>
        <p:spPr>
          <a:xfrm>
            <a:off x="643300" y="1371600"/>
            <a:ext cx="4620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>
                <a:solidFill>
                  <a:srgbClr val="F5F5F7"/>
                </a:solidFill>
                <a:latin typeface="Avenir Next"/>
              </a:defRPr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Input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: noisy voice corrupted by 		high-frequency hiss.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8C90A9-05A4-BE70-9FDD-6D47951CA7BB}"/>
              </a:ext>
            </a:extLst>
          </p:cNvPr>
          <p:cNvSpPr txBox="1"/>
          <p:nvPr/>
        </p:nvSpPr>
        <p:spPr>
          <a:xfrm>
            <a:off x="6927762" y="1366688"/>
            <a:ext cx="4166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>
                <a:solidFill>
                  <a:srgbClr val="F5F5F7"/>
                </a:solidFill>
                <a:latin typeface="Avenir Next"/>
              </a:defRPr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Output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5F5F7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: a cleaner voice 			   signal after filtering.</a:t>
            </a:r>
          </a:p>
        </p:txBody>
      </p: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4F709C6E-6E20-587E-FEEF-AD762CD04C64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0533" y="3013502"/>
            <a:ext cx="1607350" cy="762550"/>
          </a:xfrm>
          <a:prstGeom prst="bentConnector3">
            <a:avLst/>
          </a:prstGeom>
          <a:ln w="508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810644E8-5871-2F19-1A30-4564CF103A4F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430533" y="3776052"/>
            <a:ext cx="1607350" cy="738464"/>
          </a:xfrm>
          <a:prstGeom prst="bentConnector3">
            <a:avLst/>
          </a:prstGeom>
          <a:ln w="508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84203DAC-A190-E460-B7F8-75B4A53D1421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7406063" y="3749764"/>
            <a:ext cx="1233959" cy="26288"/>
          </a:xfrm>
          <a:prstGeom prst="straightConnector1">
            <a:avLst/>
          </a:prstGeom>
          <a:ln w="635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CA81DA6-79B4-5B0D-6CEF-761EA4A6A0C4}"/>
              </a:ext>
            </a:extLst>
          </p:cNvPr>
          <p:cNvSpPr txBox="1"/>
          <p:nvPr/>
        </p:nvSpPr>
        <p:spPr>
          <a:xfrm>
            <a:off x="7576104" y="2969494"/>
            <a:ext cx="8938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00" b="1">
                <a:solidFill>
                  <a:srgbClr val="F5F5F7"/>
                </a:solidFill>
                <a:latin typeface="Avenir Next"/>
              </a:defRPr>
            </a:pPr>
            <a:r>
              <a:rPr lang="en-US" altLang="zh-CN" sz="6000" b="1" dirty="0">
                <a:solidFill>
                  <a:srgbClr val="F5F5F7"/>
                </a:solidFill>
                <a:latin typeface="Avenir Next"/>
              </a:rPr>
              <a:t>?</a:t>
            </a:r>
            <a:endParaRPr lang="zh-CN" altLang="en-US" sz="6000" b="1" dirty="0">
              <a:solidFill>
                <a:srgbClr val="F5F5F7"/>
              </a:solidFill>
              <a:latin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68589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F25E3-6255-568E-59CC-B5C9FA11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9234495-8BF5-4A57-12DF-228503757559}"/>
              </a:ext>
            </a:extLst>
          </p:cNvPr>
          <p:cNvSpPr txBox="1"/>
          <p:nvPr/>
        </p:nvSpPr>
        <p:spPr>
          <a:xfrm>
            <a:off x="590842" y="717452"/>
            <a:ext cx="1146517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rgbClr val="D7D7DC"/>
                </a:solidFill>
                <a:latin typeface="Avenir Next"/>
              </a:rPr>
              <a:t>MAIN DESIGN QUESTION </a:t>
            </a:r>
          </a:p>
          <a:p>
            <a:pPr algn="l"/>
            <a:endParaRPr lang="en-US" altLang="zh-CN" sz="6000" dirty="0">
              <a:solidFill>
                <a:srgbClr val="D7D7DC"/>
              </a:solidFill>
              <a:latin typeface="Avenir Next"/>
            </a:endParaRPr>
          </a:p>
          <a:p>
            <a:pPr algn="l"/>
            <a:r>
              <a:rPr lang="en-US" altLang="zh-CN" sz="5200" dirty="0">
                <a:solidFill>
                  <a:srgbClr val="D7D7DC"/>
                </a:solidFill>
                <a:latin typeface="Avenir Next"/>
              </a:rPr>
              <a:t>Where should the filter cut off to reduce noise without making speech sound too dull?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E3CF64-4163-D8E1-3111-F72F4AF6E5E6}"/>
              </a:ext>
            </a:extLst>
          </p:cNvPr>
          <p:cNvSpPr txBox="1"/>
          <p:nvPr/>
        </p:nvSpPr>
        <p:spPr>
          <a:xfrm>
            <a:off x="9727084" y="6263640"/>
            <a:ext cx="14285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4</a:t>
            </a:r>
          </a:p>
        </p:txBody>
      </p:sp>
    </p:spTree>
    <p:extLst>
      <p:ext uri="{BB962C8B-B14F-4D97-AF65-F5344CB8AC3E}">
        <p14:creationId xmlns:p14="http://schemas.microsoft.com/office/powerpoint/2010/main" val="142563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0855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Simulated application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669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We use a station background as the story, but we simulate the signal instead of recording a complex real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575089"/>
            <a:ext cx="3749039" cy="237744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dirty="0">
                <a:solidFill>
                  <a:srgbClr val="F5F5F7"/>
                </a:solidFill>
                <a:latin typeface="Avenir Next"/>
              </a:rPr>
              <a:t>Scene framing
A short public-announcement style voice sample is corrupted by high-frequency hiss and then processed by a simple digital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7083" y="6263640"/>
            <a:ext cx="1428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5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0FFF33-C5CC-C58C-F31A-BBA60AFF7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482" y="1981261"/>
            <a:ext cx="5666943" cy="3187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48869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Signal characteristics</a:t>
            </a:r>
          </a:p>
        </p:txBody>
      </p:sp>
      <p:pic>
        <p:nvPicPr>
          <p:cNvPr id="5" name="Picture 4" descr="spectrum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03784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91818" y="6263640"/>
            <a:ext cx="146386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6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658981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Why Fourier Transform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5303520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In the time domain, speech and noise are mixed together and hard to separate directly.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The Fourier Transform shows where energy is concentrated across frequencies.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That frequency view tells us why a low-pass filter is reasonable in this specific hiss scenario.</a:t>
            </a:r>
          </a:p>
        </p:txBody>
      </p:sp>
      <p:pic>
        <p:nvPicPr>
          <p:cNvPr id="5" name="Picture 4" descr="spectrogram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48920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7083" y="6263640"/>
            <a:ext cx="1428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7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407803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Filter design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5053818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2800 Hz removes more hiss, but speech starts sounding dull.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3600 Hz preserves more speech detail, but leaves more high-frequency noise behind.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3200 Hz gives the best presentation balance between audible improvement and naturalness.</a:t>
            </a:r>
          </a:p>
        </p:txBody>
      </p:sp>
      <p:pic>
        <p:nvPicPr>
          <p:cNvPr id="6" name="Picture 5" descr="parameter_comparison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0611"/>
            <a:ext cx="54406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27083" y="6263640"/>
            <a:ext cx="1428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8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40767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9621" y="1600813"/>
            <a:ext cx="2503323" cy="936392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clean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4469" y="1600813"/>
            <a:ext cx="2503323" cy="936392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hiss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69317" y="1600813"/>
            <a:ext cx="2503323" cy="936392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noisy 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67100" y="2804921"/>
            <a:ext cx="2503323" cy="936392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low-pass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7654" y="2837466"/>
            <a:ext cx="2503323" cy="936392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filtered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17263"/>
            <a:ext cx="717171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Model a realistic but controllable scenario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Observe the signal in the frequency domain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Design and compare candidate filter parameters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600" dirty="0"/>
              <a:t>Evaluate the result with audio and figures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7083" y="6263640"/>
            <a:ext cx="1428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9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1497378-EEB9-7736-E166-E9B5804A454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242944" y="2069009"/>
            <a:ext cx="1411525" cy="0"/>
          </a:xfrm>
          <a:prstGeom prst="straightConnector1">
            <a:avLst/>
          </a:prstGeom>
          <a:ln w="508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0E2B2CC-E703-C1A8-8851-F51E24E4109D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157792" y="2069009"/>
            <a:ext cx="1411525" cy="0"/>
          </a:xfrm>
          <a:prstGeom prst="straightConnector1">
            <a:avLst/>
          </a:prstGeom>
          <a:ln w="508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947BB2E7-37A7-782A-954D-004EFA2F65C7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rot="5400000">
            <a:off x="9327745" y="2779883"/>
            <a:ext cx="735912" cy="250556"/>
          </a:xfrm>
          <a:prstGeom prst="bentConnector2">
            <a:avLst/>
          </a:prstGeom>
          <a:ln w="508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F069B8-BFC6-7BD7-BBDC-87DBFE629E14}"/>
              </a:ext>
            </a:extLst>
          </p:cNvPr>
          <p:cNvCxnSpPr>
            <a:stCxn id="10" idx="1"/>
          </p:cNvCxnSpPr>
          <p:nvPr/>
        </p:nvCxnSpPr>
        <p:spPr>
          <a:xfrm flipH="1">
            <a:off x="4899717" y="3273117"/>
            <a:ext cx="2167383" cy="32545"/>
          </a:xfrm>
          <a:prstGeom prst="straightConnector1">
            <a:avLst/>
          </a:prstGeom>
          <a:ln w="508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548640"/>
            <a:ext cx="29033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Demo setup</a:t>
            </a:r>
          </a:p>
        </p:txBody>
      </p:sp>
      <p:pic>
        <p:nvPicPr>
          <p:cNvPr id="6" name="clean_voice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26319" y="1899138"/>
            <a:ext cx="960120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60760" y="1899138"/>
            <a:ext cx="2903358" cy="96012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Clean Voice</a:t>
            </a:r>
          </a:p>
        </p:txBody>
      </p:sp>
      <p:pic>
        <p:nvPicPr>
          <p:cNvPr id="8" name="noisy_voice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26319" y="2996418"/>
            <a:ext cx="960120" cy="960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0760" y="2996418"/>
            <a:ext cx="2903358" cy="960120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Noisy Voice</a:t>
            </a:r>
          </a:p>
        </p:txBody>
      </p:sp>
      <p:pic>
        <p:nvPicPr>
          <p:cNvPr id="10" name="filtered_voice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26319" y="4093698"/>
            <a:ext cx="960120" cy="960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60760" y="4093698"/>
            <a:ext cx="2903358" cy="960120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Filtered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5330" y="6263640"/>
            <a:ext cx="15103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10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7956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Audible improvement supported by visual evidence</a:t>
            </a:r>
          </a:p>
        </p:txBody>
      </p:sp>
      <p:pic>
        <p:nvPicPr>
          <p:cNvPr id="5" name="Picture 4" descr="demo_pair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120640" cy="2103120"/>
          </a:xfrm>
          <a:prstGeom prst="rect">
            <a:avLst/>
          </a:prstGeom>
        </p:spPr>
      </p:pic>
      <p:pic>
        <p:nvPicPr>
          <p:cNvPr id="7" name="Picture 6" descr="spectrogram_roun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07492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7" y="3816380"/>
            <a:ext cx="5650993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High-frequency hiss is visibly reduced after filtering.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Speech remains understandable in the processed output.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The improvement is clear, but some high-frequency speech detail is softened.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5330" y="6263640"/>
            <a:ext cx="15103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1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1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60115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Discussion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79" y="1737360"/>
            <a:ext cx="6221437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The low-pass filter works because the simulated hiss is mainly high-frequency.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The same mechanism also removes some useful high-frequency speech detail.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sz="2400" dirty="0"/>
              <a:t>A more realistic station environment would contain broader and more complex noise, which basic low-pass filtering cannot handle as cleanly.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18" y="1368081"/>
            <a:ext cx="2760785" cy="1230923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Suppression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16" y="2869813"/>
            <a:ext cx="2760785" cy="1230923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Preservation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17" y="4258996"/>
            <a:ext cx="2760785" cy="1230923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5F5F7"/>
                </a:solidFill>
                <a:latin typeface="Avenir Next"/>
              </a:rPr>
              <a:t>Tradeoff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5330" y="6263640"/>
            <a:ext cx="15103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1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2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143000"/>
            <a:ext cx="1024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5F5F7"/>
                </a:solidFill>
                <a:latin typeface="Avenir Next"/>
              </a:rPr>
              <a:t>A simple filter can explain a lot.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79552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D7D7DC"/>
                </a:solidFill>
                <a:latin typeface="Avenir Next"/>
              </a:rPr>
              <a:t>We modeled a voice-noise problem, used frequency-domain analysis to guide the design, and showed that a basic low-pass filter can reduce hiss while preserving intelligibility.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5330" y="6263640"/>
            <a:ext cx="15103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B4B4B9"/>
                </a:solidFill>
                <a:latin typeface="Avenir Next"/>
              </a:rPr>
              <a:t>ECE0402  •  Slide 1</a:t>
            </a:r>
            <a:r>
              <a:rPr lang="en-US" sz="1100" dirty="0">
                <a:solidFill>
                  <a:srgbClr val="B4B4B9"/>
                </a:solidFill>
                <a:latin typeface="Avenir Next"/>
              </a:rPr>
              <a:t>3</a:t>
            </a:r>
            <a:endParaRPr sz="1100" dirty="0">
              <a:solidFill>
                <a:srgbClr val="B4B4B9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527</Words>
  <Application>Microsoft Macintosh PowerPoint</Application>
  <PresentationFormat>宽屏</PresentationFormat>
  <Paragraphs>75</Paragraphs>
  <Slides>13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Avenir Next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6</cp:revision>
  <dcterms:created xsi:type="dcterms:W3CDTF">2013-01-27T09:14:16Z</dcterms:created>
  <dcterms:modified xsi:type="dcterms:W3CDTF">2026-04-13T05:51:29Z</dcterms:modified>
  <cp:category/>
</cp:coreProperties>
</file>