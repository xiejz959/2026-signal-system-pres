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Designing a Noise Reduction Filter
for Voice Signals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From fixed low-pass filtering to Wiener-style frequency-domain masking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9834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EBEC4"/>
                </a:solidFill>
                <a:latin typeface="Avenir Next"/>
              </a:rPr>
              <a:t>ECE0402 • Signals, Systems &amp; Probability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358384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EBEC4"/>
                </a:solidFill>
                <a:latin typeface="Avenir Next"/>
              </a:rPr>
              <a:t>Junze Xie, Ming Chen, Zifan Xu, Yimin Chen &amp; Wanting Luo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Why this problem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Voice denoising as a real signal-processing task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60350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Voice recordings and public announcements often lose clarity when background noise is present.</a:t>
            </a:r>
          </a:p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High-frequency hiss is a useful starting point because it is common, audible, and frequency-domain friendly.</a:t>
            </a:r>
          </a:p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Our goal is to connect a real application to Signals and Systems ideas through a controllable demo.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828800"/>
            <a:ext cx="2011680" cy="411480"/>
          </a:xfrm>
          <a:prstGeom prst="roundRect">
            <a:avLst/>
          </a:prstGeom>
          <a:solidFill>
            <a:srgbClr val="0071E3"/>
          </a:solidFill>
          <a:ln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5F5F7"/>
                </a:solidFill>
                <a:latin typeface="Avenir Next"/>
              </a:rPr>
              <a:t>Real problem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2423160"/>
            <a:ext cx="2011680" cy="411480"/>
          </a:xfrm>
          <a:prstGeom prst="roundRect">
            <a:avLst/>
          </a:prstGeom>
          <a:solidFill>
            <a:srgbClr val="FF9F0A"/>
          </a:solidFill>
          <a:ln>
            <a:solidFill>
              <a:srgbClr val="FF9F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C"/>
                </a:solidFill>
                <a:latin typeface="Avenir Next"/>
              </a:rPr>
              <a:t>Controllable model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3017520"/>
            <a:ext cx="2011680" cy="411480"/>
          </a:xfrm>
          <a:prstGeom prst="roundRect">
            <a:avLst/>
          </a:prstGeom>
          <a:solidFill>
            <a:srgbClr val="30D158"/>
          </a:solidFill>
          <a:ln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C"/>
                </a:solidFill>
                <a:latin typeface="Avenir Next"/>
              </a:rPr>
              <a:t>Explainable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Scenario and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Real-world motivation, controlled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5715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Scenario: a public-announcement style voice signal affected by high-frequency hiss.</a:t>
            </a:r>
          </a:p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We simulate the signal instead of recording a complex station environment.</a:t>
            </a:r>
          </a:p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This keeps the noise controllable, the experiment repeatable, and the result easier to analyze.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95160" y="1600200"/>
            <a:ext cx="4160520" cy="292608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78040" y="2834640"/>
            <a:ext cx="37947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PLACEHOLDER
scenario / setup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Input, output, and design goal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331720"/>
            <a:ext cx="1645920" cy="411480"/>
          </a:xfrm>
          <a:prstGeom prst="roundRect">
            <a:avLst/>
          </a:prstGeom>
          <a:solidFill>
            <a:srgbClr val="0071E3"/>
          </a:solidFill>
          <a:ln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5F5F7"/>
                </a:solidFill>
                <a:latin typeface="Avenir Next"/>
              </a:rPr>
              <a:t>clean voice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2395728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8A8A92"/>
                </a:solidFill>
                <a:latin typeface="Avenir Next"/>
              </a:rPr>
              <a:t>+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46120" y="2331720"/>
            <a:ext cx="1645920" cy="411480"/>
          </a:xfrm>
          <a:prstGeom prst="roundRect">
            <a:avLst/>
          </a:prstGeom>
          <a:solidFill>
            <a:srgbClr val="FF9F0A"/>
          </a:solidFill>
          <a:ln>
            <a:solidFill>
              <a:srgbClr val="FF9F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C"/>
                </a:solidFill>
                <a:latin typeface="Avenir Next"/>
              </a:rPr>
              <a:t>hiss noise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66360" y="2395728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8A8A92"/>
                </a:solidFill>
                <a:latin typeface="Avenir Next"/>
              </a:rPr>
              <a:t>=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0" y="2331720"/>
            <a:ext cx="1645920" cy="411480"/>
          </a:xfrm>
          <a:prstGeom prst="roundRect">
            <a:avLst/>
          </a:prstGeom>
          <a:solidFill>
            <a:srgbClr val="FF453A"/>
          </a:solidFill>
          <a:ln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5F5F7"/>
                </a:solidFill>
                <a:latin typeface="Avenir Next"/>
              </a:rPr>
              <a:t>noisy 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2395728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8A8A92"/>
                </a:solidFill>
                <a:latin typeface="Avenir Next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331720"/>
            <a:ext cx="2148840" cy="411480"/>
          </a:xfrm>
          <a:prstGeom prst="roundRect">
            <a:avLst/>
          </a:prstGeom>
          <a:solidFill>
            <a:srgbClr val="BF5AF2"/>
          </a:solidFill>
          <a:ln>
            <a:solidFill>
              <a:srgbClr val="BF5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5F5F7"/>
                </a:solidFill>
                <a:latin typeface="Avenir Next"/>
              </a:rPr>
              <a:t>denoising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78440" y="2395728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8A8A92"/>
                </a:solidFill>
                <a:latin typeface="Avenir Next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44200" y="2331720"/>
            <a:ext cx="1143000" cy="411480"/>
          </a:xfrm>
          <a:prstGeom prst="roundRect">
            <a:avLst/>
          </a:prstGeom>
          <a:solidFill>
            <a:srgbClr val="30D158"/>
          </a:solidFill>
          <a:ln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C"/>
                </a:solidFill>
                <a:latin typeface="Avenir Next"/>
              </a:rPr>
              <a:t>enhanced voice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49039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5F5F7"/>
                </a:solidFill>
                <a:latin typeface="Avenir Next"/>
              </a:rPr>
              <a:t>Goal: suppress hiss while preserving useful speech information.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51960"/>
            <a:ext cx="6583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BEBEC4"/>
                </a:solidFill>
                <a:latin typeface="Avenir Next"/>
              </a:rPr>
              <a:t>This is a tradeoff, not a perfect-recovery problem.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Signal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A Signals and Systems viewpoint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6035040" cy="621792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984248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F5F7"/>
                </a:solidFill>
                <a:latin typeface="Avenir Next"/>
              </a:rPr>
              <a:t>x_noisy[n] = x_clean[n] + n_hiss[n]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88920"/>
            <a:ext cx="58521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5F5F7"/>
                </a:solidFill>
                <a:latin typeface="Avenir Next"/>
              </a:defRPr>
            </a:pPr>
            <a:r>
              <a:t>clean voice and hiss are both signals</a:t>
            </a:r>
          </a:p>
          <a:p>
            <a:pPr>
              <a:spcAft>
                <a:spcPts val="800"/>
              </a:spcAft>
              <a:defRPr sz="1700">
                <a:solidFill>
                  <a:srgbClr val="F5F5F7"/>
                </a:solidFill>
                <a:latin typeface="Avenir Next"/>
              </a:defRPr>
            </a:pPr>
            <a:r>
              <a:t>the noisy voice is a superposition</a:t>
            </a:r>
          </a:p>
          <a:p>
            <a:pPr>
              <a:spcAft>
                <a:spcPts val="800"/>
              </a:spcAft>
              <a:defRPr sz="1700">
                <a:solidFill>
                  <a:srgbClr val="F5F5F7"/>
                </a:solidFill>
                <a:latin typeface="Avenir Next"/>
              </a:defRPr>
            </a:pPr>
            <a:r>
              <a:t>the filter is an input-output system</a:t>
            </a:r>
          </a:p>
          <a:p>
            <a:pPr>
              <a:spcAft>
                <a:spcPts val="800"/>
              </a:spcAft>
              <a:defRPr sz="1700">
                <a:solidFill>
                  <a:srgbClr val="F5F5F7"/>
                </a:solidFill>
                <a:latin typeface="Avenir Next"/>
              </a:defRPr>
            </a:pPr>
            <a:r>
              <a:t>frequency response explains what the system keeps or suppresses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828800"/>
            <a:ext cx="3840480" cy="256032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28803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PLACEHOLDER
input-output system diagram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Visualizing the signals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Waveform, spectrum, and spectrogram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91640"/>
            <a:ext cx="3337560" cy="242316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674620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waveform
placeholder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691640"/>
            <a:ext cx="3337560" cy="242316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2674620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FFT spectrum
placeholder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1691640"/>
            <a:ext cx="3337560" cy="242316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79" y="2674620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spectrogram
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800600"/>
            <a:ext cx="9875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BEBEC4"/>
                </a:solidFill>
                <a:latin typeface="Avenir Next"/>
              </a:rPr>
              <a:t>Waveform shows time-domain shape. FFT shows overall frequency energy. Spectrogram shows how energy changes over time and frequency.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Frequency-domain observation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Why hiss suggests a filtering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4800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Clean voice has structured low-to-mid frequency components.</a:t>
            </a:r>
          </a:p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Hiss noise raises the high-frequency background.</a:t>
            </a:r>
          </a:p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The noisy signal makes the high-frequency region visibly stronger.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417320"/>
            <a:ext cx="5212080" cy="402336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63640" y="32004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PLACEHOLDER
spectrum / spectrogram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Baseline: low-pass filter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A fixed frequency-domain mask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5669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Low-pass filtering keeps lower frequencies and attenuates higher frequencies.</a:t>
            </a:r>
          </a:p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It is easy to explain and closely related to frequency response.</a:t>
            </a:r>
          </a:p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In mask language, low-pass is a fixed mask: pass below cutoff, suppress above cutoff.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95160" y="1691640"/>
            <a:ext cx="4160520" cy="283464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78040" y="2880360"/>
            <a:ext cx="37947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PLACEHOLDER
low-pass response / fixed mask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Baseline parameter 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Why cutoff is a design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51663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Lower cutoff: stronger noise reduction, but speech becomes duller.</a:t>
            </a:r>
          </a:p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Higher cutoff: more speech detail, but more hiss remains.</a:t>
            </a:r>
          </a:p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The chosen cutoff is a balance between suppression and preservation.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417320"/>
            <a:ext cx="4800600" cy="406908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3223260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PLACEHOLDER
cutoff comparison figure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Why low-pass is not enough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The baseline is explainable, but coarse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5669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F5F5F7"/>
                </a:solidFill>
                <a:latin typeface="Avenir Next"/>
              </a:defRPr>
            </a:pPr>
            <a:r>
              <a:t>Low-pass uses the same attenuation pattern for the entire signal.</a:t>
            </a:r>
          </a:p>
          <a:p>
            <a:pPr>
              <a:spcAft>
                <a:spcPts val="800"/>
              </a:spcAft>
              <a:defRPr sz="1900">
                <a:solidFill>
                  <a:srgbClr val="F5F5F7"/>
                </a:solidFill>
                <a:latin typeface="Avenir Next"/>
              </a:defRPr>
            </a:pPr>
            <a:r>
              <a:t>It does not know whether a time-frequency region is speech-dominant or noise-dominant.</a:t>
            </a:r>
          </a:p>
          <a:p>
            <a:pPr>
              <a:spcAft>
                <a:spcPts val="800"/>
              </a:spcAft>
              <a:defRPr sz="1900">
                <a:solidFill>
                  <a:srgbClr val="F5F5F7"/>
                </a:solidFill>
                <a:latin typeface="Avenir Next"/>
              </a:defRPr>
            </a:pPr>
            <a:r>
              <a:t>This can reduce hiss, but it can also remove useful high-frequency speech detail.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4800600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AC8FA"/>
                </a:solidFill>
                <a:latin typeface="Avenir Next"/>
              </a:rPr>
              <a:t>This motivates a more flexible frequency-domain mask.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Frequency-domain masking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A more flexible version of the same idea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45920"/>
            <a:ext cx="4297680" cy="621792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0136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F5F7"/>
                </a:solidFill>
                <a:latin typeface="Avenir Next"/>
              </a:rPr>
              <a:t>Y(f) = M(f)X(f)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514600"/>
            <a:ext cx="4297680" cy="621792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67004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F5F7"/>
                </a:solidFill>
                <a:latin typeface="Avenir Next"/>
              </a:rPr>
              <a:t>Y(t, f) = M(t, f)X(t, f)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566160"/>
            <a:ext cx="5212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5F5F7"/>
                </a:solidFill>
                <a:latin typeface="Avenir Next"/>
              </a:defRPr>
            </a:pPr>
            <a:r>
              <a:t>M close to 1: preserve this component</a:t>
            </a:r>
          </a:p>
          <a:p>
            <a:pPr>
              <a:spcAft>
                <a:spcPts val="800"/>
              </a:spcAft>
              <a:defRPr sz="1600">
                <a:solidFill>
                  <a:srgbClr val="F5F5F7"/>
                </a:solidFill>
                <a:latin typeface="Avenir Next"/>
              </a:defRPr>
            </a:pPr>
            <a:r>
              <a:t>M close to 0: suppress this component</a:t>
            </a:r>
          </a:p>
          <a:p>
            <a:pPr>
              <a:spcAft>
                <a:spcPts val="800"/>
              </a:spcAft>
              <a:defRPr sz="1600">
                <a:solidFill>
                  <a:srgbClr val="F5F5F7"/>
                </a:solidFill>
                <a:latin typeface="Avenir Next"/>
              </a:defRPr>
            </a:pPr>
            <a:r>
              <a:t>Low-pass is a fixed mask; frequency masking can be more adaptive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417320"/>
            <a:ext cx="4800600" cy="429768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3337560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PLACEHOLDER
mask heatmap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Wiener-style mask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A principled way to design the mask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91640"/>
            <a:ext cx="6400800" cy="621792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47088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F5F7"/>
                </a:solidFill>
                <a:latin typeface="Avenir Next"/>
              </a:rPr>
              <a:t>M(f) = P_speech(f) / (P_speech(f) + P_noise(f))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51760"/>
            <a:ext cx="6126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5F5F7"/>
                </a:solidFill>
                <a:latin typeface="Avenir Next"/>
              </a:defRPr>
            </a:pPr>
            <a:r>
              <a:t>If speech power is stronger, the mask moves closer to 1.</a:t>
            </a:r>
          </a:p>
          <a:p>
            <a:pPr>
              <a:spcAft>
                <a:spcPts val="800"/>
              </a:spcAft>
              <a:defRPr sz="1700">
                <a:solidFill>
                  <a:srgbClr val="F5F5F7"/>
                </a:solidFill>
                <a:latin typeface="Avenir Next"/>
              </a:defRPr>
            </a:pPr>
            <a:r>
              <a:t>If noise power is stronger, the mask moves closer to 0.</a:t>
            </a:r>
          </a:p>
          <a:p>
            <a:pPr>
              <a:spcAft>
                <a:spcPts val="800"/>
              </a:spcAft>
              <a:defRPr sz="1700">
                <a:solidFill>
                  <a:srgbClr val="F5F5F7"/>
                </a:solidFill>
                <a:latin typeface="Avenir Next"/>
              </a:defRPr>
            </a:pPr>
            <a:r>
              <a:t>This follows the intuition of Wiener filtering, without claiming an industrial-grade denoising system.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52360" y="1691640"/>
            <a:ext cx="3703320" cy="324612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35240" y="3086100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PLACEHOLDER
Wiener gain curve / mask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Improved method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From STFT to masked enhanced voice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2743200"/>
            <a:ext cx="1417320" cy="411480"/>
          </a:xfrm>
          <a:prstGeom prst="roundRect">
            <a:avLst/>
          </a:prstGeom>
          <a:solidFill>
            <a:srgbClr val="FF453A"/>
          </a:solidFill>
          <a:ln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5F5F7"/>
                </a:solidFill>
                <a:latin typeface="Avenir Next"/>
              </a:rPr>
              <a:t>noisy voice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2807208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8A8A92"/>
                </a:solidFill>
                <a:latin typeface="Avenir Next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360" y="2743200"/>
            <a:ext cx="1097280" cy="411480"/>
          </a:xfrm>
          <a:prstGeom prst="roundRect">
            <a:avLst/>
          </a:prstGeom>
          <a:solidFill>
            <a:srgbClr val="0071E3"/>
          </a:solidFill>
          <a:ln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5F5F7"/>
                </a:solidFill>
                <a:latin typeface="Avenir Next"/>
              </a:rPr>
              <a:t>STFT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2807208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8A8A92"/>
                </a:solidFill>
                <a:latin typeface="Avenir Next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743200"/>
            <a:ext cx="1737360" cy="411480"/>
          </a:xfrm>
          <a:prstGeom prst="roundRect">
            <a:avLst/>
          </a:prstGeom>
          <a:solidFill>
            <a:srgbClr val="FF9F0A"/>
          </a:solidFill>
          <a:ln>
            <a:solidFill>
              <a:srgbClr val="FF9F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C"/>
                </a:solidFill>
                <a:latin typeface="Avenir Next"/>
              </a:rPr>
              <a:t>estimate noise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807208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8A8A92"/>
                </a:solidFill>
                <a:latin typeface="Avenir Next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2743200"/>
            <a:ext cx="1691640" cy="411480"/>
          </a:xfrm>
          <a:prstGeom prst="roundRect">
            <a:avLst/>
          </a:prstGeom>
          <a:solidFill>
            <a:srgbClr val="BF5AF2"/>
          </a:solidFill>
          <a:ln>
            <a:solidFill>
              <a:srgbClr val="BF5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5F5F7"/>
                </a:solidFill>
                <a:latin typeface="Avenir Next"/>
              </a:rPr>
              <a:t>compute mask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807208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8A8A92"/>
                </a:solidFill>
                <a:latin typeface="Avenir Next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89720" y="2743200"/>
            <a:ext cx="1508760" cy="411480"/>
          </a:xfrm>
          <a:prstGeom prst="roundRect">
            <a:avLst/>
          </a:prstGeom>
          <a:solidFill>
            <a:srgbClr val="5AC8FA"/>
          </a:solidFill>
          <a:ln>
            <a:solidFill>
              <a:srgbClr val="5AC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C"/>
                </a:solidFill>
                <a:latin typeface="Avenir Next"/>
              </a:rPr>
              <a:t>apply mask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2807208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8A8A92"/>
                </a:solidFill>
                <a:latin typeface="Avenir Next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064240" y="2743200"/>
            <a:ext cx="777240" cy="411480"/>
          </a:xfrm>
          <a:prstGeom prst="roundRect">
            <a:avLst/>
          </a:prstGeom>
          <a:solidFill>
            <a:srgbClr val="30D158"/>
          </a:solidFill>
          <a:ln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C"/>
                </a:solidFill>
                <a:latin typeface="Avenir Next"/>
              </a:rPr>
              <a:t>iSTFT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2336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EBEC4"/>
                </a:solidFill>
                <a:latin typeface="Avenir Next"/>
              </a:rPr>
              <a:t>The improved method still uses the frequency-domain story, but makes the attenuation pattern more selective.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Mask visualization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The main new figure for the upgraded demo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600200"/>
            <a:ext cx="3429000" cy="356616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3154680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Noisy spectrogram
placeholder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00200"/>
            <a:ext cx="3429000" cy="356616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3154680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Wiener-style mask
placeholder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1600200"/>
            <a:ext cx="3429000" cy="356616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79" y="3154680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Masked spectrogram
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5321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EBEC4"/>
                </a:solidFill>
                <a:latin typeface="Avenir Next"/>
              </a:rPr>
              <a:t>A good result page should show the logic visually: Noisy -&gt; Mask -&gt; Enhanced.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Result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Baseline versus Wiener-style masking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554480"/>
            <a:ext cx="3429000" cy="338328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3017520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Noisy voice
spectrogram / audio label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554480"/>
            <a:ext cx="3429000" cy="338328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3017520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Low-pass result
spectrogram / audio label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1554480"/>
            <a:ext cx="3429000" cy="338328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79" y="3017520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Mask result
spectrogram / audio label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394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EBEC4"/>
                </a:solidFill>
                <a:latin typeface="Avenir Next"/>
              </a:rPr>
              <a:t>The goal is not to crown a perfect method, but to explain how a more flexible mask changes the filtering behavior.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Audio slots to fill after the mask experiment is generated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2286000" cy="114300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8881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AUDIO SLOT
clean voice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1645920"/>
            <a:ext cx="2286000" cy="114300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49039" y="198881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AUDIO SLOT
noisy voice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2286000" cy="114300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8881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AUDIO SLOT
low-pass result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0" y="1645920"/>
            <a:ext cx="2286000" cy="114300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59" y="198881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AUDIO SLOT
mask result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57600"/>
            <a:ext cx="795527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5F5F7"/>
                </a:solidFill>
                <a:latin typeface="Avenir Next"/>
              </a:defRPr>
            </a:pPr>
            <a:r>
              <a:t>Play the same speech segment for every version.</a:t>
            </a:r>
          </a:p>
          <a:p>
            <a:pPr>
              <a:spcAft>
                <a:spcPts val="800"/>
              </a:spcAft>
              <a:defRPr sz="1700">
                <a:solidFill>
                  <a:srgbClr val="F5F5F7"/>
                </a:solidFill>
                <a:latin typeface="Avenir Next"/>
              </a:defRPr>
            </a:pPr>
            <a:r>
              <a:t>Then connect what we hear to the spectrogram and mask figures.</a:t>
            </a:r>
          </a:p>
          <a:p>
            <a:pPr>
              <a:spcAft>
                <a:spcPts val="800"/>
              </a:spcAft>
              <a:defRPr sz="1700">
                <a:solidFill>
                  <a:srgbClr val="F5F5F7"/>
                </a:solidFill>
                <a:latin typeface="Avenir Next"/>
              </a:defRPr>
            </a:pPr>
            <a:r>
              <a:t>Keep the demo short enough that the audience remembers the contrast.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What this system still cannot solve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7498079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The noise is simulated and simpler than a real station environment.</a:t>
            </a:r>
          </a:p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Mask quality depends on how well the noise power is estimated.</a:t>
            </a:r>
          </a:p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If speech and noise overlap strongly in the same time-frequency region, separation becomes difficult.</a:t>
            </a:r>
          </a:p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More advanced methods may require adaptive filtering or learning-based denoising.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78240" y="1828800"/>
            <a:ext cx="2514600" cy="246888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19" y="28346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PLACEHOLDER
limitations / extension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A simple filter can become a richer system.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8412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F5F5F7"/>
                </a:solidFill>
                <a:latin typeface="Avenir Next"/>
              </a:defRPr>
            </a:pPr>
            <a:r>
              <a:t>We modeled voice denoising as a Signals and Systems problem.</a:t>
            </a:r>
          </a:p>
          <a:p>
            <a:pPr>
              <a:spcAft>
                <a:spcPts val="800"/>
              </a:spcAft>
              <a:defRPr sz="1900">
                <a:solidFill>
                  <a:srgbClr val="F5F5F7"/>
                </a:solidFill>
                <a:latin typeface="Avenir Next"/>
              </a:defRPr>
            </a:pPr>
            <a:r>
              <a:t>Low-pass filtering provides a clear baseline.</a:t>
            </a:r>
          </a:p>
          <a:p>
            <a:pPr>
              <a:spcAft>
                <a:spcPts val="800"/>
              </a:spcAft>
              <a:defRPr sz="1900">
                <a:solidFill>
                  <a:srgbClr val="F5F5F7"/>
                </a:solidFill>
                <a:latin typeface="Avenir Next"/>
              </a:defRPr>
            </a:pPr>
            <a:r>
              <a:t>Frequency-domain masking extends the same idea in a more flexible way.</a:t>
            </a:r>
          </a:p>
          <a:p>
            <a:pPr>
              <a:spcAft>
                <a:spcPts val="800"/>
              </a:spcAft>
              <a:defRPr sz="1900">
                <a:solidFill>
                  <a:srgbClr val="F5F5F7"/>
                </a:solidFill>
                <a:latin typeface="Avenir Next"/>
              </a:defRPr>
            </a:pPr>
            <a:r>
              <a:t>A Wiener-style mask gives a principled and visual way to design frequency-dependent attenuation.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