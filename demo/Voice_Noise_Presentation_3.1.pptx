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3"/>
  </p:normalViewPr>
  <p:slideViewPr>
    <p:cSldViewPr snapToGrid="0" snapToObjects="1">
      <p:cViewPr varScale="1">
        <p:scale>
          <a:sx n="110" d="100"/>
          <a:sy n="110" d="100"/>
        </p:scale>
        <p:origin x="65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Designing a Noise Reduction Filter
for Voice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From fixed low-pass filtering to Wiener-style frequency-domain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83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BEC4"/>
                </a:solidFill>
                <a:latin typeface="Avenir Next"/>
              </a:rPr>
              <a:t>ECE0402 • Signals, Systems &amp; Probability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58384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BEC4"/>
                </a:solidFill>
                <a:latin typeface="Avenir Next"/>
              </a:rPr>
              <a:t>Junze Xie, Ming Chen, Zifan Xu, Yimin Chen &amp; Wanting Luo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Project 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837943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87552" y="1929384"/>
            <a:ext cx="237744" cy="237744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892807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A8A92"/>
                </a:solidFill>
                <a:latin typeface="Avenir Next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16712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F5F7"/>
                </a:solidFill>
                <a:latin typeface="Avenir Next"/>
              </a:rPr>
              <a:t>Public-announcement voice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06040"/>
            <a:ext cx="2697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EBEC4"/>
                </a:solidFill>
                <a:latin typeface="Avenir Next"/>
              </a:rPr>
              <a:t>A clean voice sample mixed with high-frequency hiss.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97096" y="1837943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160520" y="1783080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325112" y="1929384"/>
            <a:ext cx="237744" cy="237744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3440" y="1892807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A8A92"/>
                </a:solidFill>
                <a:latin typeface="Avenir Next"/>
              </a:rP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16712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F5F7"/>
                </a:solidFill>
                <a:latin typeface="Avenir Next"/>
              </a:rPr>
              <a:t>clean + noise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606040"/>
            <a:ext cx="2697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EBEC4"/>
                </a:solidFill>
                <a:latin typeface="Avenir Next"/>
              </a:rPr>
              <a:t>Signal superposition followed by an input-output system.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4655" y="1837943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98079" y="1783080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662671" y="1929384"/>
            <a:ext cx="237744" cy="23774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01000" y="1892807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A8A92"/>
                </a:solidFill>
                <a:latin typeface="Avenir Next"/>
              </a:rPr>
              <a:t>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216712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F5F7"/>
                </a:solidFill>
                <a:latin typeface="Avenir Next"/>
              </a:rPr>
              <a:t>Low-pass filter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2606040"/>
            <a:ext cx="2697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EBEC4"/>
                </a:solidFill>
                <a:latin typeface="Avenir Next"/>
              </a:rPr>
              <a:t>A fixed frequency response suppresses high-frequency hiss.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" y="3511296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22960" y="3456432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87552" y="3602736"/>
            <a:ext cx="237744" cy="237744"/>
          </a:xfrm>
          <a:prstGeom prst="ellipse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325880" y="3566160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A8A92"/>
                </a:solidFill>
                <a:latin typeface="Avenir Next"/>
              </a:rPr>
              <a:t>UPGRADE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84048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F5F7"/>
                </a:solidFill>
                <a:latin typeface="Avenir Next"/>
              </a:rPr>
              <a:t>Wiener-style mask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279392"/>
            <a:ext cx="2697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EBEC4"/>
                </a:solidFill>
                <a:latin typeface="Avenir Next"/>
              </a:rPr>
              <a:t>A time-frequency mask makes attenuation more selective.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97096" y="3511296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160520" y="3456432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325112" y="3602736"/>
            <a:ext cx="237744" cy="237744"/>
          </a:xfrm>
          <a:prstGeom prst="ellipse">
            <a:avLst/>
          </a:prstGeom>
          <a:solidFill>
            <a:srgbClr val="5AC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63440" y="3566160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A8A92"/>
                </a:solidFill>
                <a:latin typeface="Avenir Next"/>
              </a:rPr>
              <a:t>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384048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F5F7"/>
                </a:solidFill>
                <a:latin typeface="Avenir Next"/>
              </a:rPr>
              <a:t>Audio + spectrograms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279392"/>
            <a:ext cx="2697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EBEC4"/>
                </a:solidFill>
                <a:latin typeface="Avenir Next"/>
              </a:rPr>
              <a:t>What we hear is matched with what the plots show.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34655" y="3511296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7498079" y="3456432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7662671" y="3602736"/>
            <a:ext cx="237744" cy="237744"/>
          </a:xfrm>
          <a:prstGeom prst="ellipse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01000" y="3566160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A8A92"/>
                </a:solidFill>
                <a:latin typeface="Avenir Next"/>
              </a:rPr>
              <a:t>CORE IDEA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6679" y="384048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F5F7"/>
                </a:solidFill>
                <a:latin typeface="Avenir Next"/>
              </a:rPr>
              <a:t>Filtering is a tradeoff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79" y="4279392"/>
            <a:ext cx="2697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EBEC4"/>
                </a:solidFill>
                <a:latin typeface="Avenir Next"/>
              </a:rPr>
              <a:t>Suppress noise while preserving useful speech detail.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440680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5F5F7"/>
                </a:solidFill>
                <a:latin typeface="Avenir Next"/>
              </a:rPr>
              <a:t>Fixed filter  |  adaptive mask  |  clearer explanation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Why this problem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Voice denoising as a real signal-processing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6035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Voice recordings and public announcements often lose clarity when background noise is present.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High-frequency hiss is a useful starting point because it is common, audible, and frequency-domain friendly.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Our goal is to connect a real application to Signals and Systems ideas through a controllable demo.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828800"/>
            <a:ext cx="2011680" cy="41148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Real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423160"/>
            <a:ext cx="2011680" cy="411480"/>
          </a:xfrm>
          <a:prstGeom prst="roundRect">
            <a:avLst/>
          </a:prstGeom>
          <a:solidFill>
            <a:srgbClr val="FF9F0A"/>
          </a:solidFill>
          <a:ln>
            <a:solidFill>
              <a:srgbClr val="FF9F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Controllable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3017520"/>
            <a:ext cx="2011680" cy="411480"/>
          </a:xfrm>
          <a:prstGeom prst="roundRect">
            <a:avLst/>
          </a:prstGeom>
          <a:solidFill>
            <a:srgbClr val="30D158"/>
          </a:solidFill>
          <a:ln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Explainable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Scenario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Real-world motivation, controlled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5715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Scenario: a public-announcement style voice signal affected by high-frequency hiss.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We simulate the signal instead of recording a complex station environment.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This keeps the noise controllable, the experiment repeatable, and the result easier to analyze.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95160" y="1600200"/>
            <a:ext cx="4160520" cy="29260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78040" y="2834640"/>
            <a:ext cx="37947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scenario / setup diagram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Input, output, and design goal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31720"/>
            <a:ext cx="1645920" cy="41148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clean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39572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331720"/>
            <a:ext cx="1645920" cy="411480"/>
          </a:xfrm>
          <a:prstGeom prst="roundRect">
            <a:avLst/>
          </a:prstGeom>
          <a:solidFill>
            <a:srgbClr val="FF9F0A"/>
          </a:solidFill>
          <a:ln>
            <a:solidFill>
              <a:srgbClr val="FF9F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hiss noise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239572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=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2331720"/>
            <a:ext cx="1645920" cy="411480"/>
          </a:xfrm>
          <a:prstGeom prst="roundRect">
            <a:avLst/>
          </a:prstGeom>
          <a:solidFill>
            <a:srgbClr val="FF453A"/>
          </a:solidFill>
          <a:ln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noisy 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39572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331720"/>
            <a:ext cx="2148840" cy="411480"/>
          </a:xfrm>
          <a:prstGeom prst="roundRect">
            <a:avLst/>
          </a:prstGeom>
          <a:solidFill>
            <a:srgbClr val="BF5AF2"/>
          </a:solidFill>
          <a:ln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denoising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239572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44200" y="2331720"/>
            <a:ext cx="1143000" cy="411480"/>
          </a:xfrm>
          <a:prstGeom prst="roundRect">
            <a:avLst/>
          </a:prstGeom>
          <a:solidFill>
            <a:srgbClr val="30D158"/>
          </a:solidFill>
          <a:ln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enhanced voice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49039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F5F7"/>
                </a:solidFill>
                <a:latin typeface="Avenir Next"/>
              </a:rPr>
              <a:t>Goal: suppress hiss while preserving useful speech information.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EBEC4"/>
                </a:solidFill>
                <a:latin typeface="Avenir Next"/>
              </a:rPr>
              <a:t>This is a tradeoff, not a perfect-recovery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Signal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 Signals and Systems viewpoint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6035040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98424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F5F7"/>
                </a:solidFill>
                <a:latin typeface="Avenir Next"/>
              </a:rPr>
              <a:t>x_noisy[n] = x_clean[n] + n_hiss[n]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5852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clean voice and hiss are both signals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the noisy voice is a superposition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the filter is an input-output system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frequency response explains what the system keeps or suppresses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828800"/>
            <a:ext cx="3840480" cy="256032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79" y="2880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input-output system diagram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Visualizing the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Waveform, spectrum, and spectrogram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691640"/>
            <a:ext cx="3337560" cy="2423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67462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waveform
placeholder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91640"/>
            <a:ext cx="3337560" cy="2423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720" y="267462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FFT spectrum
placeholder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691640"/>
            <a:ext cx="3337560" cy="2423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267462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spectrogram
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EBEC4"/>
                </a:solidFill>
                <a:latin typeface="Avenir Next"/>
              </a:rPr>
              <a:t>Waveform shows time-domain shape. FFT shows overall frequency energy. Spectrogram shows how energy changes over time and frequency.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Frequency-domain observation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Why hiss suggests a filtering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4800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Clean voice has structured low-to-mid frequency components.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Hiss noise raises the high-frequency background.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The noisy signal makes the high-frequency region visibly stronger.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60" y="1417320"/>
            <a:ext cx="5212080" cy="40233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63640" y="32004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spectrum / spectrogram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Baseline: low-pass 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 fixed frequency-domain mask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Low-pass filtering keeps lower frequencies and attenuates higher frequencies.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It is easy to explain and closely related to frequency response.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In mask language, low-pass is a fixed mask: pass below cutoff, suppress above cutoff.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95160" y="1691640"/>
            <a:ext cx="4160520" cy="283464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78040" y="2880360"/>
            <a:ext cx="37947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low-pass response / fixed mask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Baseline parameter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Why cutoff is a design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5166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Lower cutoff: stronger noise reduction, but speech becomes duller.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Higher cutoff: more speech detail, but more hiss remains.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The chosen cutoff is a balance between suppression and preservation.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17320"/>
            <a:ext cx="4800600" cy="40690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3223260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cutoff comparison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Why low-pass is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The baseline is explainable, but coarse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Low-pass uses the same attenuation pattern for the entire signal.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It does not know whether a time-frequency region is speech-dominant or noise-dominant.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This can reduce hiss, but it can also remove useful high-frequency speech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80060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AC8FA"/>
                </a:solidFill>
                <a:latin typeface="Avenir Next"/>
              </a:rPr>
              <a:t>This motivates a more flexible frequency-domain mask.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Frequency-domain masking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 more flexible version of the same idea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645920"/>
            <a:ext cx="4297680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0136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F5F7"/>
                </a:solidFill>
                <a:latin typeface="Avenir Next"/>
              </a:rPr>
              <a:t>Y(f) = M(f)X(f)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514600"/>
            <a:ext cx="4297680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67004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F5F7"/>
                </a:solidFill>
                <a:latin typeface="Avenir Next"/>
              </a:rPr>
              <a:t>Y(t, f) = M(t, f)X(t,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5F5F7"/>
                </a:solidFill>
                <a:latin typeface="Avenir Next"/>
              </a:defRPr>
            </a:pPr>
            <a:r>
              <a:t>M close to 1: preserve this component</a:t>
            </a:r>
          </a:p>
          <a:p>
            <a:pPr>
              <a:spcAft>
                <a:spcPts val="800"/>
              </a:spcAft>
              <a:defRPr sz="1600">
                <a:solidFill>
                  <a:srgbClr val="F5F5F7"/>
                </a:solidFill>
                <a:latin typeface="Avenir Next"/>
              </a:defRPr>
            </a:pPr>
            <a:r>
              <a:t>M close to 0: suppress this component</a:t>
            </a:r>
          </a:p>
          <a:p>
            <a:pPr>
              <a:spcAft>
                <a:spcPts val="800"/>
              </a:spcAft>
              <a:defRPr sz="1600">
                <a:solidFill>
                  <a:srgbClr val="F5F5F7"/>
                </a:solidFill>
                <a:latin typeface="Avenir Next"/>
              </a:defRPr>
            </a:pPr>
            <a:r>
              <a:t>Low-pass is a fixed mask; frequency masking can be more adaptive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417320"/>
            <a:ext cx="4800600" cy="42976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3337560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mask heatmap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Wiener-style mask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 principled way to design the mask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691640"/>
            <a:ext cx="6400800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47088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F5F7"/>
                </a:solidFill>
                <a:latin typeface="Avenir Next"/>
              </a:rPr>
              <a:t>M(f) = P_speech(f) / (P_speech(f) + P_noise(f))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6126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If speech power is stronger, the mask moves closer to 1.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If noise power is stronger, the mask moves closer to 0.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This follows the intuition of Wiener filtering, without claiming an industrial-grade denoising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691640"/>
            <a:ext cx="3703320" cy="324612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35240" y="308610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Wiener gain curve / mask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Improved method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From STFT to masked enhanced voice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43200"/>
            <a:ext cx="1417320" cy="411480"/>
          </a:xfrm>
          <a:prstGeom prst="roundRect">
            <a:avLst/>
          </a:prstGeom>
          <a:solidFill>
            <a:srgbClr val="FF453A"/>
          </a:solidFill>
          <a:ln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noisy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316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2743200"/>
            <a:ext cx="1097280" cy="41148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STFT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743200"/>
            <a:ext cx="1737360" cy="411480"/>
          </a:xfrm>
          <a:prstGeom prst="roundRect">
            <a:avLst/>
          </a:prstGeom>
          <a:solidFill>
            <a:srgbClr val="FF9F0A"/>
          </a:solidFill>
          <a:ln>
            <a:solidFill>
              <a:srgbClr val="FF9F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estimate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743200"/>
            <a:ext cx="1691640" cy="411480"/>
          </a:xfrm>
          <a:prstGeom prst="roundRect">
            <a:avLst/>
          </a:prstGeom>
          <a:solidFill>
            <a:srgbClr val="BF5AF2"/>
          </a:solidFill>
          <a:ln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compute mask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2743200"/>
            <a:ext cx="1508760" cy="411480"/>
          </a:xfrm>
          <a:prstGeom prst="roundRect">
            <a:avLst/>
          </a:prstGeom>
          <a:solidFill>
            <a:srgbClr val="5AC8FA"/>
          </a:solidFill>
          <a:ln>
            <a:solidFill>
              <a:srgbClr val="5AC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apply mask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064240" y="2743200"/>
            <a:ext cx="777240" cy="411480"/>
          </a:xfrm>
          <a:prstGeom prst="roundRect">
            <a:avLst/>
          </a:prstGeom>
          <a:solidFill>
            <a:srgbClr val="30D158"/>
          </a:solidFill>
          <a:ln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iSTFT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2336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EBEC4"/>
                </a:solidFill>
                <a:latin typeface="Avenir Next"/>
              </a:rPr>
              <a:t>The improved method still uses the frequency-domain story, but makes the attenuation pattern more selective.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Mask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The main new figure for the upgraded 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3429000" cy="3566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1546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Noisy spectrogram
placeholder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29000" cy="3566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31546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Wiener-style mask
placeholder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600200"/>
            <a:ext cx="3429000" cy="3566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Masked spectrogram
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EBEC4"/>
                </a:solidFill>
                <a:latin typeface="Avenir Next"/>
              </a:rPr>
              <a:t>A good result page should show the logic visually: Noisy -&gt; Mask -&gt; Enhanced.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Result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Baseline versus Wiener-style masking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54480"/>
            <a:ext cx="3429000" cy="33832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01752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Noisy voice
spectrogram / audio label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429000" cy="33832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301752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Low-pass result
spectrogram / audio label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554480"/>
            <a:ext cx="3429000" cy="33832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301752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Mask result
spectrogram / audio 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94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EBEC4"/>
                </a:solidFill>
                <a:latin typeface="Avenir Next"/>
              </a:rPr>
              <a:t>The goal is not to crown a perfect method, but to explain how a more flexible mask changes the filtering behavior.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Audio slots to fill after the mask experiment is generated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clean voice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49039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noisy voice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low-pass result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59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mask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7955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Play the same speech segment for every version.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Then connect what we hear to the spectrogram and mask figures.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Keep the demo short enough that the audience remembers the contrast.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What this system still cannot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749807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The noise is simulated and simpler than a real station environment.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Mask quality depends on how well the noise power is estimated.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If speech and noise overlap strongly in the same time-frequency region, separation becomes difficult.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More advanced methods may require adaptive filtering or learning-based denoising.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0" y="1828800"/>
            <a:ext cx="2514600" cy="24688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19" y="28346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limitations / extension diagram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A simple filter can become a richer system.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8412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We modeled voice denoising as a Signals and Systems problem.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Low-pass filtering provides a clear baseline.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Frequency-domain masking extends the same idea in a more flexible way.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A Wiener-style mask gives a principled and visual way to design frequency-dependent attenuation.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1134</Words>
  <Application>Microsoft Macintosh PowerPoint</Application>
  <PresentationFormat>宽屏</PresentationFormat>
  <Paragraphs>171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3" baseType="lpstr">
      <vt:lpstr>Arial</vt:lpstr>
      <vt:lpstr>Avenir Next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office</cp:lastModifiedBy>
  <cp:revision>2</cp:revision>
  <dcterms:created xsi:type="dcterms:W3CDTF">2013-01-27T09:14:16Z</dcterms:created>
  <dcterms:modified xsi:type="dcterms:W3CDTF">2026-04-26T02:51:30Z</dcterms:modified>
  <cp:category/>
</cp:coreProperties>
</file>