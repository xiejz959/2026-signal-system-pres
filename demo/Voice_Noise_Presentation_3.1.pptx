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43"/>
  </p:normalViewPr>
  <p:slideViewPr>
    <p:cSldViewPr snapToGrid="0" snapToObjects="1">
      <p:cViewPr varScale="1">
        <p:scale>
          <a:sx n="110" d="100"/>
          <a:sy n="110" d="100"/>
        </p:scale>
        <p:origin x="6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1C595B-0705-424B-8BB0-C398FAD7EF45}" type="datetimeFigureOut">
              <a:rPr kumimoji="1" lang="zh-CN" altLang="en-US" smtClean="0"/>
              <a:t>2026/4/26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18B32-2721-A44F-9B9C-97863DB7572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4973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18B32-2721-A44F-9B9C-97863DB75723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717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047" y="1714500"/>
            <a:ext cx="1051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F5F5F7"/>
                </a:solidFill>
                <a:latin typeface="Avenir Next"/>
              </a:rPr>
              <a:t>Silence in the Spectrum: Unmasking Speech From Noise</a:t>
            </a:r>
            <a:endParaRPr sz="4800" b="1" dirty="0">
              <a:solidFill>
                <a:srgbClr val="F5F5F7"/>
              </a:solidFill>
              <a:latin typeface="Avenir N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52647" y="3573841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BEBEC4"/>
                </a:solidFill>
                <a:latin typeface="Avenir Next"/>
              </a:rPr>
              <a:t>ECE0402 • Signals, Systems &amp; Probability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340" y="4263632"/>
            <a:ext cx="86810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dirty="0">
                <a:solidFill>
                  <a:srgbClr val="BEBEC4"/>
                </a:solidFill>
                <a:latin typeface="Avenir Next"/>
              </a:rPr>
              <a:t>Group 6: </a:t>
            </a:r>
            <a:r>
              <a:rPr b="0" dirty="0" err="1">
                <a:solidFill>
                  <a:srgbClr val="BEBEC4"/>
                </a:solidFill>
                <a:latin typeface="Avenir Next"/>
              </a:rPr>
              <a:t>Junze</a:t>
            </a:r>
            <a:r>
              <a:rPr b="0" dirty="0">
                <a:solidFill>
                  <a:srgbClr val="BEBEC4"/>
                </a:solidFill>
                <a:latin typeface="Avenir Next"/>
              </a:rPr>
              <a:t> Xie, Ming Chen, Zifan Xu, Yimin Chen &amp; Wanting Luo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F5F5F7"/>
                </a:solidFill>
                <a:latin typeface="Avenir Next"/>
              </a:rPr>
              <a:t>Project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" y="1837943"/>
            <a:ext cx="3154680" cy="1463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154680" cy="1463040"/>
          </a:xfrm>
          <a:prstGeom prst="roundRect">
            <a:avLst/>
          </a:prstGeom>
          <a:solidFill>
            <a:srgbClr val="26262A"/>
          </a:solidFill>
          <a:ln>
            <a:solidFill>
              <a:srgbClr val="525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281428" y="1895713"/>
            <a:ext cx="237744" cy="237744"/>
          </a:xfrm>
          <a:prstGeom prst="ellipse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67513" y="2265408"/>
            <a:ext cx="34564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5F5F7"/>
                </a:solidFill>
                <a:latin typeface="Avenir Next"/>
              </a:rPr>
              <a:t>Public-announcement </a:t>
            </a:r>
            <a:r>
              <a:rPr lang="en-US" sz="2200" b="1" dirty="0">
                <a:solidFill>
                  <a:srgbClr val="F5F5F7"/>
                </a:solidFill>
                <a:latin typeface="Avenir Next"/>
              </a:rPr>
              <a:t>V</a:t>
            </a:r>
            <a:r>
              <a:rPr sz="2200" b="1" dirty="0">
                <a:solidFill>
                  <a:srgbClr val="F5F5F7"/>
                </a:solidFill>
                <a:latin typeface="Avenir Next"/>
              </a:rPr>
              <a:t>oice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7096" y="1837943"/>
            <a:ext cx="3154680" cy="1463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60520" y="1783080"/>
            <a:ext cx="3154680" cy="1463040"/>
          </a:xfrm>
          <a:prstGeom prst="roundRect">
            <a:avLst/>
          </a:prstGeom>
          <a:solidFill>
            <a:srgbClr val="26262A"/>
          </a:solidFill>
          <a:ln>
            <a:solidFill>
              <a:srgbClr val="525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18988" y="1906825"/>
            <a:ext cx="237744" cy="237744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28516" y="2303323"/>
            <a:ext cx="32918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5F5F7"/>
                </a:solidFill>
                <a:latin typeface="Avenir Next"/>
              </a:rPr>
              <a:t>Signal </a:t>
            </a:r>
            <a:r>
              <a:rPr lang="en-US" sz="2200" b="1" dirty="0">
                <a:solidFill>
                  <a:srgbClr val="F5F5F7"/>
                </a:solidFill>
                <a:latin typeface="Avenir Next"/>
              </a:rPr>
              <a:t>S</a:t>
            </a:r>
            <a:r>
              <a:rPr sz="2200" b="1" dirty="0">
                <a:solidFill>
                  <a:srgbClr val="F5F5F7"/>
                </a:solidFill>
                <a:latin typeface="Avenir Next"/>
              </a:rPr>
              <a:t>uperposition</a:t>
            </a:r>
            <a:r>
              <a:rPr lang="en-US" sz="2200" b="1" dirty="0">
                <a:solidFill>
                  <a:srgbClr val="F5F5F7"/>
                </a:solidFill>
                <a:latin typeface="Avenir Next"/>
              </a:rPr>
              <a:t> Through the System</a:t>
            </a:r>
            <a:endParaRPr sz="2200" b="1" dirty="0">
              <a:solidFill>
                <a:srgbClr val="F5F5F7"/>
              </a:solidFill>
              <a:latin typeface="Avenir Next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34655" y="1837943"/>
            <a:ext cx="3154680" cy="1463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98079" y="1783080"/>
            <a:ext cx="3154680" cy="1463040"/>
          </a:xfrm>
          <a:prstGeom prst="roundRect">
            <a:avLst/>
          </a:prstGeom>
          <a:solidFill>
            <a:srgbClr val="26262A"/>
          </a:solidFill>
          <a:ln>
            <a:solidFill>
              <a:srgbClr val="525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956547" y="1892357"/>
            <a:ext cx="237744" cy="23774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6679" y="2434684"/>
            <a:ext cx="2697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5F5F7"/>
                </a:solidFill>
                <a:latin typeface="Avenir Next"/>
              </a:rPr>
              <a:t>Low-pass </a:t>
            </a:r>
            <a:r>
              <a:rPr lang="en-US" sz="2200" b="1" dirty="0">
                <a:solidFill>
                  <a:srgbClr val="F5F5F7"/>
                </a:solidFill>
                <a:latin typeface="Avenir Next"/>
              </a:rPr>
              <a:t>F</a:t>
            </a:r>
            <a:r>
              <a:rPr sz="2200" b="1" dirty="0">
                <a:solidFill>
                  <a:srgbClr val="F5F5F7"/>
                </a:solidFill>
                <a:latin typeface="Avenir Next"/>
              </a:rPr>
              <a:t>ilter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" y="3511296"/>
            <a:ext cx="3154680" cy="1463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2960" y="3456432"/>
            <a:ext cx="3154680" cy="1463040"/>
          </a:xfrm>
          <a:prstGeom prst="roundRect">
            <a:avLst/>
          </a:prstGeom>
          <a:solidFill>
            <a:srgbClr val="26262A"/>
          </a:solidFill>
          <a:ln>
            <a:solidFill>
              <a:srgbClr val="525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276857" y="3545567"/>
            <a:ext cx="237744" cy="237744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6989" y="3967978"/>
            <a:ext cx="2697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5F5F7"/>
                </a:solidFill>
                <a:latin typeface="Avenir Next"/>
              </a:rPr>
              <a:t>Wiener-style </a:t>
            </a:r>
            <a:r>
              <a:rPr lang="en-US" sz="2200" b="1" dirty="0">
                <a:solidFill>
                  <a:srgbClr val="F5F5F7"/>
                </a:solidFill>
                <a:latin typeface="Avenir Next"/>
              </a:rPr>
              <a:t>Filter</a:t>
            </a:r>
            <a:endParaRPr sz="2200" b="1" dirty="0">
              <a:solidFill>
                <a:srgbClr val="F5F5F7"/>
              </a:solidFill>
              <a:latin typeface="Avenir Next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197096" y="3511296"/>
            <a:ext cx="3154680" cy="1463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160520" y="3456432"/>
            <a:ext cx="3154680" cy="1463040"/>
          </a:xfrm>
          <a:prstGeom prst="roundRect">
            <a:avLst/>
          </a:prstGeom>
          <a:solidFill>
            <a:srgbClr val="26262A"/>
          </a:solidFill>
          <a:ln>
            <a:solidFill>
              <a:srgbClr val="525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596128" y="3545567"/>
            <a:ext cx="237744" cy="237744"/>
          </a:xfrm>
          <a:prstGeom prst="ellipse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70248" y="3965558"/>
            <a:ext cx="29352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5F5F7"/>
                </a:solidFill>
                <a:latin typeface="Avenir Next"/>
              </a:rPr>
              <a:t>Frequency Masking</a:t>
            </a:r>
            <a:endParaRPr sz="2200" b="1" dirty="0">
              <a:solidFill>
                <a:srgbClr val="F5F5F7"/>
              </a:solidFill>
              <a:latin typeface="Avenir Next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534655" y="3511296"/>
            <a:ext cx="3154680" cy="1463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498079" y="3456432"/>
            <a:ext cx="3154680" cy="1463040"/>
          </a:xfrm>
          <a:prstGeom prst="roundRect">
            <a:avLst/>
          </a:prstGeom>
          <a:solidFill>
            <a:srgbClr val="26262A"/>
          </a:solidFill>
          <a:ln>
            <a:solidFill>
              <a:srgbClr val="525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956547" y="3557016"/>
            <a:ext cx="237744" cy="237744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78624" y="3977364"/>
            <a:ext cx="359874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5F5F7"/>
                </a:solidFill>
                <a:latin typeface="Avenir Next"/>
              </a:rPr>
              <a:t>Filtering is a </a:t>
            </a:r>
            <a:r>
              <a:rPr lang="en-US" sz="2200" b="1" dirty="0">
                <a:solidFill>
                  <a:srgbClr val="F5F5F7"/>
                </a:solidFill>
                <a:latin typeface="Avenir Next"/>
              </a:rPr>
              <a:t>T</a:t>
            </a:r>
            <a:r>
              <a:rPr sz="2200" b="1" dirty="0">
                <a:solidFill>
                  <a:srgbClr val="F5F5F7"/>
                </a:solidFill>
                <a:latin typeface="Avenir Next"/>
              </a:rPr>
              <a:t>radeoff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F5F5F7"/>
                </a:solidFill>
                <a:latin typeface="Avenir Next"/>
              </a:rPr>
              <a:t>Scenario </a:t>
            </a:r>
            <a:r>
              <a:rPr lang="en-US" sz="4000" b="1" dirty="0">
                <a:solidFill>
                  <a:srgbClr val="F5F5F7"/>
                </a:solidFill>
                <a:latin typeface="Avenir Next"/>
              </a:rPr>
              <a:t>&amp;</a:t>
            </a:r>
            <a:r>
              <a:rPr sz="4000" b="1" dirty="0">
                <a:solidFill>
                  <a:srgbClr val="F5F5F7"/>
                </a:solidFill>
                <a:latin typeface="Avenir Next"/>
              </a:rPr>
              <a:t> </a:t>
            </a:r>
            <a:r>
              <a:rPr lang="en-US" sz="4000" b="1" dirty="0">
                <a:solidFill>
                  <a:srgbClr val="F5F5F7"/>
                </a:solidFill>
                <a:latin typeface="Avenir Next"/>
              </a:rPr>
              <a:t>S</a:t>
            </a:r>
            <a:r>
              <a:rPr sz="4000" b="1" dirty="0">
                <a:solidFill>
                  <a:srgbClr val="F5F5F7"/>
                </a:solidFill>
                <a:latin typeface="Avenir Next"/>
              </a:rPr>
              <a:t>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3501"/>
            <a:ext cx="5715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rPr lang="en-US" sz="2400" dirty="0"/>
              <a:t>In a public setting—such as a train station—a phone call came through.</a:t>
            </a:r>
            <a:endParaRPr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4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342696-85EC-B75A-A024-6D0F193D2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239" y="1723279"/>
            <a:ext cx="6064784" cy="3411441"/>
          </a:xfrm>
          <a:prstGeom prst="rect">
            <a:avLst/>
          </a:prstGeom>
          <a:ln>
            <a:noFill/>
          </a:ln>
          <a:effectLst>
            <a:softEdge rad="63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F5F5F7"/>
                </a:solidFill>
                <a:latin typeface="Avenir Next"/>
              </a:rPr>
              <a:t>Problem </a:t>
            </a:r>
            <a:r>
              <a:rPr lang="en-US" altLang="zh-CN" sz="4000" b="1" dirty="0">
                <a:solidFill>
                  <a:srgbClr val="F5F5F7"/>
                </a:solidFill>
                <a:latin typeface="Avenir Next"/>
              </a:rPr>
              <a:t>Remodeling</a:t>
            </a:r>
            <a:endParaRPr sz="4000" b="1" dirty="0">
              <a:solidFill>
                <a:srgbClr val="F5F5F7"/>
              </a:solidFill>
              <a:latin typeface="Avenir Nex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5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F06E5DA-D26B-88BD-CA4F-CCE27EE8C7B9}"/>
              </a:ext>
            </a:extLst>
          </p:cNvPr>
          <p:cNvSpPr txBox="1"/>
          <p:nvPr/>
        </p:nvSpPr>
        <p:spPr>
          <a:xfrm>
            <a:off x="1169043" y="2500132"/>
            <a:ext cx="7523544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dirty="0"/>
              <a:t>这里放图， 声音分成</a:t>
            </a:r>
            <a:r>
              <a:rPr kumimoji="1" lang="en-US" altLang="zh-CN" dirty="0"/>
              <a:t>clean voice</a:t>
            </a:r>
            <a:r>
              <a:rPr kumimoji="1" lang="zh-CN" altLang="en-US" dirty="0"/>
              <a:t>和</a:t>
            </a:r>
            <a:r>
              <a:rPr kumimoji="1" lang="en-US" altLang="zh-CN" dirty="0"/>
              <a:t>hiss voice</a:t>
            </a:r>
            <a:r>
              <a:rPr kumimoji="1" lang="zh-CN" altLang="en-US" dirty="0"/>
              <a:t>，</a:t>
            </a:r>
            <a:r>
              <a:rPr kumimoji="1" lang="zh-CN" altLang="en-US" dirty="0">
                <a:ln>
                  <a:solidFill>
                    <a:srgbClr val="FF0000"/>
                  </a:solidFill>
                </a:ln>
              </a:rPr>
              <a:t>进入系统，先频谱分析，然后确定频率，过滤波器，输出过滤后的音频</a:t>
            </a:r>
            <a:r>
              <a:rPr kumimoji="1" lang="zh-CN" altLang="en-US" dirty="0"/>
              <a:t>。这一页只放这一个</a:t>
            </a:r>
            <a:r>
              <a:rPr kumimoji="1" lang="en-US" altLang="zh-CN" dirty="0"/>
              <a:t>pipeline</a:t>
            </a:r>
            <a:r>
              <a:rPr kumimoji="1" lang="zh-CN" altLang="en-US" dirty="0"/>
              <a:t>，红色部分可能结构补全，自己看代码，保证</a:t>
            </a:r>
            <a:r>
              <a:rPr kumimoji="1" lang="en-US" altLang="zh-CN" dirty="0"/>
              <a:t>pipeline</a:t>
            </a:r>
            <a:r>
              <a:rPr kumimoji="1" lang="zh-CN" altLang="en-US" dirty="0"/>
              <a:t>逻辑符合代码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4000" b="1" dirty="0">
                <a:solidFill>
                  <a:srgbClr val="F5F5F7"/>
                </a:solidFill>
                <a:latin typeface="Avenir Next"/>
              </a:rPr>
              <a:t>Assumption</a:t>
            </a:r>
            <a:r>
              <a:rPr lang="zh-CN" altLang="en-US" sz="4000" b="1" dirty="0">
                <a:solidFill>
                  <a:srgbClr val="F5F5F7"/>
                </a:solidFill>
                <a:latin typeface="Avenir Next"/>
              </a:rPr>
              <a:t> </a:t>
            </a:r>
            <a:r>
              <a:rPr lang="en-US" altLang="zh-CN" sz="4000" b="1" dirty="0">
                <a:solidFill>
                  <a:srgbClr val="F5F5F7"/>
                </a:solidFill>
                <a:latin typeface="Avenir Next"/>
              </a:rPr>
              <a:t>&amp;</a:t>
            </a:r>
            <a:r>
              <a:rPr lang="zh-CN" altLang="en-US" sz="4000" b="1" dirty="0">
                <a:solidFill>
                  <a:srgbClr val="F5F5F7"/>
                </a:solidFill>
                <a:latin typeface="Avenir Next"/>
              </a:rPr>
              <a:t> </a:t>
            </a:r>
            <a:r>
              <a:rPr lang="en-US" altLang="zh-CN" sz="4000" b="1" dirty="0">
                <a:solidFill>
                  <a:srgbClr val="F5F5F7"/>
                </a:solidFill>
                <a:latin typeface="Avenir Next"/>
              </a:rPr>
              <a:t>Goal</a:t>
            </a:r>
            <a:endParaRPr sz="4000" b="1" dirty="0">
              <a:solidFill>
                <a:srgbClr val="F5F5F7"/>
              </a:solidFill>
              <a:latin typeface="Avenir N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Voice recordings and public announcements often lose clarity when background noise is present.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High-frequency hiss is a useful starting point because it is common, audible, and frequency-domain friendly.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Our goal is to connect a real application to Signals and Systems ideas through a controllable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F5F5F7"/>
                </a:solidFill>
                <a:latin typeface="Avenir Next"/>
              </a:rPr>
              <a:t>Signal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413" y="1599571"/>
            <a:ext cx="6035040" cy="621792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0013" y="175501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7"/>
                </a:solidFill>
                <a:latin typeface="Avenir Next"/>
              </a:rPr>
              <a:t>x_noisy[n] = x_clean[n] + n_hiss[n]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5852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rPr dirty="0"/>
              <a:t>clean voice and hiss are both signals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rPr dirty="0"/>
              <a:t>the noisy voice is a superposition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rPr dirty="0"/>
              <a:t>the filter is an input-output system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rPr dirty="0"/>
              <a:t>frequency response explains what the system keeps or suppresses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6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C8A9F23-2371-9516-B16D-9CF359BEB1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326"/>
          <a:stretch>
            <a:fillRect/>
          </a:stretch>
        </p:blipFill>
        <p:spPr>
          <a:xfrm>
            <a:off x="6720840" y="1713726"/>
            <a:ext cx="5357336" cy="31313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5F7"/>
                </a:solidFill>
                <a:latin typeface="Avenir Next"/>
              </a:rPr>
              <a:t>Visualizing the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61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BEC4"/>
                </a:solidFill>
                <a:latin typeface="Avenir Next"/>
              </a:rPr>
              <a:t>Waveform, spectrum, and spectrogram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3337560" cy="242316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67462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waveform
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91640"/>
            <a:ext cx="3337560" cy="242316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267462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FFT spectrum
placeholder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691640"/>
            <a:ext cx="3337560" cy="242316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267462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spectrogram
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EBEC4"/>
                </a:solidFill>
                <a:latin typeface="Avenir Next"/>
              </a:rPr>
              <a:t>Waveform shows time-domain shape. FFT shows overall frequency energy. Spectrogram shows how energy changes over time and frequency.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5F7"/>
                </a:solidFill>
                <a:latin typeface="Avenir Next"/>
              </a:rPr>
              <a:t>Frequency-domain observation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61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BEC4"/>
                </a:solidFill>
                <a:latin typeface="Avenir Next"/>
              </a:rPr>
              <a:t>Why hiss suggests a filtering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4800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Clean voice has structured low-to-mid frequency components.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Hiss noise raises the high-frequency background.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The noisy signal makes the high-frequency region visibly stronger.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17320"/>
            <a:ext cx="5212080" cy="402336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PLACEHOLDER
spectrum / spectrogram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5F7"/>
                </a:solidFill>
                <a:latin typeface="Avenir Next"/>
              </a:rPr>
              <a:t>Baseline: low-pass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61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BEC4"/>
                </a:solidFill>
                <a:latin typeface="Avenir Next"/>
              </a:rPr>
              <a:t>A fixed frequency-domain mask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Low-pass filtering keeps lower frequencies and attenuates higher frequencies.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It is easy to explain and closely related to frequency response.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In mask language, low-pass is a fixed mask: pass below cutoff, suppress above cutoff.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691640"/>
            <a:ext cx="4160520" cy="283464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78040" y="2880360"/>
            <a:ext cx="3794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PLACEHOLDER
low-pass response / fixed mask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5F7"/>
                </a:solidFill>
                <a:latin typeface="Avenir Next"/>
              </a:rPr>
              <a:t>Baseline parameter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61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BEC4"/>
                </a:solidFill>
                <a:latin typeface="Avenir Next"/>
              </a:rPr>
              <a:t>Why cutoff is a design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Lower cutoff: stronger noise reduction, but speech becomes duller.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Higher cutoff: more speech detail, but more hiss remains.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The chosen cutoff is a balance between suppression and preservation.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800600" cy="406908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3223260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PLACEHOLDER
cutoff comparison 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5F7"/>
                </a:solidFill>
                <a:latin typeface="Avenir Next"/>
              </a:rPr>
              <a:t>Why low-pass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61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BEC4"/>
                </a:solidFill>
                <a:latin typeface="Avenir Next"/>
              </a:rPr>
              <a:t>The baseline is explainable, but coarse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5F5F7"/>
                </a:solidFill>
                <a:latin typeface="Avenir Next"/>
              </a:defRPr>
            </a:pPr>
            <a:r>
              <a:t>Low-pass uses the same attenuation pattern for the entire signal.</a:t>
            </a:r>
          </a:p>
          <a:p>
            <a:pPr>
              <a:spcAft>
                <a:spcPts val="800"/>
              </a:spcAft>
              <a:defRPr sz="1900">
                <a:solidFill>
                  <a:srgbClr val="F5F5F7"/>
                </a:solidFill>
                <a:latin typeface="Avenir Next"/>
              </a:defRPr>
            </a:pPr>
            <a:r>
              <a:t>It does not know whether a time-frequency region is speech-dominant or noise-dominant.</a:t>
            </a:r>
          </a:p>
          <a:p>
            <a:pPr>
              <a:spcAft>
                <a:spcPts val="800"/>
              </a:spcAft>
              <a:defRPr sz="1900">
                <a:solidFill>
                  <a:srgbClr val="F5F5F7"/>
                </a:solidFill>
                <a:latin typeface="Avenir Next"/>
              </a:defRPr>
            </a:pPr>
            <a:r>
              <a:t>This can reduce hiss, but it can also remove useful high-frequency speech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80060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AC8FA"/>
                </a:solidFill>
                <a:latin typeface="Avenir Next"/>
              </a:rPr>
              <a:t>This motivates a more flexible frequency-domain mask.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5F7"/>
                </a:solidFill>
                <a:latin typeface="Avenir Next"/>
              </a:rPr>
              <a:t>Frequency-domain masking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61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BEC4"/>
                </a:solidFill>
                <a:latin typeface="Avenir Next"/>
              </a:rPr>
              <a:t>A more flexible version of the same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4297680" cy="621792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013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7"/>
                </a:solidFill>
                <a:latin typeface="Avenir Next"/>
              </a:rPr>
              <a:t>Y(f) = M(f)X(f)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4297680" cy="621792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7"/>
                </a:solidFill>
                <a:latin typeface="Avenir Next"/>
              </a:rPr>
              <a:t>Y(t, f) = M(t, f)X(t, 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5F7"/>
                </a:solidFill>
                <a:latin typeface="Avenir Next"/>
              </a:defRPr>
            </a:pPr>
            <a:r>
              <a:t>M close to 1: preserve this component</a:t>
            </a:r>
          </a:p>
          <a:p>
            <a:pPr>
              <a:spcAft>
                <a:spcPts val="800"/>
              </a:spcAft>
              <a:defRPr sz="1600">
                <a:solidFill>
                  <a:srgbClr val="F5F5F7"/>
                </a:solidFill>
                <a:latin typeface="Avenir Next"/>
              </a:defRPr>
            </a:pPr>
            <a:r>
              <a:t>M close to 0: suppress this component</a:t>
            </a:r>
          </a:p>
          <a:p>
            <a:pPr>
              <a:spcAft>
                <a:spcPts val="800"/>
              </a:spcAft>
              <a:defRPr sz="1600">
                <a:solidFill>
                  <a:srgbClr val="F5F5F7"/>
                </a:solidFill>
                <a:latin typeface="Avenir Next"/>
              </a:defRPr>
            </a:pPr>
            <a:r>
              <a:t>Low-pass is a fixed mask; frequency masking can be more adaptive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4800600" cy="429768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337560"/>
            <a:ext cx="4434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PLACEHOLDER
mask heatmap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5F7"/>
                </a:solidFill>
                <a:latin typeface="Avenir Next"/>
              </a:rPr>
              <a:t>Wiener-style mask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61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BEC4"/>
                </a:solidFill>
                <a:latin typeface="Avenir Next"/>
              </a:rPr>
              <a:t>A principled way to design the mask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6400800" cy="621792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F5F7"/>
                </a:solidFill>
                <a:latin typeface="Avenir Next"/>
              </a:rPr>
              <a:t>M(f) = P_speech(f) / (P_speech(f) + P_noise(f))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6126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If speech power is stronger, the mask moves closer to 1.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If noise power is stronger, the mask moves closer to 0.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This follows the intuition of Wiener filtering, without claiming an industrial-grade denoising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691640"/>
            <a:ext cx="3703320" cy="324612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308610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PLACEHOLDER
Wiener gain curve / mask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5F7"/>
                </a:solidFill>
                <a:latin typeface="Avenir Next"/>
              </a:rPr>
              <a:t>Improved method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61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BEC4"/>
                </a:solidFill>
                <a:latin typeface="Avenir Next"/>
              </a:rPr>
              <a:t>From STFT to masked enhanced voice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43200"/>
            <a:ext cx="1417320" cy="411480"/>
          </a:xfrm>
          <a:prstGeom prst="roundRect">
            <a:avLst/>
          </a:prstGeom>
          <a:solidFill>
            <a:srgbClr val="FF453A"/>
          </a:solidFill>
          <a:ln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5F7"/>
                </a:solidFill>
                <a:latin typeface="Avenir Next"/>
              </a:rPr>
              <a:t>noisy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8072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8A92"/>
                </a:solidFill>
                <a:latin typeface="Avenir Next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743200"/>
            <a:ext cx="1097280" cy="411480"/>
          </a:xfrm>
          <a:prstGeom prst="roundRect">
            <a:avLst/>
          </a:prstGeom>
          <a:solidFill>
            <a:srgbClr val="0071E3"/>
          </a:solidFill>
          <a:ln>
            <a:solidFill>
              <a:srgbClr val="0071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5F7"/>
                </a:solidFill>
                <a:latin typeface="Avenir Next"/>
              </a:rPr>
              <a:t>STFT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8072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8A92"/>
                </a:solidFill>
                <a:latin typeface="Avenir Next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743200"/>
            <a:ext cx="1737360" cy="411480"/>
          </a:xfrm>
          <a:prstGeom prst="roundRect">
            <a:avLst/>
          </a:prstGeom>
          <a:solidFill>
            <a:srgbClr val="FF9F0A"/>
          </a:solidFill>
          <a:ln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C"/>
                </a:solidFill>
                <a:latin typeface="Avenir Next"/>
              </a:rPr>
              <a:t>estimate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8072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8A92"/>
                </a:solidFill>
                <a:latin typeface="Avenir Nex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743200"/>
            <a:ext cx="1691640" cy="411480"/>
          </a:xfrm>
          <a:prstGeom prst="roundRect">
            <a:avLst/>
          </a:prstGeom>
          <a:solidFill>
            <a:srgbClr val="BF5AF2"/>
          </a:solidFill>
          <a:ln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5F7"/>
                </a:solidFill>
                <a:latin typeface="Avenir Next"/>
              </a:rPr>
              <a:t>compute mask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8072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8A92"/>
                </a:solidFill>
                <a:latin typeface="Avenir Nex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2743200"/>
            <a:ext cx="1508760" cy="411480"/>
          </a:xfrm>
          <a:prstGeom prst="roundRect">
            <a:avLst/>
          </a:prstGeom>
          <a:solidFill>
            <a:srgbClr val="5AC8FA"/>
          </a:solidFill>
          <a:ln>
            <a:solidFill>
              <a:srgbClr val="5AC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C"/>
                </a:solidFill>
                <a:latin typeface="Avenir Next"/>
              </a:rPr>
              <a:t>apply mask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280720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A8A92"/>
                </a:solidFill>
                <a:latin typeface="Avenir Nex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64240" y="2743200"/>
            <a:ext cx="777240" cy="411480"/>
          </a:xfrm>
          <a:prstGeom prst="roundRect">
            <a:avLst/>
          </a:prstGeom>
          <a:solidFill>
            <a:srgbClr val="30D158"/>
          </a:solidFill>
          <a:ln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C"/>
                </a:solidFill>
                <a:latin typeface="Avenir Next"/>
              </a:rPr>
              <a:t>iSTFT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EBEC4"/>
                </a:solidFill>
                <a:latin typeface="Avenir Next"/>
              </a:rPr>
              <a:t>The improved method still uses the frequency-domain story, but makes the attenuation pattern more selective.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5F7"/>
                </a:solidFill>
                <a:latin typeface="Avenir Next"/>
              </a:rPr>
              <a:t>Mask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61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BEC4"/>
                </a:solidFill>
                <a:latin typeface="Avenir Next"/>
              </a:rPr>
              <a:t>The main new figure for the upgraded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429000" cy="356616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1546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Noisy spectrogram
placeholder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429000" cy="356616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31546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Wiener-style mask
placeholder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600200"/>
            <a:ext cx="3429000" cy="356616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315468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Masked spectrogram
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32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EBEC4"/>
                </a:solidFill>
                <a:latin typeface="Avenir Next"/>
              </a:rPr>
              <a:t>A good result page should show the logic visually: Noisy -&gt; Mask -&gt; Enhanced.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5F7"/>
                </a:solidFill>
                <a:latin typeface="Avenir Next"/>
              </a:rPr>
              <a:t>Result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61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BEC4"/>
                </a:solidFill>
                <a:latin typeface="Avenir Next"/>
              </a:rPr>
              <a:t>Baseline versus Wiener-style masking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3429000" cy="338328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Noisy voice
spectrogram / audio 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29000" cy="338328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30175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Low-pass result
spectrogram / audio label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554480"/>
            <a:ext cx="3429000" cy="338328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30175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Mask result
spectrogram / audio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EBEC4"/>
                </a:solidFill>
                <a:latin typeface="Avenir Next"/>
              </a:rPr>
              <a:t>The goal is not to crown a perfect method, but to explain how a more flexible mask changes the filtering behavior.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5F7"/>
                </a:solidFill>
                <a:latin typeface="Avenir Next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61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BEC4"/>
                </a:solidFill>
                <a:latin typeface="Avenir Next"/>
              </a:rPr>
              <a:t>Audio slots to fill after the mask experiment is generated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286000" cy="114300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8881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AUDIO SLOT
clean voice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45920"/>
            <a:ext cx="2286000" cy="114300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49039" y="198881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AUDIO SLOT
noisy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286000" cy="114300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98881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AUDIO SLOT
low-pass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645920"/>
            <a:ext cx="2286000" cy="114300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59" y="198881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AUDIO SLOT
mask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7955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Play the same speech segment for every version.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Then connect what we hear to the spectrogram and mask figures.</a:t>
            </a:r>
          </a:p>
          <a:p>
            <a:pPr>
              <a:spcAft>
                <a:spcPts val="800"/>
              </a:spcAft>
              <a:defRPr sz="1700">
                <a:solidFill>
                  <a:srgbClr val="F5F5F7"/>
                </a:solidFill>
                <a:latin typeface="Avenir Next"/>
              </a:defRPr>
            </a:pPr>
            <a:r>
              <a:t>Keep the demo short enough that the audience remembers the contrast.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5F7"/>
                </a:solidFill>
                <a:latin typeface="Avenir Next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61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BEC4"/>
                </a:solidFill>
                <a:latin typeface="Avenir Next"/>
              </a:rPr>
              <a:t>What this system still cannot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74980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The noise is simulated and simpler than a real station environment.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Mask quality depends on how well the noise power is estimated.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If speech and noise overlap strongly in the same time-frequency region, separation becomes difficult.</a:t>
            </a:r>
          </a:p>
          <a:p>
            <a:pPr>
              <a:spcAft>
                <a:spcPts val="800"/>
              </a:spcAft>
              <a:defRPr sz="1800">
                <a:solidFill>
                  <a:srgbClr val="F5F5F7"/>
                </a:solidFill>
                <a:latin typeface="Avenir Next"/>
              </a:defRPr>
            </a:pPr>
            <a:r>
              <a:t>More advanced methods may require adaptive filtering or learning-based denoising.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828800"/>
            <a:ext cx="2514600" cy="2468880"/>
          </a:xfrm>
          <a:prstGeom prst="roundRect">
            <a:avLst/>
          </a:prstGeom>
          <a:solidFill>
            <a:srgbClr val="1C1C1E"/>
          </a:solidFill>
          <a:ln>
            <a:solidFill>
              <a:srgbClr val="484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19" y="28346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EBEC4"/>
                </a:solidFill>
                <a:latin typeface="Avenir Next"/>
              </a:rPr>
              <a:t>PLACEHOLDER
limitations / extension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mbient_background_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029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5F7"/>
                </a:solidFill>
                <a:latin typeface="Avenir Next"/>
              </a:rPr>
              <a:t>A simple filter can become a richer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6187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BEC4"/>
                </a:solidFill>
                <a:latin typeface="Avenir Next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8412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5F5F7"/>
                </a:solidFill>
                <a:latin typeface="Avenir Next"/>
              </a:defRPr>
            </a:pPr>
            <a:r>
              <a:t>We modeled voice denoising as a Signals and Systems problem.</a:t>
            </a:r>
          </a:p>
          <a:p>
            <a:pPr>
              <a:spcAft>
                <a:spcPts val="800"/>
              </a:spcAft>
              <a:defRPr sz="1900">
                <a:solidFill>
                  <a:srgbClr val="F5F5F7"/>
                </a:solidFill>
                <a:latin typeface="Avenir Next"/>
              </a:defRPr>
            </a:pPr>
            <a:r>
              <a:t>Low-pass filtering provides a clear baseline.</a:t>
            </a:r>
          </a:p>
          <a:p>
            <a:pPr>
              <a:spcAft>
                <a:spcPts val="800"/>
              </a:spcAft>
              <a:defRPr sz="1900">
                <a:solidFill>
                  <a:srgbClr val="F5F5F7"/>
                </a:solidFill>
                <a:latin typeface="Avenir Next"/>
              </a:defRPr>
            </a:pPr>
            <a:r>
              <a:t>Frequency-domain masking extends the same idea in a more flexible way.</a:t>
            </a:r>
          </a:p>
          <a:p>
            <a:pPr>
              <a:spcAft>
                <a:spcPts val="800"/>
              </a:spcAft>
              <a:defRPr sz="1900">
                <a:solidFill>
                  <a:srgbClr val="F5F5F7"/>
                </a:solidFill>
                <a:latin typeface="Avenir Next"/>
              </a:defRPr>
            </a:pPr>
            <a:r>
              <a:t>A Wiener-style mask gives a principled and visual way to design frequency-dependent attenuation.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8A92"/>
                </a:solidFill>
                <a:latin typeface="Avenir Next"/>
              </a:rPr>
              <a:t>ECE0402  •  Slide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1027</Words>
  <Application>Microsoft Macintosh PowerPoint</Application>
  <PresentationFormat>宽屏</PresentationFormat>
  <Paragraphs>137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Arial</vt:lpstr>
      <vt:lpstr>Avenir Next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8</cp:revision>
  <dcterms:created xsi:type="dcterms:W3CDTF">2013-01-27T09:14:16Z</dcterms:created>
  <dcterms:modified xsi:type="dcterms:W3CDTF">2026-04-26T03:33:29Z</dcterms:modified>
  <cp:category/>
</cp:coreProperties>
</file>