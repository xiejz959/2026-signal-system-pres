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143000"/>
            <a:ext cx="10241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F5F5F7"/>
                </a:solidFill>
                <a:latin typeface="Avenir Next"/>
              </a:rPr>
              <a:t>Designing a Noise Reduction Filter
for Voice Signals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743200"/>
            <a:ext cx="79552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D7D7DC"/>
                </a:solidFill>
                <a:latin typeface="Avenir Next"/>
              </a:rPr>
              <a:t>A simulated public-announcement case study using frequency-domain analysis and a basic low-pass filter.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074920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D7D7DC"/>
                </a:solidFill>
                <a:latin typeface="Avenir Next"/>
              </a:rPr>
              <a:t>ECE0402 • Signals, Systems &amp; Probability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44068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D7D7DC"/>
                </a:solidFill>
                <a:latin typeface="Avenir Next"/>
              </a:rPr>
              <a:t>Insert team names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10332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4B4B9"/>
                </a:solidFill>
                <a:latin typeface="Avenir Next"/>
              </a:rPr>
              <a:t>ECE0402  • 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241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F5F5F7"/>
                </a:solidFill>
                <a:latin typeface="Avenir Next"/>
              </a:rPr>
              <a:t>Why this problem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389888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2D2D6"/>
                </a:solidFill>
                <a:latin typeface="Avenir Next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5669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F5F5F7"/>
                </a:solidFill>
                <a:latin typeface="Avenir Next"/>
              </a:defRPr>
            </a:pPr>
            <a:r>
              <a:t>Voice recordings and public announcements often lose clarity when background noise is present.</a:t>
            </a:r>
          </a:p>
          <a:p>
            <a:pPr>
              <a:spcAft>
                <a:spcPts val="800"/>
              </a:spcAft>
              <a:defRPr sz="1900">
                <a:solidFill>
                  <a:srgbClr val="F5F5F7"/>
                </a:solidFill>
                <a:latin typeface="Avenir Next"/>
              </a:defRPr>
            </a:pPr>
            <a:r>
              <a:t>High-frequency hiss is a useful starting point because it is common in recording chains and easier to analyze.</a:t>
            </a:r>
          </a:p>
          <a:p>
            <a:pPr>
              <a:spcAft>
                <a:spcPts val="800"/>
              </a:spcAft>
              <a:defRPr sz="1900">
                <a:solidFill>
                  <a:srgbClr val="F5F5F7"/>
                </a:solidFill>
                <a:latin typeface="Avenir Next"/>
              </a:defRPr>
            </a:pPr>
            <a:r>
              <a:t>A simple, explainable filter is enough to show how Signals and Systems ideas work in a real application.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828800"/>
            <a:ext cx="1737360" cy="347472"/>
          </a:xfrm>
          <a:prstGeom prst="roundRect">
            <a:avLst/>
          </a:prstGeom>
          <a:solidFill>
            <a:srgbClr val="0071E3"/>
          </a:solidFill>
          <a:ln>
            <a:solidFill>
              <a:srgbClr val="007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50">
                <a:solidFill>
                  <a:srgbClr val="F5F5F7"/>
                </a:solidFill>
                <a:latin typeface="Avenir Next"/>
              </a:rPr>
              <a:t>Real problem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2331720"/>
            <a:ext cx="1737360" cy="347472"/>
          </a:xfrm>
          <a:prstGeom prst="roundRect">
            <a:avLst/>
          </a:prstGeom>
          <a:solidFill>
            <a:srgbClr val="FF9F0A"/>
          </a:solidFill>
          <a:ln>
            <a:solidFill>
              <a:srgbClr val="FF9F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50">
                <a:solidFill>
                  <a:srgbClr val="F5F5F7"/>
                </a:solidFill>
                <a:latin typeface="Avenir Next"/>
              </a:rPr>
              <a:t>Controllable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2834640"/>
            <a:ext cx="1737360" cy="347472"/>
          </a:xfrm>
          <a:prstGeom prst="roundRect">
            <a:avLst/>
          </a:prstGeom>
          <a:solidFill>
            <a:srgbClr val="30D158"/>
          </a:solidFill>
          <a:ln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50">
                <a:solidFill>
                  <a:srgbClr val="141414"/>
                </a:solidFill>
                <a:latin typeface="Avenir Next"/>
              </a:rPr>
              <a:t>Explainable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63640"/>
            <a:ext cx="10332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4B4B9"/>
                </a:solidFill>
                <a:latin typeface="Avenir Next"/>
              </a:rPr>
              <a:t>ECE0402  • 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241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F5F5F7"/>
                </a:solidFill>
                <a:latin typeface="Avenir Next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389888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2D2D6"/>
                </a:solidFill>
                <a:latin typeface="Avenir Next"/>
              </a:rPr>
              <a:t>Input, output, and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5074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F5F5F7"/>
                </a:solidFill>
                <a:latin typeface="Avenir Next"/>
              </a:defRPr>
            </a:pPr>
            <a:r>
              <a:t>Input: noisy voice corrupted by high-frequency hiss.</a:t>
            </a:r>
          </a:p>
          <a:p>
            <a:pPr>
              <a:spcAft>
                <a:spcPts val="800"/>
              </a:spcAft>
              <a:defRPr sz="1900">
                <a:solidFill>
                  <a:srgbClr val="F5F5F7"/>
                </a:solidFill>
                <a:latin typeface="Avenir Next"/>
              </a:defRPr>
            </a:pPr>
            <a:r>
              <a:t>Output: a cleaner voice signal after filtering.</a:t>
            </a:r>
          </a:p>
          <a:p>
            <a:pPr>
              <a:spcAft>
                <a:spcPts val="800"/>
              </a:spcAft>
              <a:defRPr sz="1900">
                <a:solidFill>
                  <a:srgbClr val="F5F5F7"/>
                </a:solidFill>
                <a:latin typeface="Avenir Next"/>
              </a:defRPr>
            </a:pPr>
            <a:r>
              <a:t>Goal: suppress hiss while keeping speech as understandable as possible.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993392"/>
            <a:ext cx="1691640" cy="502920"/>
          </a:xfrm>
          <a:prstGeom prst="roundRect">
            <a:avLst/>
          </a:prstGeom>
          <a:solidFill>
            <a:srgbClr val="0071E3"/>
          </a:solidFill>
          <a:ln>
            <a:solidFill>
              <a:srgbClr val="007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5F5F7"/>
                </a:solidFill>
                <a:latin typeface="Avenir Next"/>
              </a:defRPr>
            </a:pPr>
            <a:r>
              <a:t>clean voice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3879" y="2084831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AAAAB0"/>
                </a:solidFill>
                <a:latin typeface="Avenir Next"/>
              </a:rPr>
              <a:t>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41080" y="1993392"/>
            <a:ext cx="1691640" cy="502920"/>
          </a:xfrm>
          <a:prstGeom prst="roundRect">
            <a:avLst/>
          </a:prstGeom>
          <a:solidFill>
            <a:srgbClr val="FF9F0A"/>
          </a:solidFill>
          <a:ln>
            <a:solidFill>
              <a:srgbClr val="FF9F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41414"/>
                </a:solidFill>
                <a:latin typeface="Avenir Next"/>
              </a:defRPr>
            </a:pPr>
            <a:r>
              <a:t>hiss noise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2770632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AAAAB0"/>
                </a:solidFill>
                <a:latin typeface="Avenir Next"/>
              </a:rPr>
              <a:t>=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2679192"/>
            <a:ext cx="1783080" cy="502920"/>
          </a:xfrm>
          <a:prstGeom prst="roundRect">
            <a:avLst/>
          </a:prstGeom>
          <a:solidFill>
            <a:srgbClr val="FF453A"/>
          </a:solidFill>
          <a:ln>
            <a:solidFill>
              <a:srgbClr val="FF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5F5F7"/>
                </a:solidFill>
                <a:latin typeface="Avenir Next"/>
              </a:defRPr>
            </a:pPr>
            <a:r>
              <a:t>noisy voice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456432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AAAAB0"/>
                </a:solidFill>
                <a:latin typeface="Avenir Next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1080" y="3364992"/>
            <a:ext cx="1783080" cy="502920"/>
          </a:xfrm>
          <a:prstGeom prst="roundRect">
            <a:avLst/>
          </a:prstGeom>
          <a:solidFill>
            <a:srgbClr val="30D158"/>
          </a:solidFill>
          <a:ln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41414"/>
                </a:solidFill>
                <a:latin typeface="Avenir Next"/>
              </a:defRPr>
            </a:pPr>
            <a:r>
              <a:t>filtered voice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07492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D7D7DC"/>
                </a:solidFill>
                <a:latin typeface="Avenir Next"/>
              </a:rPr>
              <a:t>Main design question: where should the filter cut off to reduce noise without making speech sound too dull?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263640"/>
            <a:ext cx="10332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4B4B9"/>
                </a:solidFill>
                <a:latin typeface="Avenir Next"/>
              </a:rPr>
              <a:t>ECE0402  • 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241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F5F5F7"/>
                </a:solidFill>
                <a:latin typeface="Avenir Next"/>
              </a:rPr>
              <a:t>Simulated application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389888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2D2D6"/>
                </a:solidFill>
                <a:latin typeface="Avenir Next"/>
              </a:rPr>
              <a:t>Why we use a controlled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5669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5F5F7"/>
                </a:solidFill>
                <a:latin typeface="Avenir Next"/>
              </a:defRPr>
            </a:pPr>
            <a:r>
              <a:t>We use a station/public-announcement background as the story, but we simulate the signal instead of recording a complex real environment.</a:t>
            </a:r>
          </a:p>
          <a:p>
            <a:pPr>
              <a:spcAft>
                <a:spcPts val="800"/>
              </a:spcAft>
              <a:defRPr sz="1800">
                <a:solidFill>
                  <a:srgbClr val="F5F5F7"/>
                </a:solidFill>
                <a:latin typeface="Avenir Next"/>
              </a:defRPr>
            </a:pPr>
            <a:r>
              <a:t>This keeps the noise characteristics controllable, the experiment repeatable, and the result easier to explain.</a:t>
            </a:r>
          </a:p>
          <a:p>
            <a:pPr>
              <a:spcAft>
                <a:spcPts val="800"/>
              </a:spcAft>
              <a:defRPr sz="1800">
                <a:solidFill>
                  <a:srgbClr val="F5F5F7"/>
                </a:solidFill>
                <a:latin typeface="Avenir Next"/>
              </a:defRPr>
            </a:pPr>
            <a:r>
              <a:t>The setup still preserves the real-world intuition: speech + recording-chain hiss + system processing.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737360"/>
            <a:ext cx="3749039" cy="2377440"/>
          </a:xfrm>
          <a:prstGeom prst="roundRect">
            <a:avLst/>
          </a:prstGeom>
          <a:solidFill>
            <a:srgbClr val="1C1C1E"/>
          </a:solidFill>
          <a:ln>
            <a:solidFill>
              <a:srgbClr val="484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>
                <a:solidFill>
                  <a:srgbClr val="F5F5F7"/>
                </a:solidFill>
                <a:latin typeface="Avenir Next"/>
              </a:rPr>
              <a:t>Scene framing
A short public-announcement style voice sample is corrupted by high-frequency hiss and then processed by a simple digital filter.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10332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4B4B9"/>
                </a:solidFill>
                <a:latin typeface="Avenir Next"/>
              </a:rPr>
              <a:t>ECE0402  • 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241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F5F5F7"/>
                </a:solidFill>
                <a:latin typeface="Avenir Next"/>
              </a:rPr>
              <a:t>Signal characteristics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389888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2D2D6"/>
                </a:solidFill>
                <a:latin typeface="Avenir Next"/>
              </a:rPr>
              <a:t>Voice and hiss do not occupy frequency space in the same 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10698480" cy="4709160"/>
          </a:xfrm>
          <a:prstGeom prst="roundRect">
            <a:avLst/>
          </a:prstGeom>
          <a:solidFill>
            <a:srgbClr val="FAFAFC"/>
          </a:solidFill>
          <a:ln>
            <a:solidFill>
              <a:srgbClr val="242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pectrum_roun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08760"/>
            <a:ext cx="10378440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6112" y="589788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D7D7DC"/>
                </a:solidFill>
                <a:latin typeface="Avenir Next"/>
              </a:rPr>
              <a:t>The simulated hiss raises high-frequency energy in the noisy voice, creating a clean target for basic low-pass filtering.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63640"/>
            <a:ext cx="10332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4B4B9"/>
                </a:solidFill>
                <a:latin typeface="Avenir Next"/>
              </a:rPr>
              <a:t>ECE0402  • 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241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F5F5F7"/>
                </a:solidFill>
                <a:latin typeface="Avenir Next"/>
              </a:rPr>
              <a:t>Why Fourier Transform helps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389888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2D2D6"/>
                </a:solidFill>
                <a:latin typeface="Avenir Next"/>
              </a:rPr>
              <a:t>From waveform to frequency-domain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5303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5F5F7"/>
                </a:solidFill>
                <a:latin typeface="Avenir Next"/>
              </a:defRPr>
            </a:pPr>
            <a:r>
              <a:t>In the time domain, speech and noise are mixed together and hard to separate directly.</a:t>
            </a:r>
          </a:p>
          <a:p>
            <a:pPr>
              <a:spcAft>
                <a:spcPts val="800"/>
              </a:spcAft>
              <a:defRPr sz="1800">
                <a:solidFill>
                  <a:srgbClr val="F5F5F7"/>
                </a:solidFill>
                <a:latin typeface="Avenir Next"/>
              </a:defRPr>
            </a:pPr>
            <a:r>
              <a:t>The Fourier Transform shows where energy is concentrated across frequencies.</a:t>
            </a:r>
          </a:p>
          <a:p>
            <a:pPr>
              <a:spcAft>
                <a:spcPts val="800"/>
              </a:spcAft>
              <a:defRPr sz="1800">
                <a:solidFill>
                  <a:srgbClr val="F5F5F7"/>
                </a:solidFill>
                <a:latin typeface="Avenir Next"/>
              </a:defRPr>
            </a:pPr>
            <a:r>
              <a:t>That frequency view tells us why a low-pass filter is reasonable in this specific hiss scenario.</a:t>
            </a:r>
          </a:p>
        </p:txBody>
      </p:sp>
      <p:pic>
        <p:nvPicPr>
          <p:cNvPr id="5" name="Picture 4" descr="spectrogram_roun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325880"/>
            <a:ext cx="4892040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589788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D7D7DC"/>
                </a:solidFill>
                <a:latin typeface="Avenir Next"/>
              </a:rPr>
              <a:t>High-frequency regions become visibly brighter after noise is added and are reduced again after filtering.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63640"/>
            <a:ext cx="10332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4B4B9"/>
                </a:solidFill>
                <a:latin typeface="Avenir Next"/>
              </a:rPr>
              <a:t>ECE0402  • 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241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F5F5F7"/>
                </a:solidFill>
                <a:latin typeface="Avenir Next"/>
              </a:rPr>
              <a:t>Filter design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389888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2D2D6"/>
                </a:solidFill>
                <a:latin typeface="Avenir Next"/>
              </a:rPr>
              <a:t>Why 3200 Hz becomes the main demo cutoff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4709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5F5F7"/>
                </a:solidFill>
                <a:latin typeface="Avenir Next"/>
              </a:defRPr>
            </a:pPr>
            <a:r>
              <a:t>2800 Hz removes more hiss, but speech starts sounding dull.</a:t>
            </a:r>
          </a:p>
          <a:p>
            <a:pPr>
              <a:spcAft>
                <a:spcPts val="800"/>
              </a:spcAft>
              <a:defRPr sz="1700">
                <a:solidFill>
                  <a:srgbClr val="F5F5F7"/>
                </a:solidFill>
                <a:latin typeface="Avenir Next"/>
              </a:defRPr>
            </a:pPr>
            <a:r>
              <a:t>3600 Hz preserves more speech detail, but leaves more high-frequency noise behind.</a:t>
            </a:r>
          </a:p>
          <a:p>
            <a:pPr>
              <a:spcAft>
                <a:spcPts val="800"/>
              </a:spcAft>
              <a:defRPr sz="1700">
                <a:solidFill>
                  <a:srgbClr val="F5F5F7"/>
                </a:solidFill>
                <a:latin typeface="Avenir Next"/>
              </a:defRPr>
            </a:pPr>
            <a:r>
              <a:t>3200 Hz gives the best presentation balance between audible improvement and naturalness.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23560" y="1325880"/>
            <a:ext cx="5669280" cy="4709160"/>
          </a:xfrm>
          <a:prstGeom prst="roundRect">
            <a:avLst/>
          </a:prstGeom>
          <a:solidFill>
            <a:srgbClr val="FAFAFC"/>
          </a:solidFill>
          <a:ln>
            <a:solidFill>
              <a:srgbClr val="242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rameter_comparison_roun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463040"/>
            <a:ext cx="544068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96112" y="539496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D7D7DC"/>
                </a:solidFill>
                <a:latin typeface="Avenir Next"/>
              </a:rPr>
              <a:t>We keep 3600 Hz as a comparison version, but 3200 Hz is easier to defend as the classroom demo choice.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63640"/>
            <a:ext cx="10332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4B4B9"/>
                </a:solidFill>
                <a:latin typeface="Avenir Next"/>
              </a:rPr>
              <a:t>ECE0402  • 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241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F5F5F7"/>
                </a:solidFill>
                <a:latin typeface="Avenir Next"/>
              </a:rPr>
              <a:t>System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389888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2D2D6"/>
                </a:solidFill>
                <a:latin typeface="Avenir Next"/>
              </a:rPr>
              <a:t>A complete input-output 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2651760"/>
            <a:ext cx="1737360" cy="347472"/>
          </a:xfrm>
          <a:prstGeom prst="roundRect">
            <a:avLst/>
          </a:prstGeom>
          <a:solidFill>
            <a:srgbClr val="0071E3"/>
          </a:solidFill>
          <a:ln>
            <a:solidFill>
              <a:srgbClr val="007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50">
                <a:solidFill>
                  <a:srgbClr val="F5F5F7"/>
                </a:solidFill>
                <a:latin typeface="Avenir Next"/>
              </a:rPr>
              <a:t>clean 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97480" y="272491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AAAAB0"/>
                </a:solidFill>
                <a:latin typeface="Avenir Next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63240" y="2651760"/>
            <a:ext cx="1737360" cy="347472"/>
          </a:xfrm>
          <a:prstGeom prst="roundRect">
            <a:avLst/>
          </a:prstGeom>
          <a:solidFill>
            <a:srgbClr val="FF9F0A"/>
          </a:solidFill>
          <a:ln>
            <a:solidFill>
              <a:srgbClr val="FF9F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50">
                <a:solidFill>
                  <a:srgbClr val="141414"/>
                </a:solidFill>
                <a:latin typeface="Avenir Next"/>
              </a:rPr>
              <a:t>hiss noise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72491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AAAAB0"/>
                </a:solidFill>
                <a:latin typeface="Avenir Next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60" y="2651760"/>
            <a:ext cx="1737360" cy="347472"/>
          </a:xfrm>
          <a:prstGeom prst="roundRect">
            <a:avLst/>
          </a:prstGeom>
          <a:solidFill>
            <a:srgbClr val="FF453A"/>
          </a:solidFill>
          <a:ln>
            <a:solidFill>
              <a:srgbClr val="FF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50">
                <a:solidFill>
                  <a:srgbClr val="F5F5F7"/>
                </a:solidFill>
                <a:latin typeface="Avenir Next"/>
              </a:rPr>
              <a:t>noisy 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72491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AAAAB0"/>
                </a:solidFill>
                <a:latin typeface="Avenir Next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2651760"/>
            <a:ext cx="1737360" cy="347472"/>
          </a:xfrm>
          <a:prstGeom prst="roundRect">
            <a:avLst/>
          </a:prstGeom>
          <a:solidFill>
            <a:srgbClr val="30D158"/>
          </a:solidFill>
          <a:ln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50">
                <a:solidFill>
                  <a:srgbClr val="141414"/>
                </a:solidFill>
                <a:latin typeface="Avenir Next"/>
              </a:rPr>
              <a:t>low-pass filter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0" y="272491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AAAAB0"/>
                </a:solidFill>
                <a:latin typeface="Avenir Next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64040" y="2651760"/>
            <a:ext cx="1737360" cy="347472"/>
          </a:xfrm>
          <a:prstGeom prst="roundRect">
            <a:avLst/>
          </a:prstGeom>
          <a:solidFill>
            <a:srgbClr val="0071E3"/>
          </a:solidFill>
          <a:ln>
            <a:solidFill>
              <a:srgbClr val="007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50">
                <a:solidFill>
                  <a:srgbClr val="F5F5F7"/>
                </a:solidFill>
                <a:latin typeface="Avenir Next"/>
              </a:rPr>
              <a:t>filtered voice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370332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D7D7DC"/>
                </a:solidFill>
                <a:latin typeface="Avenir Next"/>
              </a:rPr>
              <a:t>This is not just a software call: the project includes scenario modeling, frequency analysis, parameter comparison, system design, and evaluation.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407408"/>
            <a:ext cx="59436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5F5F7"/>
                </a:solidFill>
                <a:latin typeface="Avenir Next"/>
              </a:defRPr>
            </a:pPr>
            <a:r>
              <a:t>Model a realistic but controllable scenario</a:t>
            </a:r>
          </a:p>
          <a:p>
            <a:pPr>
              <a:spcAft>
                <a:spcPts val="800"/>
              </a:spcAft>
              <a:defRPr sz="1400">
                <a:solidFill>
                  <a:srgbClr val="F5F5F7"/>
                </a:solidFill>
                <a:latin typeface="Avenir Next"/>
              </a:defRPr>
            </a:pPr>
            <a:r>
              <a:t>Observe the signal in the frequency domain</a:t>
            </a:r>
          </a:p>
          <a:p>
            <a:pPr>
              <a:spcAft>
                <a:spcPts val="800"/>
              </a:spcAft>
              <a:defRPr sz="1400">
                <a:solidFill>
                  <a:srgbClr val="F5F5F7"/>
                </a:solidFill>
                <a:latin typeface="Avenir Next"/>
              </a:defRPr>
            </a:pPr>
            <a:r>
              <a:t>Design and compare candidate filter parameters</a:t>
            </a:r>
          </a:p>
          <a:p>
            <a:pPr>
              <a:spcAft>
                <a:spcPts val="800"/>
              </a:spcAft>
              <a:defRPr sz="1400">
                <a:solidFill>
                  <a:srgbClr val="F5F5F7"/>
                </a:solidFill>
                <a:latin typeface="Avenir Next"/>
              </a:defRPr>
            </a:pPr>
            <a:r>
              <a:t>Evaluate the result with audio and figures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263640"/>
            <a:ext cx="10332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4B4B9"/>
                </a:solidFill>
                <a:latin typeface="Avenir Next"/>
              </a:rPr>
              <a:t>ECE0402  • 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241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F5F5F7"/>
                </a:solidFill>
                <a:latin typeface="Avenir Next"/>
              </a:rPr>
              <a:t>Demo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389888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2D2D6"/>
                </a:solidFill>
                <a:latin typeface="Avenir Next"/>
              </a:rPr>
              <a:t>Audio will be inserted manually later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2926080" cy="822960"/>
          </a:xfrm>
          <a:prstGeom prst="roundRect">
            <a:avLst/>
          </a:prstGeom>
          <a:solidFill>
            <a:srgbClr val="0071E3"/>
          </a:solidFill>
          <a:ln>
            <a:solidFill>
              <a:srgbClr val="007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5F5F7"/>
                </a:solidFill>
                <a:latin typeface="Avenir Next"/>
              </a:rPr>
              <a:t>Clean Voice
Insert clean_voice.wav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880360"/>
            <a:ext cx="2926080" cy="822960"/>
          </a:xfrm>
          <a:prstGeom prst="roundRect">
            <a:avLst/>
          </a:prstGeom>
          <a:solidFill>
            <a:srgbClr val="FF453A"/>
          </a:solidFill>
          <a:ln>
            <a:solidFill>
              <a:srgbClr val="FF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5F5F7"/>
                </a:solidFill>
                <a:latin typeface="Avenir Next"/>
              </a:rPr>
              <a:t>Noisy Voice
Insert noisy_voice.wav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931920"/>
            <a:ext cx="2926080" cy="822960"/>
          </a:xfrm>
          <a:prstGeom prst="roundRect">
            <a:avLst/>
          </a:prstGeom>
          <a:solidFill>
            <a:srgbClr val="30D158"/>
          </a:solidFill>
          <a:ln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5F5F7"/>
                </a:solidFill>
                <a:latin typeface="Avenir Next"/>
              </a:rPr>
              <a:t>Filtered Voice
Insert filtered_voice.wav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874519"/>
            <a:ext cx="4754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5F5F7"/>
                </a:solidFill>
                <a:latin typeface="Avenir Next"/>
              </a:defRPr>
            </a:pPr>
            <a:r>
              <a:t>Use the same short sample for all three clips.</a:t>
            </a:r>
          </a:p>
          <a:p>
            <a:pPr>
              <a:spcAft>
                <a:spcPts val="800"/>
              </a:spcAft>
              <a:defRPr sz="1700">
                <a:solidFill>
                  <a:srgbClr val="F5F5F7"/>
                </a:solidFill>
                <a:latin typeface="Avenir Next"/>
              </a:defRPr>
            </a:pPr>
            <a:r>
              <a:t>Play in the order: clean → noisy → filtered.</a:t>
            </a:r>
          </a:p>
          <a:p>
            <a:pPr>
              <a:spcAft>
                <a:spcPts val="800"/>
              </a:spcAft>
              <a:defRPr sz="1700">
                <a:solidFill>
                  <a:srgbClr val="F5F5F7"/>
                </a:solidFill>
                <a:latin typeface="Avenir Next"/>
              </a:defRPr>
            </a:pPr>
            <a:r>
              <a:t>Then explain the change with waveform and spectrogram evidence.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94960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D7D7DC"/>
                </a:solidFill>
                <a:latin typeface="Avenir Next"/>
              </a:rPr>
              <a:t>Leave these placeholders intact for manual audio insertion in PowerPoint.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63640"/>
            <a:ext cx="10332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4B4B9"/>
                </a:solidFill>
                <a:latin typeface="Avenir Next"/>
              </a:rPr>
              <a:t>ECE0402  • 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241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F5F5F7"/>
                </a:solidFill>
                <a:latin typeface="Avenir Next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389888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2D2D6"/>
                </a:solidFill>
                <a:latin typeface="Avenir Next"/>
              </a:rPr>
              <a:t>Audible improvement supported by visual evidence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353312"/>
            <a:ext cx="5376672" cy="2514600"/>
          </a:xfrm>
          <a:prstGeom prst="roundRect">
            <a:avLst/>
          </a:prstGeom>
          <a:solidFill>
            <a:srgbClr val="FAFAFC"/>
          </a:solidFill>
          <a:ln>
            <a:solidFill>
              <a:srgbClr val="242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emo_pair_roun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17320"/>
            <a:ext cx="5120640" cy="2103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053328" y="1353312"/>
            <a:ext cx="5321808" cy="4251960"/>
          </a:xfrm>
          <a:prstGeom prst="roundRect">
            <a:avLst/>
          </a:prstGeom>
          <a:solidFill>
            <a:srgbClr val="FAFAFC"/>
          </a:solidFill>
          <a:ln>
            <a:solidFill>
              <a:srgbClr val="242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pectrogram_roun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417320"/>
            <a:ext cx="5074920" cy="3840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40280" y="3611880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D7D7DC"/>
                </a:solidFill>
                <a:latin typeface="Avenir Next"/>
              </a:rPr>
              <a:t>Waveform 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5394960"/>
            <a:ext cx="2834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D7D7DC"/>
                </a:solidFill>
                <a:latin typeface="Avenir Next"/>
              </a:rPr>
              <a:t>Spectrogram comparison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069080"/>
            <a:ext cx="48920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5F5F7"/>
                </a:solidFill>
                <a:latin typeface="Avenir Next"/>
              </a:defRPr>
            </a:pPr>
            <a:r>
              <a:t>High-frequency hiss is visibly reduced after filtering.</a:t>
            </a:r>
          </a:p>
          <a:p>
            <a:pPr>
              <a:spcAft>
                <a:spcPts val="800"/>
              </a:spcAft>
              <a:defRPr sz="1400">
                <a:solidFill>
                  <a:srgbClr val="F5F5F7"/>
                </a:solidFill>
                <a:latin typeface="Avenir Next"/>
              </a:defRPr>
            </a:pPr>
            <a:r>
              <a:t>Speech remains understandable in the processed output.</a:t>
            </a:r>
          </a:p>
          <a:p>
            <a:pPr>
              <a:spcAft>
                <a:spcPts val="800"/>
              </a:spcAft>
              <a:defRPr sz="1400">
                <a:solidFill>
                  <a:srgbClr val="F5F5F7"/>
                </a:solidFill>
                <a:latin typeface="Avenir Next"/>
              </a:defRPr>
            </a:pPr>
            <a:r>
              <a:t>The improvement is clear, but some high-frequency speech detail is softened.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263640"/>
            <a:ext cx="10332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4B4B9"/>
                </a:solidFill>
                <a:latin typeface="Avenir Next"/>
              </a:rPr>
              <a:t>ECE0402  • 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241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F5F5F7"/>
                </a:solidFill>
                <a:latin typeface="Avenir Next"/>
              </a:rPr>
              <a:t>Discussion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389888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2D2D6"/>
                </a:solidFill>
                <a:latin typeface="Avenir Next"/>
              </a:rPr>
              <a:t>Why the result is useful but not perfect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562356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5F5F7"/>
                </a:solidFill>
                <a:latin typeface="Avenir Next"/>
              </a:defRPr>
            </a:pPr>
            <a:r>
              <a:t>The low-pass filter works because the simulated hiss is mainly high-frequency.</a:t>
            </a:r>
          </a:p>
          <a:p>
            <a:pPr>
              <a:spcAft>
                <a:spcPts val="800"/>
              </a:spcAft>
              <a:defRPr sz="1700">
                <a:solidFill>
                  <a:srgbClr val="F5F5F7"/>
                </a:solidFill>
                <a:latin typeface="Avenir Next"/>
              </a:defRPr>
            </a:pPr>
            <a:r>
              <a:t>The same mechanism also removes some useful high-frequency speech detail.</a:t>
            </a:r>
          </a:p>
          <a:p>
            <a:pPr>
              <a:spcAft>
                <a:spcPts val="800"/>
              </a:spcAft>
              <a:defRPr sz="1700">
                <a:solidFill>
                  <a:srgbClr val="F5F5F7"/>
                </a:solidFill>
                <a:latin typeface="Avenir Next"/>
              </a:defRPr>
            </a:pPr>
            <a:r>
              <a:t>A more realistic station environment would contain broader and more complex noise, which basic low-pass filtering cannot handle as cleanly.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2011680"/>
            <a:ext cx="1737360" cy="347472"/>
          </a:xfrm>
          <a:prstGeom prst="roundRect">
            <a:avLst/>
          </a:prstGeom>
          <a:solidFill>
            <a:srgbClr val="30D158"/>
          </a:solidFill>
          <a:ln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50">
                <a:solidFill>
                  <a:srgbClr val="141414"/>
                </a:solidFill>
                <a:latin typeface="Avenir Next"/>
              </a:rPr>
              <a:t>Suppression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2606040"/>
            <a:ext cx="1737360" cy="347472"/>
          </a:xfrm>
          <a:prstGeom prst="roundRect">
            <a:avLst/>
          </a:prstGeom>
          <a:solidFill>
            <a:srgbClr val="0071E3"/>
          </a:solidFill>
          <a:ln>
            <a:solidFill>
              <a:srgbClr val="007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50">
                <a:solidFill>
                  <a:srgbClr val="F5F5F7"/>
                </a:solidFill>
                <a:latin typeface="Avenir Next"/>
              </a:rPr>
              <a:t>Preservation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3200400"/>
            <a:ext cx="1737360" cy="347472"/>
          </a:xfrm>
          <a:prstGeom prst="roundRect">
            <a:avLst/>
          </a:prstGeom>
          <a:solidFill>
            <a:srgbClr val="FF9F0A"/>
          </a:solidFill>
          <a:ln>
            <a:solidFill>
              <a:srgbClr val="FF9F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50">
                <a:solidFill>
                  <a:srgbClr val="141414"/>
                </a:solidFill>
                <a:latin typeface="Avenir Next"/>
              </a:rPr>
              <a:t>Tradeoff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534924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D7D7DC"/>
                </a:solidFill>
                <a:latin typeface="Avenir Next"/>
              </a:rPr>
              <a:t>The project is strongest as a controlled case study, not as a full solution for every real-world noise environment.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63640"/>
            <a:ext cx="10332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4B4B9"/>
                </a:solidFill>
                <a:latin typeface="Avenir Next"/>
              </a:rPr>
              <a:t>ECE0402  • 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143000"/>
            <a:ext cx="10241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F5F5F7"/>
                </a:solidFill>
                <a:latin typeface="Avenir Next"/>
              </a:rPr>
              <a:t>A simple filter can explain a lot.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743200"/>
            <a:ext cx="79552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D7D7DC"/>
                </a:solidFill>
                <a:latin typeface="Avenir Next"/>
              </a:rPr>
              <a:t>We modeled a voice-noise problem, used frequency-domain analysis to guide the design, and showed that a basic low-pass filter can reduce hiss while preserving intelligibility.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5257800"/>
            <a:ext cx="914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D7D7DC"/>
                </a:solidFill>
                <a:latin typeface="Avenir Next"/>
              </a:rPr>
              <a:t>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332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4B4B9"/>
                </a:solidFill>
                <a:latin typeface="Avenir Next"/>
              </a:rPr>
              <a:t>ECE0402  •  Slide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