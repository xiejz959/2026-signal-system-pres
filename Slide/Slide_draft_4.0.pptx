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06" r:id="rId2"/>
    <p:sldId id="258" r:id="rId3"/>
    <p:sldId id="259" r:id="rId4"/>
    <p:sldId id="273" r:id="rId5"/>
    <p:sldId id="260" r:id="rId6"/>
    <p:sldId id="261" r:id="rId7"/>
    <p:sldId id="305" r:id="rId8"/>
    <p:sldId id="267" r:id="rId9"/>
    <p:sldId id="316" r:id="rId10"/>
    <p:sldId id="320" r:id="rId11"/>
    <p:sldId id="308" r:id="rId12"/>
    <p:sldId id="309" r:id="rId13"/>
    <p:sldId id="263" r:id="rId14"/>
    <p:sldId id="310" r:id="rId15"/>
    <p:sldId id="264" r:id="rId16"/>
    <p:sldId id="270" r:id="rId17"/>
    <p:sldId id="265" r:id="rId18"/>
    <p:sldId id="318" r:id="rId19"/>
    <p:sldId id="319" r:id="rId20"/>
    <p:sldId id="313" r:id="rId21"/>
    <p:sldId id="315" r:id="rId22"/>
    <p:sldId id="280" r:id="rId23"/>
    <p:sldId id="303" r:id="rId2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7"/>
    </p:embeddedFont>
    <p:embeddedFont>
      <p:font typeface="Cambria Math" panose="02040503050406030204" pitchFamily="18" charset="0"/>
      <p:regular r:id="rId28"/>
    </p:embeddedFont>
    <p:embeddedFont>
      <p:font typeface="Karla" pitchFamily="2" charset="0"/>
      <p:regular r:id="rId29"/>
      <p:bold r:id="rId30"/>
    </p:embeddedFont>
    <p:embeddedFont>
      <p:font typeface="Rubik Black" panose="02000604000000020004" pitchFamily="2" charset="-79"/>
      <p:bold r:id="rId31"/>
    </p:embeddedFont>
  </p:embeddedFontLst>
  <p:custDataLst>
    <p:tags r:id="rId3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CA3"/>
    <a:srgbClr val="FDFAF6"/>
    <a:srgbClr val="FDE9C7"/>
    <a:srgbClr val="E2D0DD"/>
    <a:srgbClr val="D9E7DA"/>
    <a:srgbClr val="EDF1E7"/>
    <a:srgbClr val="F8DDD5"/>
    <a:srgbClr val="FADBD1"/>
    <a:srgbClr val="F9E0D7"/>
    <a:srgbClr val="E5E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8B84B43-F87F-4CEC-B4A2-2336F962359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43"/>
  </p:normalViewPr>
  <p:slideViewPr>
    <p:cSldViewPr snapToGrid="0">
      <p:cViewPr varScale="1">
        <p:scale>
          <a:sx n="147" d="100"/>
          <a:sy n="147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>
          <a:extLst>
            <a:ext uri="{FF2B5EF4-FFF2-40B4-BE49-F238E27FC236}">
              <a16:creationId xmlns:a16="http://schemas.microsoft.com/office/drawing/2014/main" id="{390DC6A4-652A-4AFC-3F77-07EAE953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4d2792e9da_0_8:notes">
            <a:extLst>
              <a:ext uri="{FF2B5EF4-FFF2-40B4-BE49-F238E27FC236}">
                <a16:creationId xmlns:a16="http://schemas.microsoft.com/office/drawing/2014/main" id="{9A35CB37-49FA-60D9-F94C-7DBE868E18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4d2792e9da_0_8:notes">
            <a:extLst>
              <a:ext uri="{FF2B5EF4-FFF2-40B4-BE49-F238E27FC236}">
                <a16:creationId xmlns:a16="http://schemas.microsoft.com/office/drawing/2014/main" id="{A9B11642-B7A6-8E81-E992-4185A5570C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6650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125d80b41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125d80b419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9609C091-50D6-44C6-B8F5-5CE3FCAB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4E67A5A2-E005-F9C0-16F7-E97F6609C4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47BB9584-9498-F428-953E-3AF9E5F5F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626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125d80b419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125d80b419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>
          <a:extLst>
            <a:ext uri="{FF2B5EF4-FFF2-40B4-BE49-F238E27FC236}">
              <a16:creationId xmlns:a16="http://schemas.microsoft.com/office/drawing/2014/main" id="{45F500F4-0248-33EE-DB28-1C508E321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>
            <a:extLst>
              <a:ext uri="{FF2B5EF4-FFF2-40B4-BE49-F238E27FC236}">
                <a16:creationId xmlns:a16="http://schemas.microsoft.com/office/drawing/2014/main" id="{37764DB8-1299-A2C9-6BC0-910F90B93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>
            <a:extLst>
              <a:ext uri="{FF2B5EF4-FFF2-40B4-BE49-F238E27FC236}">
                <a16:creationId xmlns:a16="http://schemas.microsoft.com/office/drawing/2014/main" id="{FCF7B8C8-0F3D-FF52-3E12-6AFD8A35E1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0362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>
          <a:extLst>
            <a:ext uri="{FF2B5EF4-FFF2-40B4-BE49-F238E27FC236}">
              <a16:creationId xmlns:a16="http://schemas.microsoft.com/office/drawing/2014/main" id="{226573A8-BDE1-0917-DEF0-9AF2BDC6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>
            <a:extLst>
              <a:ext uri="{FF2B5EF4-FFF2-40B4-BE49-F238E27FC236}">
                <a16:creationId xmlns:a16="http://schemas.microsoft.com/office/drawing/2014/main" id="{224A0B54-CE82-7F78-046E-223CAB1933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>
            <a:extLst>
              <a:ext uri="{FF2B5EF4-FFF2-40B4-BE49-F238E27FC236}">
                <a16:creationId xmlns:a16="http://schemas.microsoft.com/office/drawing/2014/main" id="{E9F42B73-493E-EC68-B671-F43BD68430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7324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>
          <a:extLst>
            <a:ext uri="{FF2B5EF4-FFF2-40B4-BE49-F238E27FC236}">
              <a16:creationId xmlns:a16="http://schemas.microsoft.com/office/drawing/2014/main" id="{90338629-677A-DC0E-0180-0280E8D2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>
            <a:extLst>
              <a:ext uri="{FF2B5EF4-FFF2-40B4-BE49-F238E27FC236}">
                <a16:creationId xmlns:a16="http://schemas.microsoft.com/office/drawing/2014/main" id="{840C9E6B-3E39-541C-93AA-346D120FA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>
            <a:extLst>
              <a:ext uri="{FF2B5EF4-FFF2-40B4-BE49-F238E27FC236}">
                <a16:creationId xmlns:a16="http://schemas.microsoft.com/office/drawing/2014/main" id="{9F670AC1-F8E7-BD15-36E3-5E9578E65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7750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>
          <a:extLst>
            <a:ext uri="{FF2B5EF4-FFF2-40B4-BE49-F238E27FC236}">
              <a16:creationId xmlns:a16="http://schemas.microsoft.com/office/drawing/2014/main" id="{89BAC4F7-05B6-E119-EF1D-DBE45486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>
            <a:extLst>
              <a:ext uri="{FF2B5EF4-FFF2-40B4-BE49-F238E27FC236}">
                <a16:creationId xmlns:a16="http://schemas.microsoft.com/office/drawing/2014/main" id="{A382981B-31DD-AF25-B8FB-7FA5AA95E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>
            <a:extLst>
              <a:ext uri="{FF2B5EF4-FFF2-40B4-BE49-F238E27FC236}">
                <a16:creationId xmlns:a16="http://schemas.microsoft.com/office/drawing/2014/main" id="{DC3BBE35-A4FC-AFA3-3606-F1D7E5D0CC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997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1125d80b41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1125d80b41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97B64773-E57C-CC2D-DC52-7B647E27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8366BDC0-3774-5C99-36B4-6A3399E1A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657E85E0-654F-A69D-DBBD-7441B49A0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343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e084505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4e084505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125d80b419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125d80b419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8FFCEC9F-6043-990C-260C-42143542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125d80b419_0_108:notes">
            <a:extLst>
              <a:ext uri="{FF2B5EF4-FFF2-40B4-BE49-F238E27FC236}">
                <a16:creationId xmlns:a16="http://schemas.microsoft.com/office/drawing/2014/main" id="{14C8196E-6AF2-F1C1-DD8A-3C919ACD5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125d80b419_0_108:notes">
            <a:extLst>
              <a:ext uri="{FF2B5EF4-FFF2-40B4-BE49-F238E27FC236}">
                <a16:creationId xmlns:a16="http://schemas.microsoft.com/office/drawing/2014/main" id="{57C56C4E-9D5D-09E8-0408-EE29154D82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5228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8B9419E6-E661-1048-2AA2-69C6633E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9629A023-12FC-C77A-6F67-48AF15508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9F8D8CAE-872F-2078-B34E-F49B42C256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4461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>
          <a:extLst>
            <a:ext uri="{FF2B5EF4-FFF2-40B4-BE49-F238E27FC236}">
              <a16:creationId xmlns:a16="http://schemas.microsoft.com/office/drawing/2014/main" id="{73EE27A2-C0A0-2603-BC8D-295044C0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>
            <a:extLst>
              <a:ext uri="{FF2B5EF4-FFF2-40B4-BE49-F238E27FC236}">
                <a16:creationId xmlns:a16="http://schemas.microsoft.com/office/drawing/2014/main" id="{716B36CD-F8ED-8515-076B-DC7CAB0A71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>
            <a:extLst>
              <a:ext uri="{FF2B5EF4-FFF2-40B4-BE49-F238E27FC236}">
                <a16:creationId xmlns:a16="http://schemas.microsoft.com/office/drawing/2014/main" id="{DEB64D10-FD64-26D3-0158-483C86EE8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9308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6DCD8640-1A64-F377-8035-4B7F366F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125d80b419_0_49:notes">
            <a:extLst>
              <a:ext uri="{FF2B5EF4-FFF2-40B4-BE49-F238E27FC236}">
                <a16:creationId xmlns:a16="http://schemas.microsoft.com/office/drawing/2014/main" id="{65F9E72B-3433-A9EE-E3DE-75278A64D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125d80b419_0_49:notes">
            <a:extLst>
              <a:ext uri="{FF2B5EF4-FFF2-40B4-BE49-F238E27FC236}">
                <a16:creationId xmlns:a16="http://schemas.microsoft.com/office/drawing/2014/main" id="{5DEC1B7E-E96E-F760-76BB-4A42E2647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41372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14e1613f9b3_1_3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14e1613f9b3_1_3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4e1613f9b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4e1613f9b3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51" name="Google Shape;51;p4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53" name="Google Shape;53;p4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5" name="Google Shape;55;p4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7" name="Google Shape;5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9" name="Google Shape;59;p4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0" name="Google Shape;60;p4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84" name="Google Shape;84;p6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" name="Google Shape;85;p6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86" name="Google Shape;86;p6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87" name="Google Shape;87;p6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8" name="Google Shape;88;p6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9" name="Google Shape;89;p6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0" name="Google Shape;90;p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92" name="Google Shape;92;p6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3" name="Google Shape;93;p6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7"/>
          <p:cNvGrpSpPr/>
          <p:nvPr/>
        </p:nvGrpSpPr>
        <p:grpSpPr>
          <a:xfrm>
            <a:off x="1438985" y="535000"/>
            <a:ext cx="5919000" cy="4425900"/>
            <a:chOff x="274200" y="274200"/>
            <a:chExt cx="5919000" cy="4425900"/>
          </a:xfrm>
        </p:grpSpPr>
        <p:sp>
          <p:nvSpPr>
            <p:cNvPr id="98" name="Google Shape;9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" name="Google Shape;9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00" name="Google Shape;10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1" name="Google Shape;10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2" name="Google Shape;10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" name="Google Shape;10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" name="Google Shape;10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7" name="Google Shape;107;p7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108" name="Google Shape;10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" name="Google Shape;10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10" name="Google Shape;11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" name="Google Shape;11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12" name="Google Shape;11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3" name="Google Shape;11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14" name="Google Shape;11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5" name="Google Shape;11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714250" y="731525"/>
            <a:ext cx="50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715850" y="1600325"/>
            <a:ext cx="5019900" cy="25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45" name="Google Shape;14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8" name="Google Shape;14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49" name="Google Shape;14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2" name="Google Shape;15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" name="Google Shape;15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4" name="Google Shape;154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5" name="Google Shape;15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8" name="Google Shape;15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59" name="Google Shape;15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0" name="Google Shape;16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62" name="Google Shape;16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3" name="Google Shape;16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0" name="Google Shape;180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>
            <a:spLocks noGrp="1"/>
          </p:cNvSpPr>
          <p:nvPr>
            <p:ph type="subTitle" idx="1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" name="Google Shape;196;p13"/>
          <p:cNvSpPr txBox="1">
            <a:spLocks noGrp="1"/>
          </p:cNvSpPr>
          <p:nvPr>
            <p:ph type="subTitle" idx="1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2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3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4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title" hasCustomPrompt="1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5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title" idx="6" hasCustomPrompt="1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7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8" hasCustomPrompt="1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9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14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15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1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36" name="Google Shape;236;p1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" name="Google Shape;237;p1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38" name="Google Shape;238;p1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39" name="Google Shape;239;p1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40" name="Google Shape;240;p1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41" name="Google Shape;241;p1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42" name="Google Shape;242;p1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3" name="Google Shape;243;p1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44" name="Google Shape;244;p1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5" name="Google Shape;245;p1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46" name="Google Shape;246;p15"/>
          <p:cNvSpPr txBox="1">
            <a:spLocks noGrp="1"/>
          </p:cNvSpPr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TITLE_AND_TWO_COLUMNS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7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64" name="Google Shape;264;p17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" name="Google Shape;265;p17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66" name="Google Shape;266;p17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67" name="Google Shape;267;p17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69" name="Google Shape;269;p17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70" name="Google Shape;270;p1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1" name="Google Shape;271;p1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72" name="Google Shape;272;p17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3" name="Google Shape;273;p17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4" name="Google Shape;274;p17"/>
          <p:cNvSpPr txBox="1">
            <a:spLocks noGrp="1"/>
          </p:cNvSpPr>
          <p:nvPr>
            <p:ph type="subTitle" idx="1"/>
          </p:nvPr>
        </p:nvSpPr>
        <p:spPr>
          <a:xfrm>
            <a:off x="714325" y="2754900"/>
            <a:ext cx="3674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91440"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7"/>
          <p:cNvSpPr>
            <a:spLocks noGrp="1"/>
          </p:cNvSpPr>
          <p:nvPr>
            <p:ph type="pic" idx="2"/>
          </p:nvPr>
        </p:nvSpPr>
        <p:spPr>
          <a:xfrm>
            <a:off x="4769625" y="1271375"/>
            <a:ext cx="3644400" cy="321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18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80" name="Google Shape;280;p18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82" name="Google Shape;282;p18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83" name="Google Shape;283;p18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85" name="Google Shape;285;p18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86" name="Google Shape;28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7" name="Google Shape;28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8" name="Google Shape;288;p18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9" name="Google Shape;289;p18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90" name="Google Shape;290;p18"/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1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2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3"/>
          </p:nvPr>
        </p:nvSpPr>
        <p:spPr>
          <a:xfrm>
            <a:off x="34748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4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5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6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9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00" name="Google Shape;300;p19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1" name="Google Shape;301;p19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02" name="Google Shape;302;p19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03" name="Google Shape;303;p19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04" name="Google Shape;304;p19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5" name="Google Shape;305;p19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06" name="Google Shape;306;p1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7" name="Google Shape;307;p1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08" name="Google Shape;308;p19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9" name="Google Shape;309;p19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0" name="Google Shape;310;p19"/>
          <p:cNvSpPr txBox="1">
            <a:spLocks noGrp="1"/>
          </p:cNvSpPr>
          <p:nvPr>
            <p:ph type="title"/>
          </p:nvPr>
        </p:nvSpPr>
        <p:spPr>
          <a:xfrm>
            <a:off x="715100" y="731525"/>
            <a:ext cx="77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1"/>
          </p:nvPr>
        </p:nvSpPr>
        <p:spPr>
          <a:xfrm>
            <a:off x="3408500" y="2103624"/>
            <a:ext cx="50202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2"/>
          </p:nvPr>
        </p:nvSpPr>
        <p:spPr>
          <a:xfrm>
            <a:off x="3408500" y="3104632"/>
            <a:ext cx="50202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3"/>
          </p:nvPr>
        </p:nvSpPr>
        <p:spPr>
          <a:xfrm>
            <a:off x="3408200" y="4105448"/>
            <a:ext cx="50208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4"/>
          </p:nvPr>
        </p:nvSpPr>
        <p:spPr>
          <a:xfrm>
            <a:off x="3408500" y="1600325"/>
            <a:ext cx="5020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5"/>
          </p:nvPr>
        </p:nvSpPr>
        <p:spPr>
          <a:xfrm>
            <a:off x="3408500" y="2601333"/>
            <a:ext cx="5020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6"/>
          </p:nvPr>
        </p:nvSpPr>
        <p:spPr>
          <a:xfrm>
            <a:off x="3408200" y="3602149"/>
            <a:ext cx="50208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subTitle" idx="1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 txBox="1">
            <a:spLocks noGrp="1"/>
          </p:cNvSpPr>
          <p:nvPr>
            <p:ph type="subTitle" idx="2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0"/>
          <p:cNvSpPr txBox="1">
            <a:spLocks noGrp="1"/>
          </p:cNvSpPr>
          <p:nvPr>
            <p:ph type="subTitle" idx="3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4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5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6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subTitle" idx="7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8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1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42" name="Google Shape;342;p21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3" name="Google Shape;343;p21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44" name="Google Shape;344;p21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45" name="Google Shape;345;p21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47" name="Google Shape;347;p21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48" name="Google Shape;348;p2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9" name="Google Shape;349;p2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50" name="Google Shape;350;p21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1" name="Google Shape;351;p21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52" name="Google Shape;352;p21"/>
          <p:cNvSpPr txBox="1">
            <a:spLocks noGrp="1"/>
          </p:cNvSpPr>
          <p:nvPr>
            <p:ph type="title"/>
          </p:nvPr>
        </p:nvSpPr>
        <p:spPr>
          <a:xfrm>
            <a:off x="715100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21"/>
          <p:cNvSpPr txBox="1">
            <a:spLocks noGrp="1"/>
          </p:cNvSpPr>
          <p:nvPr>
            <p:ph type="subTitle" idx="1"/>
          </p:nvPr>
        </p:nvSpPr>
        <p:spPr>
          <a:xfrm>
            <a:off x="347480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21"/>
          <p:cNvSpPr txBox="1">
            <a:spLocks noGrp="1"/>
          </p:cNvSpPr>
          <p:nvPr>
            <p:ph type="subTitle" idx="2"/>
          </p:nvPr>
        </p:nvSpPr>
        <p:spPr>
          <a:xfrm>
            <a:off x="616665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21"/>
          <p:cNvSpPr txBox="1">
            <a:spLocks noGrp="1"/>
          </p:cNvSpPr>
          <p:nvPr>
            <p:ph type="subTitle" idx="3"/>
          </p:nvPr>
        </p:nvSpPr>
        <p:spPr>
          <a:xfrm>
            <a:off x="347430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21"/>
          <p:cNvSpPr txBox="1">
            <a:spLocks noGrp="1"/>
          </p:cNvSpPr>
          <p:nvPr>
            <p:ph type="subTitle" idx="4"/>
          </p:nvPr>
        </p:nvSpPr>
        <p:spPr>
          <a:xfrm>
            <a:off x="781538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21"/>
          <p:cNvSpPr txBox="1">
            <a:spLocks noGrp="1"/>
          </p:cNvSpPr>
          <p:nvPr>
            <p:ph type="subTitle" idx="5"/>
          </p:nvPr>
        </p:nvSpPr>
        <p:spPr>
          <a:xfrm>
            <a:off x="78154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1"/>
          <p:cNvSpPr txBox="1">
            <a:spLocks noGrp="1"/>
          </p:cNvSpPr>
          <p:nvPr>
            <p:ph type="subTitle" idx="6"/>
          </p:nvPr>
        </p:nvSpPr>
        <p:spPr>
          <a:xfrm>
            <a:off x="616801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21"/>
          <p:cNvSpPr txBox="1">
            <a:spLocks noGrp="1"/>
          </p:cNvSpPr>
          <p:nvPr>
            <p:ph type="subTitle" idx="7"/>
          </p:nvPr>
        </p:nvSpPr>
        <p:spPr>
          <a:xfrm>
            <a:off x="34747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8"/>
          </p:nvPr>
        </p:nvSpPr>
        <p:spPr>
          <a:xfrm>
            <a:off x="61666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1" name="Google Shape;361;p21"/>
          <p:cNvSpPr txBox="1">
            <a:spLocks noGrp="1"/>
          </p:cNvSpPr>
          <p:nvPr>
            <p:ph type="subTitle" idx="9"/>
          </p:nvPr>
        </p:nvSpPr>
        <p:spPr>
          <a:xfrm>
            <a:off x="3475767" y="3401300"/>
            <a:ext cx="21927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2" name="Google Shape;362;p21"/>
          <p:cNvSpPr txBox="1">
            <a:spLocks noGrp="1"/>
          </p:cNvSpPr>
          <p:nvPr>
            <p:ph type="subTitle" idx="13"/>
          </p:nvPr>
        </p:nvSpPr>
        <p:spPr>
          <a:xfrm>
            <a:off x="781538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3" name="Google Shape;363;p21"/>
          <p:cNvSpPr txBox="1">
            <a:spLocks noGrp="1"/>
          </p:cNvSpPr>
          <p:nvPr>
            <p:ph type="subTitle" idx="14"/>
          </p:nvPr>
        </p:nvSpPr>
        <p:spPr>
          <a:xfrm>
            <a:off x="781552" y="3401312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4" name="Google Shape;364;p21"/>
          <p:cNvSpPr txBox="1">
            <a:spLocks noGrp="1"/>
          </p:cNvSpPr>
          <p:nvPr>
            <p:ph type="subTitle" idx="15"/>
          </p:nvPr>
        </p:nvSpPr>
        <p:spPr>
          <a:xfrm>
            <a:off x="6168018" y="340130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23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387" name="Google Shape;387;p23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8" name="Google Shape;388;p23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389" name="Google Shape;389;p23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0" name="Google Shape;390;p23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91" name="Google Shape;391;p2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2" name="Google Shape;392;p2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93" name="Google Shape;393;p23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4" name="Google Shape;394;p23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23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96" name="Google Shape;396;p23"/>
          <p:cNvSpPr txBox="1">
            <a:spLocks noGrp="1"/>
          </p:cNvSpPr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7" name="Google Shape;397;p23"/>
          <p:cNvSpPr txBox="1">
            <a:spLocks noGrp="1"/>
          </p:cNvSpPr>
          <p:nvPr>
            <p:ph type="subTitle" idx="1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2286020" y="3535412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-GB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lang="en-GB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/>
              </a:rPr>
              <a:t>Freepik</a:t>
            </a:r>
            <a:endParaRPr sz="1000"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 panose="02000604000000020004"/>
              <a:buNone/>
              <a:defRPr sz="350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6" r:id="rId6"/>
    <p:sldLayoutId id="2147483658" r:id="rId7"/>
    <p:sldLayoutId id="2147483659" r:id="rId8"/>
    <p:sldLayoutId id="2147483660" r:id="rId9"/>
    <p:sldLayoutId id="2147483662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70" r:id="rId16"/>
    <p:sldLayoutId id="2147483671" r:id="rId17"/>
    <p:sldLayoutId id="2147483672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openxmlformats.org/officeDocument/2006/relationships/image" Target="../media/image25.png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image" Target="../media/image24.png"/><Relationship Id="rId2" Type="http://schemas.openxmlformats.org/officeDocument/2006/relationships/audio" Target="../media/media1.wav"/><Relationship Id="rId16" Type="http://schemas.openxmlformats.org/officeDocument/2006/relationships/image" Target="../media/image28.png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openxmlformats.org/officeDocument/2006/relationships/image" Target="../media/image23.png"/><Relationship Id="rId5" Type="http://schemas.microsoft.com/office/2007/relationships/media" Target="../media/media3.wav"/><Relationship Id="rId15" Type="http://schemas.openxmlformats.org/officeDocument/2006/relationships/image" Target="../media/image27.png"/><Relationship Id="rId10" Type="http://schemas.openxmlformats.org/officeDocument/2006/relationships/notesSlide" Target="../notesSlides/notesSlide20.xml"/><Relationship Id="rId4" Type="http://schemas.openxmlformats.org/officeDocument/2006/relationships/audio" Target="../media/media2.wav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notesSlide" Target="../notesSlides/notesSlide23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8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>
          <a:extLst>
            <a:ext uri="{FF2B5EF4-FFF2-40B4-BE49-F238E27FC236}">
              <a16:creationId xmlns:a16="http://schemas.microsoft.com/office/drawing/2014/main" id="{BD82BAFF-65AA-E5F1-BBB7-ADE841DEF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>
            <a:extLst>
              <a:ext uri="{FF2B5EF4-FFF2-40B4-BE49-F238E27FC236}">
                <a16:creationId xmlns:a16="http://schemas.microsoft.com/office/drawing/2014/main" id="{D51723C3-21CD-A585-8867-81EC6620533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32367" y="1033524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Silence in the Spectrum: Unmasking Speech From Noise</a:t>
            </a:r>
          </a:p>
        </p:txBody>
      </p:sp>
      <p:sp>
        <p:nvSpPr>
          <p:cNvPr id="413" name="Google Shape;413;p29">
            <a:extLst>
              <a:ext uri="{FF2B5EF4-FFF2-40B4-BE49-F238E27FC236}">
                <a16:creationId xmlns:a16="http://schemas.microsoft.com/office/drawing/2014/main" id="{0C8297FA-0F91-860E-6E7E-7AF24D8DFD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5164" y="3787571"/>
            <a:ext cx="548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Junze Xie | Ming Chen | Zifan Xu | Yimin Chen | Wanting Luo</a:t>
            </a:r>
          </a:p>
        </p:txBody>
      </p:sp>
      <p:sp>
        <p:nvSpPr>
          <p:cNvPr id="414" name="Google Shape;414;p29">
            <a:extLst>
              <a:ext uri="{FF2B5EF4-FFF2-40B4-BE49-F238E27FC236}">
                <a16:creationId xmlns:a16="http://schemas.microsoft.com/office/drawing/2014/main" id="{030AF8B0-C17A-2F50-2E91-E7050547A88E}"/>
              </a:ext>
            </a:extLst>
          </p:cNvPr>
          <p:cNvSpPr/>
          <p:nvPr/>
        </p:nvSpPr>
        <p:spPr>
          <a:xfrm rot="-2700000">
            <a:off x="7079235" y="3957429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15" name="Google Shape;415;p29">
            <a:extLst>
              <a:ext uri="{FF2B5EF4-FFF2-40B4-BE49-F238E27FC236}">
                <a16:creationId xmlns:a16="http://schemas.microsoft.com/office/drawing/2014/main" id="{A07A1A9B-9FA1-9E0F-AAB1-8C77B0306E1C}"/>
              </a:ext>
            </a:extLst>
          </p:cNvPr>
          <p:cNvGrpSpPr/>
          <p:nvPr/>
        </p:nvGrpSpPr>
        <p:grpSpPr>
          <a:xfrm>
            <a:off x="87864" y="2554888"/>
            <a:ext cx="1827475" cy="1051350"/>
            <a:chOff x="274188" y="1278048"/>
            <a:chExt cx="1827475" cy="1051350"/>
          </a:xfrm>
        </p:grpSpPr>
        <p:sp>
          <p:nvSpPr>
            <p:cNvPr id="416" name="Google Shape;416;p29">
              <a:extLst>
                <a:ext uri="{FF2B5EF4-FFF2-40B4-BE49-F238E27FC236}">
                  <a16:creationId xmlns:a16="http://schemas.microsoft.com/office/drawing/2014/main" id="{F414ACF1-BB95-9427-28D1-7621AC681807}"/>
                </a:ext>
              </a:extLst>
            </p:cNvPr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417" name="Google Shape;417;p29">
              <a:extLst>
                <a:ext uri="{FF2B5EF4-FFF2-40B4-BE49-F238E27FC236}">
                  <a16:creationId xmlns:a16="http://schemas.microsoft.com/office/drawing/2014/main" id="{3132940C-30E7-9B6B-BC15-DA06484EC797}"/>
                </a:ext>
              </a:extLst>
            </p:cNvPr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18" name="Google Shape;418;p29">
                <a:extLst>
                  <a:ext uri="{FF2B5EF4-FFF2-40B4-BE49-F238E27FC236}">
                    <a16:creationId xmlns:a16="http://schemas.microsoft.com/office/drawing/2014/main" id="{752031D0-4321-BFC7-C8CD-B0E225CBEFF9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419" name="Google Shape;419;p29">
                <a:extLst>
                  <a:ext uri="{FF2B5EF4-FFF2-40B4-BE49-F238E27FC236}">
                    <a16:creationId xmlns:a16="http://schemas.microsoft.com/office/drawing/2014/main" id="{FFA9AEFC-06BE-D575-1613-4539D2BE240E}"/>
                  </a:ext>
                </a:extLst>
              </p:cNvPr>
              <p:cNvCxnSpPr/>
              <p:nvPr/>
            </p:nvCxnSpPr>
            <p:spPr>
              <a:xfrm>
                <a:off x="7146475" y="2350495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1" name="Google Shape;421;p29">
              <a:extLst>
                <a:ext uri="{FF2B5EF4-FFF2-40B4-BE49-F238E27FC236}">
                  <a16:creationId xmlns:a16="http://schemas.microsoft.com/office/drawing/2014/main" id="{CDCCC060-792C-937E-16AF-0DFFB333BBDC}"/>
                </a:ext>
              </a:extLst>
            </p:cNvPr>
            <p:cNvSpPr/>
            <p:nvPr/>
          </p:nvSpPr>
          <p:spPr>
            <a:xfrm>
              <a:off x="371566" y="1606704"/>
              <a:ext cx="328236" cy="324038"/>
            </a:xfrm>
            <a:custGeom>
              <a:avLst/>
              <a:gdLst/>
              <a:ahLst/>
              <a:cxnLst/>
              <a:rect l="l" t="t" r="r" b="b"/>
              <a:pathLst>
                <a:path w="8732" h="8733" extrusionOk="0">
                  <a:moveTo>
                    <a:pt x="4366" y="1"/>
                  </a:moveTo>
                  <a:cubicBezTo>
                    <a:pt x="1951" y="1"/>
                    <a:pt x="0" y="1952"/>
                    <a:pt x="0" y="4366"/>
                  </a:cubicBezTo>
                  <a:cubicBezTo>
                    <a:pt x="0" y="6757"/>
                    <a:pt x="1951" y="8732"/>
                    <a:pt x="4366" y="8732"/>
                  </a:cubicBezTo>
                  <a:cubicBezTo>
                    <a:pt x="6780" y="8732"/>
                    <a:pt x="8732" y="6757"/>
                    <a:pt x="8732" y="4366"/>
                  </a:cubicBezTo>
                  <a:cubicBezTo>
                    <a:pt x="8732" y="1952"/>
                    <a:pt x="6780" y="1"/>
                    <a:pt x="4366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26" name="Google Shape;426;p29">
            <a:extLst>
              <a:ext uri="{FF2B5EF4-FFF2-40B4-BE49-F238E27FC236}">
                <a16:creationId xmlns:a16="http://schemas.microsoft.com/office/drawing/2014/main" id="{D41AD5BD-BD1D-0898-F20C-4CD7346B4CA8}"/>
              </a:ext>
            </a:extLst>
          </p:cNvPr>
          <p:cNvSpPr/>
          <p:nvPr/>
        </p:nvSpPr>
        <p:spPr>
          <a:xfrm>
            <a:off x="1099325" y="425927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27" name="Google Shape;427;p29">
            <a:extLst>
              <a:ext uri="{FF2B5EF4-FFF2-40B4-BE49-F238E27FC236}">
                <a16:creationId xmlns:a16="http://schemas.microsoft.com/office/drawing/2014/main" id="{91E1C179-8560-A1D4-E243-4FF8578D78AD}"/>
              </a:ext>
            </a:extLst>
          </p:cNvPr>
          <p:cNvGrpSpPr/>
          <p:nvPr/>
        </p:nvGrpSpPr>
        <p:grpSpPr>
          <a:xfrm>
            <a:off x="6761147" y="3414805"/>
            <a:ext cx="689546" cy="208288"/>
            <a:chOff x="6761147" y="3414805"/>
            <a:chExt cx="689546" cy="208288"/>
          </a:xfrm>
        </p:grpSpPr>
        <p:sp>
          <p:nvSpPr>
            <p:cNvPr id="428" name="Google Shape;428;p29">
              <a:extLst>
                <a:ext uri="{FF2B5EF4-FFF2-40B4-BE49-F238E27FC236}">
                  <a16:creationId xmlns:a16="http://schemas.microsoft.com/office/drawing/2014/main" id="{7DF58585-190B-6112-8534-0A741AE5117C}"/>
                </a:ext>
              </a:extLst>
            </p:cNvPr>
            <p:cNvSpPr/>
            <p:nvPr/>
          </p:nvSpPr>
          <p:spPr>
            <a:xfrm>
              <a:off x="6993487" y="3563457"/>
              <a:ext cx="457207" cy="59636"/>
            </a:xfrm>
            <a:custGeom>
              <a:avLst/>
              <a:gdLst/>
              <a:ahLst/>
              <a:cxnLst/>
              <a:rect l="l" t="t" r="r" b="b"/>
              <a:pathLst>
                <a:path w="8294" h="952" extrusionOk="0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9" name="Google Shape;429;p29">
              <a:extLst>
                <a:ext uri="{FF2B5EF4-FFF2-40B4-BE49-F238E27FC236}">
                  <a16:creationId xmlns:a16="http://schemas.microsoft.com/office/drawing/2014/main" id="{4357E20C-F91C-1FE0-1210-A5D75A33DD77}"/>
                </a:ext>
              </a:extLst>
            </p:cNvPr>
            <p:cNvSpPr/>
            <p:nvPr/>
          </p:nvSpPr>
          <p:spPr>
            <a:xfrm>
              <a:off x="6761147" y="3414805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31" name="Google Shape;431;p29">
            <a:extLst>
              <a:ext uri="{FF2B5EF4-FFF2-40B4-BE49-F238E27FC236}">
                <a16:creationId xmlns:a16="http://schemas.microsoft.com/office/drawing/2014/main" id="{C7D51B64-FBCB-FB15-4B74-274C3592E311}"/>
              </a:ext>
            </a:extLst>
          </p:cNvPr>
          <p:cNvSpPr/>
          <p:nvPr/>
        </p:nvSpPr>
        <p:spPr>
          <a:xfrm>
            <a:off x="228438" y="1083699"/>
            <a:ext cx="1280100" cy="1280100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2" name="Google Shape;432;p29">
            <a:extLst>
              <a:ext uri="{FF2B5EF4-FFF2-40B4-BE49-F238E27FC236}">
                <a16:creationId xmlns:a16="http://schemas.microsoft.com/office/drawing/2014/main" id="{F7748632-55D3-FC75-F49C-CA3075BA4B85}"/>
              </a:ext>
            </a:extLst>
          </p:cNvPr>
          <p:cNvSpPr/>
          <p:nvPr/>
        </p:nvSpPr>
        <p:spPr>
          <a:xfrm>
            <a:off x="136938" y="987924"/>
            <a:ext cx="1280100" cy="12801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35" name="Google Shape;435;p29">
            <a:extLst>
              <a:ext uri="{FF2B5EF4-FFF2-40B4-BE49-F238E27FC236}">
                <a16:creationId xmlns:a16="http://schemas.microsoft.com/office/drawing/2014/main" id="{A3345CF0-AEF3-03CC-2049-616F5BA2336A}"/>
              </a:ext>
            </a:extLst>
          </p:cNvPr>
          <p:cNvGrpSpPr/>
          <p:nvPr/>
        </p:nvGrpSpPr>
        <p:grpSpPr>
          <a:xfrm>
            <a:off x="550106" y="1430940"/>
            <a:ext cx="453838" cy="419880"/>
            <a:chOff x="733647" y="1423686"/>
            <a:chExt cx="453838" cy="419880"/>
          </a:xfrm>
        </p:grpSpPr>
        <p:sp>
          <p:nvSpPr>
            <p:cNvPr id="436" name="Google Shape;436;p29">
              <a:extLst>
                <a:ext uri="{FF2B5EF4-FFF2-40B4-BE49-F238E27FC236}">
                  <a16:creationId xmlns:a16="http://schemas.microsoft.com/office/drawing/2014/main" id="{1A2FDCAF-C9F5-E9B0-5CF9-E98809EA9B4E}"/>
                </a:ext>
              </a:extLst>
            </p:cNvPr>
            <p:cNvSpPr/>
            <p:nvPr/>
          </p:nvSpPr>
          <p:spPr>
            <a:xfrm>
              <a:off x="733647" y="1423686"/>
              <a:ext cx="453838" cy="419880"/>
            </a:xfrm>
            <a:custGeom>
              <a:avLst/>
              <a:gdLst/>
              <a:ahLst/>
              <a:cxnLst/>
              <a:rect l="l" t="t" r="r" b="b"/>
              <a:pathLst>
                <a:path w="9781" h="9055" extrusionOk="0">
                  <a:moveTo>
                    <a:pt x="4904" y="1"/>
                  </a:moveTo>
                  <a:cubicBezTo>
                    <a:pt x="4654" y="1"/>
                    <a:pt x="4401" y="21"/>
                    <a:pt x="4147" y="64"/>
                  </a:cubicBezTo>
                  <a:cubicBezTo>
                    <a:pt x="1659" y="479"/>
                    <a:pt x="1" y="2820"/>
                    <a:pt x="440" y="5284"/>
                  </a:cubicBezTo>
                  <a:cubicBezTo>
                    <a:pt x="811" y="7493"/>
                    <a:pt x="2733" y="9054"/>
                    <a:pt x="4902" y="9054"/>
                  </a:cubicBezTo>
                  <a:cubicBezTo>
                    <a:pt x="5152" y="9054"/>
                    <a:pt x="5405" y="9034"/>
                    <a:pt x="5659" y="8991"/>
                  </a:cubicBezTo>
                  <a:cubicBezTo>
                    <a:pt x="8122" y="8576"/>
                    <a:pt x="9781" y="6235"/>
                    <a:pt x="9366" y="3771"/>
                  </a:cubicBezTo>
                  <a:cubicBezTo>
                    <a:pt x="8994" y="1562"/>
                    <a:pt x="7073" y="1"/>
                    <a:pt x="4904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7" name="Google Shape;437;p29">
              <a:extLst>
                <a:ext uri="{FF2B5EF4-FFF2-40B4-BE49-F238E27FC236}">
                  <a16:creationId xmlns:a16="http://schemas.microsoft.com/office/drawing/2014/main" id="{E7B8E0E8-C9E6-70DE-0D92-7CCD059CAADF}"/>
                </a:ext>
              </a:extLst>
            </p:cNvPr>
            <p:cNvSpPr/>
            <p:nvPr/>
          </p:nvSpPr>
          <p:spPr>
            <a:xfrm>
              <a:off x="898875" y="1539755"/>
              <a:ext cx="163003" cy="188911"/>
            </a:xfrm>
            <a:custGeom>
              <a:avLst/>
              <a:gdLst/>
              <a:ahLst/>
              <a:cxnLst/>
              <a:rect l="l" t="t" r="r" b="b"/>
              <a:pathLst>
                <a:path w="3513" h="4074" extrusionOk="0">
                  <a:moveTo>
                    <a:pt x="1" y="0"/>
                  </a:moveTo>
                  <a:lnTo>
                    <a:pt x="1" y="4073"/>
                  </a:lnTo>
                  <a:lnTo>
                    <a:pt x="3513" y="20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438" name="Google Shape;438;p29">
            <a:extLst>
              <a:ext uri="{FF2B5EF4-FFF2-40B4-BE49-F238E27FC236}">
                <a16:creationId xmlns:a16="http://schemas.microsoft.com/office/drawing/2014/main" id="{DBA179B6-8387-E062-EC77-C0CD8A0329AD}"/>
              </a:ext>
            </a:extLst>
          </p:cNvPr>
          <p:cNvGrpSpPr/>
          <p:nvPr/>
        </p:nvGrpSpPr>
        <p:grpSpPr>
          <a:xfrm>
            <a:off x="234316" y="2049901"/>
            <a:ext cx="1085342" cy="96171"/>
            <a:chOff x="417899" y="2116530"/>
            <a:chExt cx="1085342" cy="96171"/>
          </a:xfrm>
        </p:grpSpPr>
        <p:sp>
          <p:nvSpPr>
            <p:cNvPr id="439" name="Google Shape;439;p29">
              <a:extLst>
                <a:ext uri="{FF2B5EF4-FFF2-40B4-BE49-F238E27FC236}">
                  <a16:creationId xmlns:a16="http://schemas.microsoft.com/office/drawing/2014/main" id="{26F094D5-F551-3DA4-AA61-5095BA9B542F}"/>
                </a:ext>
              </a:extLst>
            </p:cNvPr>
            <p:cNvSpPr/>
            <p:nvPr/>
          </p:nvSpPr>
          <p:spPr>
            <a:xfrm>
              <a:off x="417899" y="2116530"/>
              <a:ext cx="1085342" cy="96171"/>
            </a:xfrm>
            <a:custGeom>
              <a:avLst/>
              <a:gdLst/>
              <a:ahLst/>
              <a:cxnLst/>
              <a:rect l="l" t="t" r="r" b="b"/>
              <a:pathLst>
                <a:path w="23391" h="2074" extrusionOk="0">
                  <a:moveTo>
                    <a:pt x="1025" y="1"/>
                  </a:moveTo>
                  <a:cubicBezTo>
                    <a:pt x="464" y="1"/>
                    <a:pt x="1" y="464"/>
                    <a:pt x="1" y="1050"/>
                  </a:cubicBezTo>
                  <a:cubicBezTo>
                    <a:pt x="1" y="1611"/>
                    <a:pt x="464" y="2074"/>
                    <a:pt x="1025" y="2074"/>
                  </a:cubicBezTo>
                  <a:lnTo>
                    <a:pt x="22366" y="2074"/>
                  </a:lnTo>
                  <a:cubicBezTo>
                    <a:pt x="22927" y="2074"/>
                    <a:pt x="23391" y="1611"/>
                    <a:pt x="23391" y="1050"/>
                  </a:cubicBezTo>
                  <a:cubicBezTo>
                    <a:pt x="23391" y="464"/>
                    <a:pt x="22927" y="1"/>
                    <a:pt x="22366" y="1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0" name="Google Shape;440;p29">
              <a:extLst>
                <a:ext uri="{FF2B5EF4-FFF2-40B4-BE49-F238E27FC236}">
                  <a16:creationId xmlns:a16="http://schemas.microsoft.com/office/drawing/2014/main" id="{2DD08CCC-CB2F-E8B2-C77E-F21B1F27D9D6}"/>
                </a:ext>
              </a:extLst>
            </p:cNvPr>
            <p:cNvSpPr/>
            <p:nvPr/>
          </p:nvSpPr>
          <p:spPr>
            <a:xfrm>
              <a:off x="417899" y="2116530"/>
              <a:ext cx="555733" cy="96171"/>
            </a:xfrm>
            <a:custGeom>
              <a:avLst/>
              <a:gdLst/>
              <a:ahLst/>
              <a:cxnLst/>
              <a:rect l="l" t="t" r="r" b="b"/>
              <a:pathLst>
                <a:path w="11977" h="2074" extrusionOk="0">
                  <a:moveTo>
                    <a:pt x="1025" y="1"/>
                  </a:moveTo>
                  <a:cubicBezTo>
                    <a:pt x="464" y="1"/>
                    <a:pt x="1" y="464"/>
                    <a:pt x="1" y="1050"/>
                  </a:cubicBezTo>
                  <a:cubicBezTo>
                    <a:pt x="1" y="1611"/>
                    <a:pt x="464" y="2074"/>
                    <a:pt x="1025" y="2074"/>
                  </a:cubicBezTo>
                  <a:lnTo>
                    <a:pt x="11976" y="2074"/>
                  </a:lnTo>
                  <a:lnTo>
                    <a:pt x="11976" y="1"/>
                  </a:ln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cxnSp>
        <p:nvCxnSpPr>
          <p:cNvPr id="441" name="Google Shape;441;p29">
            <a:extLst>
              <a:ext uri="{FF2B5EF4-FFF2-40B4-BE49-F238E27FC236}">
                <a16:creationId xmlns:a16="http://schemas.microsoft.com/office/drawing/2014/main" id="{01BB6496-B1C3-BB61-2901-57A9599C4A30}"/>
              </a:ext>
            </a:extLst>
          </p:cNvPr>
          <p:cNvCxnSpPr/>
          <p:nvPr/>
        </p:nvCxnSpPr>
        <p:spPr>
          <a:xfrm>
            <a:off x="146900" y="1170924"/>
            <a:ext cx="1263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3" name="Google Shape;443;p29">
            <a:extLst>
              <a:ext uri="{FF2B5EF4-FFF2-40B4-BE49-F238E27FC236}">
                <a16:creationId xmlns:a16="http://schemas.microsoft.com/office/drawing/2014/main" id="{E0068022-BD4D-B737-64B0-0C3FE4C3BB7A}"/>
              </a:ext>
            </a:extLst>
          </p:cNvPr>
          <p:cNvSpPr/>
          <p:nvPr/>
        </p:nvSpPr>
        <p:spPr>
          <a:xfrm>
            <a:off x="7542204" y="1266399"/>
            <a:ext cx="1554600" cy="1097400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4" name="Google Shape;444;p29">
            <a:extLst>
              <a:ext uri="{FF2B5EF4-FFF2-40B4-BE49-F238E27FC236}">
                <a16:creationId xmlns:a16="http://schemas.microsoft.com/office/drawing/2014/main" id="{C3772234-35B8-9350-0A63-C132369BD75B}"/>
              </a:ext>
            </a:extLst>
          </p:cNvPr>
          <p:cNvSpPr/>
          <p:nvPr/>
        </p:nvSpPr>
        <p:spPr>
          <a:xfrm>
            <a:off x="7450704" y="1174899"/>
            <a:ext cx="1554600" cy="1097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45" name="Google Shape;445;p29">
            <a:extLst>
              <a:ext uri="{FF2B5EF4-FFF2-40B4-BE49-F238E27FC236}">
                <a16:creationId xmlns:a16="http://schemas.microsoft.com/office/drawing/2014/main" id="{2D73987C-F575-A2ED-3CBB-AC790001CCD7}"/>
              </a:ext>
            </a:extLst>
          </p:cNvPr>
          <p:cNvCxnSpPr/>
          <p:nvPr/>
        </p:nvCxnSpPr>
        <p:spPr>
          <a:xfrm>
            <a:off x="7460666" y="1357899"/>
            <a:ext cx="1544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D913637B-215F-B1B8-3A32-B953F3E8F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519" y="1391440"/>
            <a:ext cx="1493465" cy="693891"/>
          </a:xfrm>
          <a:prstGeom prst="rect">
            <a:avLst/>
          </a:prstGeom>
        </p:spPr>
      </p:pic>
      <p:sp>
        <p:nvSpPr>
          <p:cNvPr id="446" name="Google Shape;446;p29">
            <a:extLst>
              <a:ext uri="{FF2B5EF4-FFF2-40B4-BE49-F238E27FC236}">
                <a16:creationId xmlns:a16="http://schemas.microsoft.com/office/drawing/2014/main" id="{DF33F55C-3AB8-3B84-F0B6-DE430F67C6B1}"/>
              </a:ext>
            </a:extLst>
          </p:cNvPr>
          <p:cNvSpPr/>
          <p:nvPr/>
        </p:nvSpPr>
        <p:spPr>
          <a:xfrm>
            <a:off x="7613908" y="1908239"/>
            <a:ext cx="341378" cy="320032"/>
          </a:xfrm>
          <a:custGeom>
            <a:avLst/>
            <a:gdLst/>
            <a:ahLst/>
            <a:cxnLst/>
            <a:rect l="l" t="t" r="r" b="b"/>
            <a:pathLst>
              <a:path w="10634" h="9925" extrusionOk="0">
                <a:moveTo>
                  <a:pt x="5308" y="0"/>
                </a:moveTo>
                <a:cubicBezTo>
                  <a:pt x="5171" y="0"/>
                  <a:pt x="5037" y="73"/>
                  <a:pt x="4976" y="220"/>
                </a:cubicBezTo>
                <a:lnTo>
                  <a:pt x="3659" y="2878"/>
                </a:lnTo>
                <a:cubicBezTo>
                  <a:pt x="3585" y="3000"/>
                  <a:pt x="3488" y="3073"/>
                  <a:pt x="3366" y="3073"/>
                </a:cubicBezTo>
                <a:lnTo>
                  <a:pt x="415" y="3512"/>
                </a:lnTo>
                <a:cubicBezTo>
                  <a:pt x="122" y="3561"/>
                  <a:pt x="0" y="3927"/>
                  <a:pt x="220" y="4147"/>
                </a:cubicBezTo>
                <a:lnTo>
                  <a:pt x="2341" y="6220"/>
                </a:lnTo>
                <a:cubicBezTo>
                  <a:pt x="2439" y="6317"/>
                  <a:pt x="2488" y="6439"/>
                  <a:pt x="2463" y="6561"/>
                </a:cubicBezTo>
                <a:lnTo>
                  <a:pt x="1951" y="9488"/>
                </a:lnTo>
                <a:cubicBezTo>
                  <a:pt x="1913" y="9736"/>
                  <a:pt x="2099" y="9924"/>
                  <a:pt x="2322" y="9924"/>
                </a:cubicBezTo>
                <a:cubicBezTo>
                  <a:pt x="2384" y="9924"/>
                  <a:pt x="2449" y="9910"/>
                  <a:pt x="2512" y="9878"/>
                </a:cubicBezTo>
                <a:lnTo>
                  <a:pt x="5122" y="8512"/>
                </a:lnTo>
                <a:cubicBezTo>
                  <a:pt x="5183" y="8476"/>
                  <a:pt x="5244" y="8457"/>
                  <a:pt x="5305" y="8457"/>
                </a:cubicBezTo>
                <a:cubicBezTo>
                  <a:pt x="5366" y="8457"/>
                  <a:pt x="5427" y="8476"/>
                  <a:pt x="5488" y="8512"/>
                </a:cubicBezTo>
                <a:lnTo>
                  <a:pt x="8122" y="9878"/>
                </a:lnTo>
                <a:cubicBezTo>
                  <a:pt x="8180" y="9910"/>
                  <a:pt x="8241" y="9924"/>
                  <a:pt x="8299" y="9924"/>
                </a:cubicBezTo>
                <a:cubicBezTo>
                  <a:pt x="8511" y="9924"/>
                  <a:pt x="8697" y="9736"/>
                  <a:pt x="8658" y="9488"/>
                </a:cubicBezTo>
                <a:lnTo>
                  <a:pt x="8146" y="6561"/>
                </a:lnTo>
                <a:cubicBezTo>
                  <a:pt x="8122" y="6439"/>
                  <a:pt x="8171" y="6317"/>
                  <a:pt x="8268" y="6220"/>
                </a:cubicBezTo>
                <a:lnTo>
                  <a:pt x="10390" y="4147"/>
                </a:lnTo>
                <a:cubicBezTo>
                  <a:pt x="10634" y="3927"/>
                  <a:pt x="10488" y="3561"/>
                  <a:pt x="10195" y="3512"/>
                </a:cubicBezTo>
                <a:lnTo>
                  <a:pt x="7244" y="3098"/>
                </a:lnTo>
                <a:cubicBezTo>
                  <a:pt x="7122" y="3073"/>
                  <a:pt x="7024" y="3000"/>
                  <a:pt x="6976" y="2878"/>
                </a:cubicBezTo>
                <a:lnTo>
                  <a:pt x="5658" y="220"/>
                </a:lnTo>
                <a:cubicBezTo>
                  <a:pt x="5585" y="73"/>
                  <a:pt x="5445" y="0"/>
                  <a:pt x="5308" y="0"/>
                </a:cubicBezTo>
                <a:close/>
              </a:path>
            </a:pathLst>
          </a:cu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7" name="Google Shape;447;p29">
            <a:extLst>
              <a:ext uri="{FF2B5EF4-FFF2-40B4-BE49-F238E27FC236}">
                <a16:creationId xmlns:a16="http://schemas.microsoft.com/office/drawing/2014/main" id="{F9317DDB-CA66-1E19-6966-80235D1C1984}"/>
              </a:ext>
            </a:extLst>
          </p:cNvPr>
          <p:cNvSpPr/>
          <p:nvPr/>
        </p:nvSpPr>
        <p:spPr>
          <a:xfrm>
            <a:off x="8083421" y="1908239"/>
            <a:ext cx="341378" cy="320032"/>
          </a:xfrm>
          <a:custGeom>
            <a:avLst/>
            <a:gdLst/>
            <a:ahLst/>
            <a:cxnLst/>
            <a:rect l="l" t="t" r="r" b="b"/>
            <a:pathLst>
              <a:path w="10634" h="9925" extrusionOk="0">
                <a:moveTo>
                  <a:pt x="5308" y="0"/>
                </a:moveTo>
                <a:cubicBezTo>
                  <a:pt x="5171" y="0"/>
                  <a:pt x="5037" y="73"/>
                  <a:pt x="4976" y="220"/>
                </a:cubicBezTo>
                <a:lnTo>
                  <a:pt x="3659" y="2878"/>
                </a:lnTo>
                <a:cubicBezTo>
                  <a:pt x="3585" y="3000"/>
                  <a:pt x="3488" y="3073"/>
                  <a:pt x="3366" y="3073"/>
                </a:cubicBezTo>
                <a:lnTo>
                  <a:pt x="415" y="3512"/>
                </a:lnTo>
                <a:cubicBezTo>
                  <a:pt x="122" y="3561"/>
                  <a:pt x="0" y="3927"/>
                  <a:pt x="220" y="4147"/>
                </a:cubicBezTo>
                <a:lnTo>
                  <a:pt x="2341" y="6220"/>
                </a:lnTo>
                <a:cubicBezTo>
                  <a:pt x="2439" y="6317"/>
                  <a:pt x="2488" y="6439"/>
                  <a:pt x="2463" y="6561"/>
                </a:cubicBezTo>
                <a:lnTo>
                  <a:pt x="1951" y="9488"/>
                </a:lnTo>
                <a:cubicBezTo>
                  <a:pt x="1913" y="9736"/>
                  <a:pt x="2099" y="9924"/>
                  <a:pt x="2322" y="9924"/>
                </a:cubicBezTo>
                <a:cubicBezTo>
                  <a:pt x="2384" y="9924"/>
                  <a:pt x="2449" y="9910"/>
                  <a:pt x="2512" y="9878"/>
                </a:cubicBezTo>
                <a:lnTo>
                  <a:pt x="5122" y="8512"/>
                </a:lnTo>
                <a:cubicBezTo>
                  <a:pt x="5183" y="8476"/>
                  <a:pt x="5244" y="8457"/>
                  <a:pt x="5305" y="8457"/>
                </a:cubicBezTo>
                <a:cubicBezTo>
                  <a:pt x="5366" y="8457"/>
                  <a:pt x="5427" y="8476"/>
                  <a:pt x="5488" y="8512"/>
                </a:cubicBezTo>
                <a:lnTo>
                  <a:pt x="8122" y="9878"/>
                </a:lnTo>
                <a:cubicBezTo>
                  <a:pt x="8180" y="9910"/>
                  <a:pt x="8241" y="9924"/>
                  <a:pt x="8299" y="9924"/>
                </a:cubicBezTo>
                <a:cubicBezTo>
                  <a:pt x="8511" y="9924"/>
                  <a:pt x="8697" y="9736"/>
                  <a:pt x="8658" y="9488"/>
                </a:cubicBezTo>
                <a:lnTo>
                  <a:pt x="8146" y="6561"/>
                </a:lnTo>
                <a:cubicBezTo>
                  <a:pt x="8122" y="6439"/>
                  <a:pt x="8171" y="6317"/>
                  <a:pt x="8268" y="6220"/>
                </a:cubicBezTo>
                <a:lnTo>
                  <a:pt x="10390" y="4147"/>
                </a:lnTo>
                <a:cubicBezTo>
                  <a:pt x="10634" y="3927"/>
                  <a:pt x="10488" y="3561"/>
                  <a:pt x="10195" y="3512"/>
                </a:cubicBezTo>
                <a:lnTo>
                  <a:pt x="7244" y="3098"/>
                </a:lnTo>
                <a:cubicBezTo>
                  <a:pt x="7122" y="3073"/>
                  <a:pt x="7024" y="3000"/>
                  <a:pt x="6976" y="2878"/>
                </a:cubicBezTo>
                <a:lnTo>
                  <a:pt x="5658" y="220"/>
                </a:lnTo>
                <a:cubicBezTo>
                  <a:pt x="5585" y="73"/>
                  <a:pt x="5445" y="0"/>
                  <a:pt x="5308" y="0"/>
                </a:cubicBezTo>
                <a:close/>
              </a:path>
            </a:pathLst>
          </a:cu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8" name="Google Shape;448;p29">
            <a:extLst>
              <a:ext uri="{FF2B5EF4-FFF2-40B4-BE49-F238E27FC236}">
                <a16:creationId xmlns:a16="http://schemas.microsoft.com/office/drawing/2014/main" id="{CE8A8CBA-4B66-C232-15B6-68CDBD5E01FA}"/>
              </a:ext>
            </a:extLst>
          </p:cNvPr>
          <p:cNvSpPr/>
          <p:nvPr/>
        </p:nvSpPr>
        <p:spPr>
          <a:xfrm>
            <a:off x="8552933" y="1908239"/>
            <a:ext cx="341378" cy="320032"/>
          </a:xfrm>
          <a:custGeom>
            <a:avLst/>
            <a:gdLst/>
            <a:ahLst/>
            <a:cxnLst/>
            <a:rect l="l" t="t" r="r" b="b"/>
            <a:pathLst>
              <a:path w="10634" h="9925" extrusionOk="0">
                <a:moveTo>
                  <a:pt x="5308" y="0"/>
                </a:moveTo>
                <a:cubicBezTo>
                  <a:pt x="5171" y="0"/>
                  <a:pt x="5037" y="73"/>
                  <a:pt x="4976" y="220"/>
                </a:cubicBezTo>
                <a:lnTo>
                  <a:pt x="3659" y="2878"/>
                </a:lnTo>
                <a:cubicBezTo>
                  <a:pt x="3585" y="3000"/>
                  <a:pt x="3488" y="3073"/>
                  <a:pt x="3366" y="3073"/>
                </a:cubicBezTo>
                <a:lnTo>
                  <a:pt x="415" y="3512"/>
                </a:lnTo>
                <a:cubicBezTo>
                  <a:pt x="122" y="3561"/>
                  <a:pt x="0" y="3927"/>
                  <a:pt x="220" y="4147"/>
                </a:cubicBezTo>
                <a:lnTo>
                  <a:pt x="2341" y="6220"/>
                </a:lnTo>
                <a:cubicBezTo>
                  <a:pt x="2439" y="6317"/>
                  <a:pt x="2488" y="6439"/>
                  <a:pt x="2463" y="6561"/>
                </a:cubicBezTo>
                <a:lnTo>
                  <a:pt x="1951" y="9488"/>
                </a:lnTo>
                <a:cubicBezTo>
                  <a:pt x="1913" y="9736"/>
                  <a:pt x="2099" y="9924"/>
                  <a:pt x="2322" y="9924"/>
                </a:cubicBezTo>
                <a:cubicBezTo>
                  <a:pt x="2384" y="9924"/>
                  <a:pt x="2449" y="9910"/>
                  <a:pt x="2512" y="9878"/>
                </a:cubicBezTo>
                <a:lnTo>
                  <a:pt x="5122" y="8512"/>
                </a:lnTo>
                <a:cubicBezTo>
                  <a:pt x="5183" y="8476"/>
                  <a:pt x="5244" y="8457"/>
                  <a:pt x="5305" y="8457"/>
                </a:cubicBezTo>
                <a:cubicBezTo>
                  <a:pt x="5366" y="8457"/>
                  <a:pt x="5427" y="8476"/>
                  <a:pt x="5488" y="8512"/>
                </a:cubicBezTo>
                <a:lnTo>
                  <a:pt x="8122" y="9878"/>
                </a:lnTo>
                <a:cubicBezTo>
                  <a:pt x="8180" y="9910"/>
                  <a:pt x="8241" y="9924"/>
                  <a:pt x="8299" y="9924"/>
                </a:cubicBezTo>
                <a:cubicBezTo>
                  <a:pt x="8511" y="9924"/>
                  <a:pt x="8697" y="9736"/>
                  <a:pt x="8658" y="9488"/>
                </a:cubicBezTo>
                <a:lnTo>
                  <a:pt x="8146" y="6561"/>
                </a:lnTo>
                <a:cubicBezTo>
                  <a:pt x="8122" y="6439"/>
                  <a:pt x="8171" y="6317"/>
                  <a:pt x="8268" y="6220"/>
                </a:cubicBezTo>
                <a:lnTo>
                  <a:pt x="10390" y="4147"/>
                </a:lnTo>
                <a:cubicBezTo>
                  <a:pt x="10634" y="3927"/>
                  <a:pt x="10488" y="3561"/>
                  <a:pt x="10195" y="3512"/>
                </a:cubicBezTo>
                <a:lnTo>
                  <a:pt x="7244" y="3098"/>
                </a:lnTo>
                <a:cubicBezTo>
                  <a:pt x="7122" y="3073"/>
                  <a:pt x="7024" y="3000"/>
                  <a:pt x="6976" y="2878"/>
                </a:cubicBezTo>
                <a:lnTo>
                  <a:pt x="5658" y="220"/>
                </a:lnTo>
                <a:cubicBezTo>
                  <a:pt x="5585" y="73"/>
                  <a:pt x="5445" y="0"/>
                  <a:pt x="5308" y="0"/>
                </a:cubicBezTo>
                <a:close/>
              </a:path>
            </a:pathLst>
          </a:cu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52" name="Google Shape;452;p29">
            <a:extLst>
              <a:ext uri="{FF2B5EF4-FFF2-40B4-BE49-F238E27FC236}">
                <a16:creationId xmlns:a16="http://schemas.microsoft.com/office/drawing/2014/main" id="{187FF424-CBC3-3181-E6AC-6EFCAB40FC3E}"/>
              </a:ext>
            </a:extLst>
          </p:cNvPr>
          <p:cNvGrpSpPr/>
          <p:nvPr/>
        </p:nvGrpSpPr>
        <p:grpSpPr>
          <a:xfrm>
            <a:off x="7855413" y="2571747"/>
            <a:ext cx="836668" cy="1371596"/>
            <a:chOff x="2771692" y="3497697"/>
            <a:chExt cx="836668" cy="1371596"/>
          </a:xfrm>
        </p:grpSpPr>
        <p:sp>
          <p:nvSpPr>
            <p:cNvPr id="453" name="Google Shape;453;p29">
              <a:extLst>
                <a:ext uri="{FF2B5EF4-FFF2-40B4-BE49-F238E27FC236}">
                  <a16:creationId xmlns:a16="http://schemas.microsoft.com/office/drawing/2014/main" id="{89779302-1B41-DD30-6314-6A52DDF27D0E}"/>
                </a:ext>
              </a:extLst>
            </p:cNvPr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4" name="Google Shape;454;p29">
              <a:extLst>
                <a:ext uri="{FF2B5EF4-FFF2-40B4-BE49-F238E27FC236}">
                  <a16:creationId xmlns:a16="http://schemas.microsoft.com/office/drawing/2014/main" id="{BFA1FCA0-EEE0-AD2F-EA21-267E853DD2A7}"/>
                </a:ext>
              </a:extLst>
            </p:cNvPr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5" name="Google Shape;455;p29">
              <a:extLst>
                <a:ext uri="{FF2B5EF4-FFF2-40B4-BE49-F238E27FC236}">
                  <a16:creationId xmlns:a16="http://schemas.microsoft.com/office/drawing/2014/main" id="{CB71D979-5F0B-F119-7626-36E58943C3A4}"/>
                </a:ext>
              </a:extLst>
            </p:cNvPr>
            <p:cNvSpPr/>
            <p:nvPr/>
          </p:nvSpPr>
          <p:spPr>
            <a:xfrm>
              <a:off x="3202911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6" name="Google Shape;456;p29">
              <a:extLst>
                <a:ext uri="{FF2B5EF4-FFF2-40B4-BE49-F238E27FC236}">
                  <a16:creationId xmlns:a16="http://schemas.microsoft.com/office/drawing/2014/main" id="{2C89BF11-FAFC-5476-307B-6F60EF8110DD}"/>
                </a:ext>
              </a:extLst>
            </p:cNvPr>
            <p:cNvSpPr/>
            <p:nvPr/>
          </p:nvSpPr>
          <p:spPr>
            <a:xfrm>
              <a:off x="3129912" y="3708819"/>
              <a:ext cx="120228" cy="373356"/>
            </a:xfrm>
            <a:custGeom>
              <a:avLst/>
              <a:gdLst/>
              <a:ahLst/>
              <a:cxnLst/>
              <a:rect l="l" t="t" r="r" b="b"/>
              <a:pathLst>
                <a:path w="1367" h="4269" extrusionOk="0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7" name="Google Shape;457;p29">
              <a:extLst>
                <a:ext uri="{FF2B5EF4-FFF2-40B4-BE49-F238E27FC236}">
                  <a16:creationId xmlns:a16="http://schemas.microsoft.com/office/drawing/2014/main" id="{51CD6767-BBFF-A10F-2D05-90E6C31A1C62}"/>
                </a:ext>
              </a:extLst>
            </p:cNvPr>
            <p:cNvSpPr/>
            <p:nvPr/>
          </p:nvSpPr>
          <p:spPr>
            <a:xfrm>
              <a:off x="2806080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8" name="Google Shape;458;p29">
              <a:extLst>
                <a:ext uri="{FF2B5EF4-FFF2-40B4-BE49-F238E27FC236}">
                  <a16:creationId xmlns:a16="http://schemas.microsoft.com/office/drawing/2014/main" id="{4AE3D007-B06A-CCC0-795A-7B70B39C9D05}"/>
                </a:ext>
              </a:extLst>
            </p:cNvPr>
            <p:cNvSpPr/>
            <p:nvPr/>
          </p:nvSpPr>
          <p:spPr>
            <a:xfrm>
              <a:off x="2806080" y="4150392"/>
              <a:ext cx="767979" cy="684792"/>
            </a:xfrm>
            <a:custGeom>
              <a:avLst/>
              <a:gdLst/>
              <a:ahLst/>
              <a:cxnLst/>
              <a:rect l="l" t="t" r="r" b="b"/>
              <a:pathLst>
                <a:path w="8732" h="7830" extrusionOk="0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9" name="Google Shape;459;p29">
              <a:extLst>
                <a:ext uri="{FF2B5EF4-FFF2-40B4-BE49-F238E27FC236}">
                  <a16:creationId xmlns:a16="http://schemas.microsoft.com/office/drawing/2014/main" id="{ECC0850D-79F2-B7DA-E429-E4EC03AFDC23}"/>
                </a:ext>
              </a:extLst>
            </p:cNvPr>
            <p:cNvSpPr/>
            <p:nvPr/>
          </p:nvSpPr>
          <p:spPr>
            <a:xfrm>
              <a:off x="3505371" y="4248519"/>
              <a:ext cx="34388" cy="266658"/>
            </a:xfrm>
            <a:custGeom>
              <a:avLst/>
              <a:gdLst/>
              <a:ahLst/>
              <a:cxnLst/>
              <a:rect l="l" t="t" r="r" b="b"/>
              <a:pathLst>
                <a:path w="391" h="3049" extrusionOk="0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0" name="Google Shape;460;p29">
              <a:extLst>
                <a:ext uri="{FF2B5EF4-FFF2-40B4-BE49-F238E27FC236}">
                  <a16:creationId xmlns:a16="http://schemas.microsoft.com/office/drawing/2014/main" id="{ADB22AA3-FFD6-EF4E-6019-AF61A85DBE31}"/>
                </a:ext>
              </a:extLst>
            </p:cNvPr>
            <p:cNvSpPr/>
            <p:nvPr/>
          </p:nvSpPr>
          <p:spPr>
            <a:xfrm>
              <a:off x="3202911" y="3533904"/>
              <a:ext cx="371149" cy="633630"/>
            </a:xfrm>
            <a:custGeom>
              <a:avLst/>
              <a:gdLst/>
              <a:ahLst/>
              <a:cxnLst/>
              <a:rect l="l" t="t" r="r" b="b"/>
              <a:pathLst>
                <a:path w="4220" h="7245" extrusionOk="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1" name="Google Shape;461;p29">
              <a:extLst>
                <a:ext uri="{FF2B5EF4-FFF2-40B4-BE49-F238E27FC236}">
                  <a16:creationId xmlns:a16="http://schemas.microsoft.com/office/drawing/2014/main" id="{5F535854-8AF1-6DC5-08FB-A7290E0DC08D}"/>
                </a:ext>
              </a:extLst>
            </p:cNvPr>
            <p:cNvSpPr/>
            <p:nvPr/>
          </p:nvSpPr>
          <p:spPr>
            <a:xfrm>
              <a:off x="3329471" y="4150392"/>
              <a:ext cx="246788" cy="667738"/>
            </a:xfrm>
            <a:custGeom>
              <a:avLst/>
              <a:gdLst/>
              <a:ahLst/>
              <a:cxnLst/>
              <a:rect l="l" t="t" r="r" b="b"/>
              <a:pathLst>
                <a:path w="2806" h="7635" extrusionOk="0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2" name="Google Shape;462;p29">
              <a:extLst>
                <a:ext uri="{FF2B5EF4-FFF2-40B4-BE49-F238E27FC236}">
                  <a16:creationId xmlns:a16="http://schemas.microsoft.com/office/drawing/2014/main" id="{51928447-1750-2A64-093E-83B8E9F1257B}"/>
                </a:ext>
              </a:extLst>
            </p:cNvPr>
            <p:cNvSpPr/>
            <p:nvPr/>
          </p:nvSpPr>
          <p:spPr>
            <a:xfrm>
              <a:off x="3138531" y="3728060"/>
              <a:ext cx="111609" cy="373356"/>
            </a:xfrm>
            <a:custGeom>
              <a:avLst/>
              <a:gdLst/>
              <a:ahLst/>
              <a:cxnLst/>
              <a:rect l="l" t="t" r="r" b="b"/>
              <a:pathLst>
                <a:path w="1269" h="4269" extrusionOk="0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168EE8B-B8A1-55C4-3305-49BF4938C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00" y="3013025"/>
            <a:ext cx="749873" cy="3962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E737C8-3EAB-9DD9-6D25-D4AD7D71D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00" y="2751451"/>
            <a:ext cx="1681900" cy="749574"/>
          </a:xfrm>
          <a:prstGeom prst="rect">
            <a:avLst/>
          </a:prstGeom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E14CBB18-95DC-7627-32D3-EB8389FB45D4}"/>
              </a:ext>
            </a:extLst>
          </p:cNvPr>
          <p:cNvGrpSpPr/>
          <p:nvPr/>
        </p:nvGrpSpPr>
        <p:grpSpPr>
          <a:xfrm>
            <a:off x="178039" y="1286373"/>
            <a:ext cx="1205672" cy="671857"/>
            <a:chOff x="4335444" y="5582648"/>
            <a:chExt cx="2714016" cy="1564764"/>
          </a:xfrm>
        </p:grpSpPr>
        <p:sp>
          <p:nvSpPr>
            <p:cNvPr id="26" name="Google Shape;434;p29">
              <a:extLst>
                <a:ext uri="{FF2B5EF4-FFF2-40B4-BE49-F238E27FC236}">
                  <a16:creationId xmlns:a16="http://schemas.microsoft.com/office/drawing/2014/main" id="{F6A75646-97FC-913F-9E24-5D502B082705}"/>
                </a:ext>
              </a:extLst>
            </p:cNvPr>
            <p:cNvSpPr/>
            <p:nvPr/>
          </p:nvSpPr>
          <p:spPr>
            <a:xfrm>
              <a:off x="4335444" y="5582648"/>
              <a:ext cx="2714016" cy="1564764"/>
            </a:xfrm>
            <a:prstGeom prst="roundRect">
              <a:avLst>
                <a:gd name="adj" fmla="val 5635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C704379F-DE60-E7BE-7DF7-BA9396F2B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78757" y="5659437"/>
              <a:ext cx="2510988" cy="1411186"/>
            </a:xfrm>
            <a:prstGeom prst="rect">
              <a:avLst/>
            </a:prstGeom>
          </p:spPr>
        </p:pic>
      </p:grpSp>
      <p:grpSp>
        <p:nvGrpSpPr>
          <p:cNvPr id="27" name="Google Shape;435;p29">
            <a:extLst>
              <a:ext uri="{FF2B5EF4-FFF2-40B4-BE49-F238E27FC236}">
                <a16:creationId xmlns:a16="http://schemas.microsoft.com/office/drawing/2014/main" id="{14B042A7-4C9A-6E59-381D-78AAD37A46AE}"/>
              </a:ext>
            </a:extLst>
          </p:cNvPr>
          <p:cNvGrpSpPr/>
          <p:nvPr/>
        </p:nvGrpSpPr>
        <p:grpSpPr>
          <a:xfrm>
            <a:off x="550106" y="1381511"/>
            <a:ext cx="453838" cy="419880"/>
            <a:chOff x="733647" y="1423686"/>
            <a:chExt cx="453838" cy="419880"/>
          </a:xfrm>
        </p:grpSpPr>
        <p:sp>
          <p:nvSpPr>
            <p:cNvPr id="28" name="Google Shape;436;p29">
              <a:extLst>
                <a:ext uri="{FF2B5EF4-FFF2-40B4-BE49-F238E27FC236}">
                  <a16:creationId xmlns:a16="http://schemas.microsoft.com/office/drawing/2014/main" id="{28DD743E-37EE-D1A5-D0DC-31682AF61225}"/>
                </a:ext>
              </a:extLst>
            </p:cNvPr>
            <p:cNvSpPr/>
            <p:nvPr/>
          </p:nvSpPr>
          <p:spPr>
            <a:xfrm>
              <a:off x="733647" y="1423686"/>
              <a:ext cx="453838" cy="419880"/>
            </a:xfrm>
            <a:custGeom>
              <a:avLst/>
              <a:gdLst/>
              <a:ahLst/>
              <a:cxnLst/>
              <a:rect l="l" t="t" r="r" b="b"/>
              <a:pathLst>
                <a:path w="9781" h="9055" extrusionOk="0">
                  <a:moveTo>
                    <a:pt x="4904" y="1"/>
                  </a:moveTo>
                  <a:cubicBezTo>
                    <a:pt x="4654" y="1"/>
                    <a:pt x="4401" y="21"/>
                    <a:pt x="4147" y="64"/>
                  </a:cubicBezTo>
                  <a:cubicBezTo>
                    <a:pt x="1659" y="479"/>
                    <a:pt x="1" y="2820"/>
                    <a:pt x="440" y="5284"/>
                  </a:cubicBezTo>
                  <a:cubicBezTo>
                    <a:pt x="811" y="7493"/>
                    <a:pt x="2733" y="9054"/>
                    <a:pt x="4902" y="9054"/>
                  </a:cubicBezTo>
                  <a:cubicBezTo>
                    <a:pt x="5152" y="9054"/>
                    <a:pt x="5405" y="9034"/>
                    <a:pt x="5659" y="8991"/>
                  </a:cubicBezTo>
                  <a:cubicBezTo>
                    <a:pt x="8122" y="8576"/>
                    <a:pt x="9781" y="6235"/>
                    <a:pt x="9366" y="3771"/>
                  </a:cubicBezTo>
                  <a:cubicBezTo>
                    <a:pt x="8994" y="1562"/>
                    <a:pt x="7073" y="1"/>
                    <a:pt x="4904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437;p29">
              <a:extLst>
                <a:ext uri="{FF2B5EF4-FFF2-40B4-BE49-F238E27FC236}">
                  <a16:creationId xmlns:a16="http://schemas.microsoft.com/office/drawing/2014/main" id="{A6B6798E-150A-0632-9835-A8AEB621409E}"/>
                </a:ext>
              </a:extLst>
            </p:cNvPr>
            <p:cNvSpPr/>
            <p:nvPr/>
          </p:nvSpPr>
          <p:spPr>
            <a:xfrm>
              <a:off x="898875" y="1539755"/>
              <a:ext cx="163003" cy="188911"/>
            </a:xfrm>
            <a:custGeom>
              <a:avLst/>
              <a:gdLst/>
              <a:ahLst/>
              <a:cxnLst/>
              <a:rect l="l" t="t" r="r" b="b"/>
              <a:pathLst>
                <a:path w="3513" h="4074" extrusionOk="0">
                  <a:moveTo>
                    <a:pt x="1" y="0"/>
                  </a:moveTo>
                  <a:lnTo>
                    <a:pt x="1" y="4073"/>
                  </a:lnTo>
                  <a:lnTo>
                    <a:pt x="3513" y="20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BF99B348-6CFF-1B65-E46E-31F8564BC366}"/>
              </a:ext>
            </a:extLst>
          </p:cNvPr>
          <p:cNvSpPr txBox="1"/>
          <p:nvPr/>
        </p:nvSpPr>
        <p:spPr>
          <a:xfrm>
            <a:off x="5586402" y="4293494"/>
            <a:ext cx="3450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rla" pitchFamily="2" charset="0"/>
                <a:cs typeface="Arial" panose="020B0604020202020204"/>
                <a:sym typeface="Arial" panose="020B0604020202020204"/>
              </a:rPr>
              <a:t>Signals, Systems &amp; Probability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rla" pitchFamily="2" charset="0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79849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oogle Shape;479;p31"/>
          <p:cNvGrpSpPr/>
          <p:nvPr/>
        </p:nvGrpSpPr>
        <p:grpSpPr>
          <a:xfrm>
            <a:off x="4754850" y="3195960"/>
            <a:ext cx="3771900" cy="1412550"/>
            <a:chOff x="4754850" y="1600325"/>
            <a:chExt cx="3771900" cy="1412550"/>
          </a:xfrm>
        </p:grpSpPr>
        <p:sp>
          <p:nvSpPr>
            <p:cNvPr id="480" name="Google Shape;480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82" name="Google Shape;482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3" name="Google Shape;483;p31"/>
          <p:cNvGrpSpPr/>
          <p:nvPr/>
        </p:nvGrpSpPr>
        <p:grpSpPr>
          <a:xfrm>
            <a:off x="715100" y="3195863"/>
            <a:ext cx="3771900" cy="1412550"/>
            <a:chOff x="4754850" y="1600325"/>
            <a:chExt cx="3771900" cy="1412550"/>
          </a:xfrm>
        </p:grpSpPr>
        <p:sp>
          <p:nvSpPr>
            <p:cNvPr id="484" name="Google Shape;484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86" name="Google Shape;486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7" name="Google Shape;487;p31"/>
          <p:cNvGrpSpPr/>
          <p:nvPr/>
        </p:nvGrpSpPr>
        <p:grpSpPr>
          <a:xfrm>
            <a:off x="715100" y="1600313"/>
            <a:ext cx="3771900" cy="1412550"/>
            <a:chOff x="4754850" y="1600325"/>
            <a:chExt cx="3771900" cy="1412550"/>
          </a:xfrm>
        </p:grpSpPr>
        <p:sp>
          <p:nvSpPr>
            <p:cNvPr id="488" name="Google Shape;488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0" name="Google Shape;490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1" name="Google Shape;491;p31"/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492" name="Google Shape;492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4" name="Google Shape;494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5" name="Google Shape;495;p31"/>
          <p:cNvSpPr txBox="1">
            <a:spLocks noGrp="1"/>
          </p:cNvSpPr>
          <p:nvPr>
            <p:ph type="subTitle" idx="1"/>
          </p:nvPr>
        </p:nvSpPr>
        <p:spPr>
          <a:xfrm>
            <a:off x="1636780" y="1818428"/>
            <a:ext cx="3206494" cy="9556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zh-CN" dirty="0"/>
              <a:t>Background &amp; Problems</a:t>
            </a:r>
            <a:endParaRPr lang="en-GB" dirty="0"/>
          </a:p>
        </p:txBody>
      </p:sp>
      <p:sp>
        <p:nvSpPr>
          <p:cNvPr id="496" name="Google Shape;496;p31"/>
          <p:cNvSpPr txBox="1">
            <a:spLocks noGrp="1"/>
          </p:cNvSpPr>
          <p:nvPr>
            <p:ph type="subTitle" idx="2"/>
          </p:nvPr>
        </p:nvSpPr>
        <p:spPr>
          <a:xfrm>
            <a:off x="1646156" y="3454690"/>
            <a:ext cx="3674100" cy="9674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zh-CN" dirty="0"/>
              <a:t>Advancing:</a:t>
            </a:r>
          </a:p>
          <a:p>
            <a:pPr marL="0" lvl="0" indent="0"/>
            <a:r>
              <a:rPr lang="en-US" altLang="zh-CN" dirty="0"/>
              <a:t>Wiener Masking</a:t>
            </a:r>
            <a:endParaRPr lang="en-GB" dirty="0"/>
          </a:p>
        </p:txBody>
      </p:sp>
      <p:sp>
        <p:nvSpPr>
          <p:cNvPr id="497" name="Google Shape;497;p31"/>
          <p:cNvSpPr txBox="1">
            <a:spLocks noGrp="1"/>
          </p:cNvSpPr>
          <p:nvPr>
            <p:ph type="subTitle" idx="3"/>
          </p:nvPr>
        </p:nvSpPr>
        <p:spPr>
          <a:xfrm>
            <a:off x="5745859" y="1930677"/>
            <a:ext cx="3146541" cy="843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zh-CN" dirty="0"/>
              <a:t>Signal Model &amp; Baseline Filter</a:t>
            </a:r>
            <a:endParaRPr lang="en-GB" dirty="0"/>
          </a:p>
        </p:txBody>
      </p:sp>
      <p:sp>
        <p:nvSpPr>
          <p:cNvPr id="498" name="Google Shape;498;p31"/>
          <p:cNvSpPr txBox="1">
            <a:spLocks noGrp="1"/>
          </p:cNvSpPr>
          <p:nvPr>
            <p:ph type="title"/>
          </p:nvPr>
        </p:nvSpPr>
        <p:spPr>
          <a:xfrm>
            <a:off x="769347" y="1967827"/>
            <a:ext cx="876809" cy="7688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/>
              <a:t>01</a:t>
            </a:r>
          </a:p>
        </p:txBody>
      </p:sp>
      <p:sp>
        <p:nvSpPr>
          <p:cNvPr id="504" name="Google Shape;504;p31"/>
          <p:cNvSpPr txBox="1">
            <a:spLocks noGrp="1"/>
          </p:cNvSpPr>
          <p:nvPr>
            <p:ph type="title" idx="15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Table of contents</a:t>
            </a:r>
          </a:p>
        </p:txBody>
      </p:sp>
      <p:sp>
        <p:nvSpPr>
          <p:cNvPr id="505" name="Google Shape;505;p31"/>
          <p:cNvSpPr txBox="1">
            <a:spLocks noGrp="1"/>
          </p:cNvSpPr>
          <p:nvPr>
            <p:ph type="subTitle" idx="4"/>
          </p:nvPr>
        </p:nvSpPr>
        <p:spPr>
          <a:xfrm>
            <a:off x="5798129" y="3464077"/>
            <a:ext cx="2471382" cy="9674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zh-CN" dirty="0"/>
              <a:t>Results &amp; Evaluation</a:t>
            </a:r>
            <a:endParaRPr lang="en-GB" dirty="0"/>
          </a:p>
        </p:txBody>
      </p:sp>
      <p:sp>
        <p:nvSpPr>
          <p:cNvPr id="508" name="Google Shape;508;p31"/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/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98;p31">
            <a:extLst>
              <a:ext uri="{FF2B5EF4-FFF2-40B4-BE49-F238E27FC236}">
                <a16:creationId xmlns:a16="http://schemas.microsoft.com/office/drawing/2014/main" id="{B548F306-B97A-A941-C022-71C009782D76}"/>
              </a:ext>
            </a:extLst>
          </p:cNvPr>
          <p:cNvSpPr txBox="1">
            <a:spLocks/>
          </p:cNvSpPr>
          <p:nvPr/>
        </p:nvSpPr>
        <p:spPr>
          <a:xfrm>
            <a:off x="4841148" y="1966302"/>
            <a:ext cx="919573" cy="768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 panose="02000604000000020004"/>
              <a:buNone/>
              <a:defRPr sz="50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 sz="4000" dirty="0"/>
              <a:t>02</a:t>
            </a:r>
          </a:p>
        </p:txBody>
      </p:sp>
      <p:sp>
        <p:nvSpPr>
          <p:cNvPr id="9" name="Google Shape;498;p31">
            <a:extLst>
              <a:ext uri="{FF2B5EF4-FFF2-40B4-BE49-F238E27FC236}">
                <a16:creationId xmlns:a16="http://schemas.microsoft.com/office/drawing/2014/main" id="{D61F1C6D-72EC-485D-5969-683543D792E5}"/>
              </a:ext>
            </a:extLst>
          </p:cNvPr>
          <p:cNvSpPr txBox="1">
            <a:spLocks/>
          </p:cNvSpPr>
          <p:nvPr/>
        </p:nvSpPr>
        <p:spPr>
          <a:xfrm>
            <a:off x="803941" y="3543802"/>
            <a:ext cx="955747" cy="768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 panose="02000604000000020004"/>
              <a:buNone/>
              <a:defRPr sz="50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 sz="4000" dirty="0"/>
              <a:t>03</a:t>
            </a:r>
          </a:p>
        </p:txBody>
      </p:sp>
      <p:sp>
        <p:nvSpPr>
          <p:cNvPr id="12" name="Google Shape;498;p31">
            <a:extLst>
              <a:ext uri="{FF2B5EF4-FFF2-40B4-BE49-F238E27FC236}">
                <a16:creationId xmlns:a16="http://schemas.microsoft.com/office/drawing/2014/main" id="{7BA8FF24-BBCF-E375-B543-987E46616E05}"/>
              </a:ext>
            </a:extLst>
          </p:cNvPr>
          <p:cNvSpPr txBox="1">
            <a:spLocks/>
          </p:cNvSpPr>
          <p:nvPr/>
        </p:nvSpPr>
        <p:spPr>
          <a:xfrm>
            <a:off x="4842382" y="3543801"/>
            <a:ext cx="955747" cy="768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 panose="02000604000000020004"/>
              <a:buNone/>
              <a:defRPr sz="50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GB" sz="4000" dirty="0"/>
              <a:t>04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31F03F-C87F-32FD-F25B-9376C5D7233A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/>
          <p:cNvSpPr txBox="1">
            <a:spLocks noGrp="1"/>
          </p:cNvSpPr>
          <p:nvPr>
            <p:ph type="title" idx="2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</a:p>
        </p:txBody>
      </p:sp>
      <p:sp>
        <p:nvSpPr>
          <p:cNvPr id="546" name="Google Shape;546;p32"/>
          <p:cNvSpPr txBox="1">
            <a:spLocks noGrp="1"/>
          </p:cNvSpPr>
          <p:nvPr>
            <p:ph type="title"/>
          </p:nvPr>
        </p:nvSpPr>
        <p:spPr>
          <a:xfrm>
            <a:off x="1828090" y="1988837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CN" sz="3600" dirty="0"/>
              <a:t>Background &amp; Problems</a:t>
            </a:r>
            <a:endParaRPr lang="en-GB" dirty="0"/>
          </a:p>
        </p:txBody>
      </p:sp>
      <p:grpSp>
        <p:nvGrpSpPr>
          <p:cNvPr id="547" name="Google Shape;547;p32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/>
          <p:cNvSpPr txBox="1">
            <a:spLocks noGrp="1"/>
          </p:cNvSpPr>
          <p:nvPr>
            <p:ph type="subTitle" idx="1"/>
          </p:nvPr>
        </p:nvSpPr>
        <p:spPr>
          <a:xfrm>
            <a:off x="1655617" y="3724552"/>
            <a:ext cx="6188364" cy="8472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Voice Denoising i</a:t>
            </a:r>
            <a:r>
              <a:rPr lang="en-US" altLang="zh-CN" sz="2400" dirty="0"/>
              <a:t>n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/>
              <a:t>Physical Environment</a:t>
            </a:r>
            <a:endParaRPr lang="en-US" sz="2400" dirty="0"/>
          </a:p>
        </p:txBody>
      </p:sp>
      <p:grpSp>
        <p:nvGrpSpPr>
          <p:cNvPr id="552" name="Google Shape;552;p32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/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/>
          <p:cNvSpPr txBox="1">
            <a:spLocks noGrp="1"/>
          </p:cNvSpPr>
          <p:nvPr>
            <p:ph type="title"/>
          </p:nvPr>
        </p:nvSpPr>
        <p:spPr>
          <a:xfrm>
            <a:off x="382137" y="731401"/>
            <a:ext cx="4325212" cy="751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altLang="zh-CN" sz="3600" dirty="0"/>
              <a:t>Scenario</a:t>
            </a:r>
            <a:endParaRPr lang="en-GB" dirty="0"/>
          </a:p>
        </p:txBody>
      </p:sp>
      <p:sp>
        <p:nvSpPr>
          <p:cNvPr id="1013" name="Google Shape;1013;p46"/>
          <p:cNvSpPr txBox="1">
            <a:spLocks noGrp="1"/>
          </p:cNvSpPr>
          <p:nvPr>
            <p:ph type="subTitle" idx="1"/>
          </p:nvPr>
        </p:nvSpPr>
        <p:spPr>
          <a:xfrm>
            <a:off x="297872" y="1741727"/>
            <a:ext cx="3403679" cy="1660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altLang="zh-CN" sz="2400" dirty="0"/>
              <a:t>In a public setting</a:t>
            </a:r>
          </a:p>
          <a:p>
            <a:pPr marL="0" indent="0"/>
            <a:r>
              <a:rPr lang="en-US" altLang="zh-CN" sz="2400" dirty="0"/>
              <a:t>Such as a train station</a:t>
            </a:r>
          </a:p>
          <a:p>
            <a:pPr marL="0" indent="0"/>
            <a:r>
              <a:rPr lang="en-US" altLang="zh-CN" sz="2400" dirty="0"/>
              <a:t>A phone call came through</a:t>
            </a:r>
          </a:p>
        </p:txBody>
      </p:sp>
      <p:grpSp>
        <p:nvGrpSpPr>
          <p:cNvPr id="1014" name="Google Shape;1014;p46"/>
          <p:cNvGrpSpPr/>
          <p:nvPr/>
        </p:nvGrpSpPr>
        <p:grpSpPr>
          <a:xfrm>
            <a:off x="3643745" y="818707"/>
            <a:ext cx="4855972" cy="3115340"/>
            <a:chOff x="4754850" y="887475"/>
            <a:chExt cx="3763400" cy="3725700"/>
          </a:xfrm>
        </p:grpSpPr>
        <p:sp>
          <p:nvSpPr>
            <p:cNvPr id="1015" name="Google Shape;1015;p46"/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6" name="Google Shape;1016;p46"/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1017" name="Google Shape;1017;p46"/>
              <p:cNvSpPr/>
              <p:nvPr/>
            </p:nvSpPr>
            <p:spPr>
              <a:xfrm>
                <a:off x="4754850" y="887475"/>
                <a:ext cx="3673733" cy="3616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18" name="Google Shape;1018;p46"/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19" name="Google Shape;1019;p46"/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1020" name="Google Shape;1020;p46"/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21" name="Google Shape;1021;p46"/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1022" name="Google Shape;1022;p46"/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3" name="Google Shape;1023;p46"/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024" name="Google Shape;1024;p46"/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026" name="Google Shape;1026;p46"/>
          <p:cNvSpPr/>
          <p:nvPr/>
        </p:nvSpPr>
        <p:spPr>
          <a:xfrm>
            <a:off x="8042509" y="4248281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6"/>
          <p:cNvSpPr/>
          <p:nvPr/>
        </p:nvSpPr>
        <p:spPr>
          <a:xfrm>
            <a:off x="499051" y="346665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594;p33">
            <a:extLst>
              <a:ext uri="{FF2B5EF4-FFF2-40B4-BE49-F238E27FC236}">
                <a16:creationId xmlns:a16="http://schemas.microsoft.com/office/drawing/2014/main" id="{A8CC5E62-5179-9889-DB77-94BC8E781AFA}"/>
              </a:ext>
            </a:extLst>
          </p:cNvPr>
          <p:cNvSpPr/>
          <p:nvPr/>
        </p:nvSpPr>
        <p:spPr>
          <a:xfrm>
            <a:off x="911801" y="4330576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81F3E3-30E0-F075-90F8-EEBF4A56A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745" y="1136732"/>
            <a:ext cx="4738810" cy="2693652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113B6F3-8130-9ECB-6F23-EDB83E92EDC6}"/>
              </a:ext>
            </a:extLst>
          </p:cNvPr>
          <p:cNvSpPr txBox="1"/>
          <p:nvPr/>
        </p:nvSpPr>
        <p:spPr>
          <a:xfrm>
            <a:off x="302588" y="204856"/>
            <a:ext cx="39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"/>
          <p:cNvSpPr txBox="1">
            <a:spLocks noGrp="1"/>
          </p:cNvSpPr>
          <p:nvPr>
            <p:ph type="title"/>
          </p:nvPr>
        </p:nvSpPr>
        <p:spPr>
          <a:xfrm>
            <a:off x="1566153" y="1071516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Scope</a:t>
            </a:r>
          </a:p>
        </p:txBody>
      </p:sp>
      <p:grpSp>
        <p:nvGrpSpPr>
          <p:cNvPr id="577" name="Google Shape;577;p33"/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/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/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1" name="Google Shape;591;p33"/>
          <p:cNvSpPr/>
          <p:nvPr/>
        </p:nvSpPr>
        <p:spPr>
          <a:xfrm rot="13769508">
            <a:off x="7203159" y="1295550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2" name="Google Shape;592;p33"/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/>
          <p:cNvSpPr/>
          <p:nvPr/>
        </p:nvSpPr>
        <p:spPr>
          <a:xfrm>
            <a:off x="7186615" y="424635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/>
          <p:cNvSpPr/>
          <p:nvPr/>
        </p:nvSpPr>
        <p:spPr>
          <a:xfrm>
            <a:off x="6990440" y="4118947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" name="Google Shape;722;p37">
            <a:extLst>
              <a:ext uri="{FF2B5EF4-FFF2-40B4-BE49-F238E27FC236}">
                <a16:creationId xmlns:a16="http://schemas.microsoft.com/office/drawing/2014/main" id="{0F3C053E-3067-7859-817D-3E4A2C8E573E}"/>
              </a:ext>
            </a:extLst>
          </p:cNvPr>
          <p:cNvGrpSpPr/>
          <p:nvPr/>
        </p:nvGrpSpPr>
        <p:grpSpPr>
          <a:xfrm>
            <a:off x="1653204" y="1790317"/>
            <a:ext cx="5474311" cy="1001318"/>
            <a:chOff x="715100" y="1600313"/>
            <a:chExt cx="3771900" cy="1412550"/>
          </a:xfrm>
        </p:grpSpPr>
        <p:sp>
          <p:nvSpPr>
            <p:cNvPr id="5" name="Google Shape;723;p37">
              <a:extLst>
                <a:ext uri="{FF2B5EF4-FFF2-40B4-BE49-F238E27FC236}">
                  <a16:creationId xmlns:a16="http://schemas.microsoft.com/office/drawing/2014/main" id="{DCF2BE89-2D0C-4B9A-385D-E529E66B42A8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24;p37">
              <a:extLst>
                <a:ext uri="{FF2B5EF4-FFF2-40B4-BE49-F238E27FC236}">
                  <a16:creationId xmlns:a16="http://schemas.microsoft.com/office/drawing/2014/main" id="{144FBF85-49C9-649D-8CD7-3643DD1A3DA2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/>
                <a:t>A voice signal affected by high-frequency hiss in public environment.</a:t>
              </a:r>
            </a:p>
          </p:txBody>
        </p:sp>
        <p:cxnSp>
          <p:nvCxnSpPr>
            <p:cNvPr id="7" name="Google Shape;725;p37">
              <a:extLst>
                <a:ext uri="{FF2B5EF4-FFF2-40B4-BE49-F238E27FC236}">
                  <a16:creationId xmlns:a16="http://schemas.microsoft.com/office/drawing/2014/main" id="{3E9C1C8A-B294-D44E-96A7-B6A54B64F7B3}"/>
                </a:ext>
              </a:extLst>
            </p:cNvPr>
            <p:cNvCxnSpPr/>
            <p:nvPr/>
          </p:nvCxnSpPr>
          <p:spPr>
            <a:xfrm>
              <a:off x="715100" y="1783313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DA065028-8305-CAE9-F866-54E9F461A62A}"/>
              </a:ext>
            </a:extLst>
          </p:cNvPr>
          <p:cNvSpPr/>
          <p:nvPr/>
        </p:nvSpPr>
        <p:spPr>
          <a:xfrm>
            <a:off x="1751920" y="3100728"/>
            <a:ext cx="2127353" cy="715712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>
                    <a:lumMod val="50000"/>
                  </a:schemeClr>
                </a:solidFill>
              </a:rPr>
              <a:t>simulated signal</a:t>
            </a:r>
            <a:endParaRPr lang="zh-CN" altLang="en-US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1FF1A4C-082B-7FE2-9128-5ECDAEB5D8EB}"/>
              </a:ext>
            </a:extLst>
          </p:cNvPr>
          <p:cNvSpPr/>
          <p:nvPr/>
        </p:nvSpPr>
        <p:spPr>
          <a:xfrm>
            <a:off x="4682978" y="3052919"/>
            <a:ext cx="2127353" cy="803852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>
                    <a:lumMod val="50000"/>
                  </a:schemeClr>
                </a:solidFill>
              </a:rPr>
              <a:t>Physical signal</a:t>
            </a:r>
            <a:endParaRPr lang="zh-CN" altLang="en-US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595" name="Google Shape;595;p33"/>
          <p:cNvGrpSpPr/>
          <p:nvPr/>
        </p:nvGrpSpPr>
        <p:grpSpPr>
          <a:xfrm>
            <a:off x="6364574" y="3454845"/>
            <a:ext cx="621000" cy="621000"/>
            <a:chOff x="416300" y="4058211"/>
            <a:chExt cx="621000" cy="621000"/>
          </a:xfrm>
        </p:grpSpPr>
        <p:sp>
          <p:nvSpPr>
            <p:cNvPr id="596" name="Google Shape;596;p3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BA0B07E-E177-6EF0-6359-1B374E8100F5}"/>
              </a:ext>
            </a:extLst>
          </p:cNvPr>
          <p:cNvPicPr>
            <a:picLocks/>
          </p:cNvPicPr>
          <p:nvPr/>
        </p:nvPicPr>
        <p:blipFill>
          <a:blip r:embed="rId3"/>
          <a:srcRect l="13649" t="15158" r="13553" b="16282"/>
          <a:stretch>
            <a:fillRect/>
          </a:stretch>
        </p:blipFill>
        <p:spPr>
          <a:xfrm>
            <a:off x="3460159" y="3519419"/>
            <a:ext cx="517202" cy="502800"/>
          </a:xfrm>
          <a:prstGeom prst="round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"/>
          <p:cNvSpPr txBox="1">
            <a:spLocks noGrp="1"/>
          </p:cNvSpPr>
          <p:nvPr>
            <p:ph type="title"/>
          </p:nvPr>
        </p:nvSpPr>
        <p:spPr>
          <a:xfrm>
            <a:off x="389297" y="6980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P</a:t>
            </a:r>
            <a:r>
              <a:rPr lang="en-US" altLang="zh-CN" sz="3600" dirty="0" err="1"/>
              <a:t>roblem</a:t>
            </a:r>
            <a:r>
              <a:rPr lang="en-US" altLang="zh-CN" sz="3600" dirty="0"/>
              <a:t> Statement</a:t>
            </a:r>
            <a:endParaRPr lang="en-GB" sz="3600" dirty="0"/>
          </a:p>
        </p:txBody>
      </p:sp>
      <p:sp>
        <p:nvSpPr>
          <p:cNvPr id="603" name="Google Shape;603;p34"/>
          <p:cNvSpPr/>
          <p:nvPr/>
        </p:nvSpPr>
        <p:spPr>
          <a:xfrm>
            <a:off x="389297" y="1576075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Clean Voice</a:t>
            </a:r>
          </a:p>
        </p:txBody>
      </p:sp>
      <p:sp>
        <p:nvSpPr>
          <p:cNvPr id="604" name="Google Shape;604;p34"/>
          <p:cNvSpPr/>
          <p:nvPr/>
        </p:nvSpPr>
        <p:spPr>
          <a:xfrm>
            <a:off x="389297" y="2783210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Hiss Noise</a:t>
            </a:r>
          </a:p>
        </p:txBody>
      </p:sp>
      <p:sp>
        <p:nvSpPr>
          <p:cNvPr id="605" name="Google Shape;605;p34"/>
          <p:cNvSpPr/>
          <p:nvPr/>
        </p:nvSpPr>
        <p:spPr>
          <a:xfrm>
            <a:off x="2670525" y="2120849"/>
            <a:ext cx="1684353" cy="630971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Noisy Voice</a:t>
            </a:r>
          </a:p>
        </p:txBody>
      </p:sp>
      <p:sp>
        <p:nvSpPr>
          <p:cNvPr id="606" name="Google Shape;606;p34"/>
          <p:cNvSpPr/>
          <p:nvPr/>
        </p:nvSpPr>
        <p:spPr>
          <a:xfrm>
            <a:off x="4515556" y="2109808"/>
            <a:ext cx="1645692" cy="64411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Denoising System</a:t>
            </a:r>
          </a:p>
        </p:txBody>
      </p:sp>
      <p:cxnSp>
        <p:nvCxnSpPr>
          <p:cNvPr id="620" name="Google Shape;620;p34"/>
          <p:cNvCxnSpPr>
            <a:cxnSpLocks/>
            <a:stCxn id="604" idx="3"/>
            <a:endCxn id="605" idx="1"/>
          </p:cNvCxnSpPr>
          <p:nvPr/>
        </p:nvCxnSpPr>
        <p:spPr>
          <a:xfrm flipV="1">
            <a:off x="2127819" y="2436335"/>
            <a:ext cx="542706" cy="5754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34"/>
          <p:cNvCxnSpPr>
            <a:cxnSpLocks/>
            <a:stCxn id="605" idx="3"/>
            <a:endCxn id="606" idx="1"/>
          </p:cNvCxnSpPr>
          <p:nvPr/>
        </p:nvCxnSpPr>
        <p:spPr>
          <a:xfrm flipV="1">
            <a:off x="4354878" y="2431864"/>
            <a:ext cx="160678" cy="447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2" name="Google Shape;622;p34"/>
          <p:cNvCxnSpPr>
            <a:cxnSpLocks/>
          </p:cNvCxnSpPr>
          <p:nvPr/>
        </p:nvCxnSpPr>
        <p:spPr>
          <a:xfrm>
            <a:off x="8103197" y="2378121"/>
            <a:ext cx="56094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624" name="Google Shape;624;p34"/>
          <p:cNvGrpSpPr/>
          <p:nvPr/>
        </p:nvGrpSpPr>
        <p:grpSpPr>
          <a:xfrm>
            <a:off x="716262" y="4020798"/>
            <a:ext cx="682628" cy="313230"/>
            <a:chOff x="7746275" y="1413898"/>
            <a:chExt cx="682628" cy="313230"/>
          </a:xfrm>
        </p:grpSpPr>
        <p:sp>
          <p:nvSpPr>
            <p:cNvPr id="625" name="Google Shape;625;p34"/>
            <p:cNvSpPr/>
            <p:nvPr/>
          </p:nvSpPr>
          <p:spPr>
            <a:xfrm>
              <a:off x="7746275" y="1562537"/>
              <a:ext cx="457208" cy="164590"/>
            </a:xfrm>
            <a:custGeom>
              <a:avLst/>
              <a:gdLst/>
              <a:ahLst/>
              <a:cxnLst/>
              <a:rect l="l" t="t" r="r" b="b"/>
              <a:pathLst>
                <a:path w="7903" h="3025" extrusionOk="0">
                  <a:moveTo>
                    <a:pt x="2025" y="2829"/>
                  </a:moveTo>
                  <a:cubicBezTo>
                    <a:pt x="1829" y="3024"/>
                    <a:pt x="1537" y="2732"/>
                    <a:pt x="1732" y="2537"/>
                  </a:cubicBezTo>
                  <a:lnTo>
                    <a:pt x="2756" y="1537"/>
                  </a:lnTo>
                  <a:lnTo>
                    <a:pt x="1732" y="512"/>
                  </a:lnTo>
                  <a:cubicBezTo>
                    <a:pt x="1537" y="317"/>
                    <a:pt x="1829" y="49"/>
                    <a:pt x="2025" y="220"/>
                  </a:cubicBezTo>
                  <a:lnTo>
                    <a:pt x="3171" y="1390"/>
                  </a:lnTo>
                  <a:cubicBezTo>
                    <a:pt x="3244" y="1463"/>
                    <a:pt x="3244" y="1585"/>
                    <a:pt x="3171" y="1683"/>
                  </a:cubicBezTo>
                  <a:close/>
                  <a:moveTo>
                    <a:pt x="195" y="512"/>
                  </a:moveTo>
                  <a:lnTo>
                    <a:pt x="1195" y="1512"/>
                  </a:lnTo>
                  <a:lnTo>
                    <a:pt x="195" y="2537"/>
                  </a:lnTo>
                  <a:cubicBezTo>
                    <a:pt x="0" y="2732"/>
                    <a:pt x="269" y="3000"/>
                    <a:pt x="464" y="2805"/>
                  </a:cubicBezTo>
                  <a:lnTo>
                    <a:pt x="1610" y="1659"/>
                  </a:lnTo>
                  <a:cubicBezTo>
                    <a:pt x="1708" y="1585"/>
                    <a:pt x="1708" y="1463"/>
                    <a:pt x="1610" y="1366"/>
                  </a:cubicBezTo>
                  <a:lnTo>
                    <a:pt x="464" y="220"/>
                  </a:lnTo>
                  <a:cubicBezTo>
                    <a:pt x="269" y="25"/>
                    <a:pt x="0" y="317"/>
                    <a:pt x="195" y="512"/>
                  </a:cubicBezTo>
                  <a:close/>
                  <a:moveTo>
                    <a:pt x="6659" y="2829"/>
                  </a:moveTo>
                  <a:cubicBezTo>
                    <a:pt x="6464" y="3024"/>
                    <a:pt x="6195" y="2732"/>
                    <a:pt x="6366" y="2537"/>
                  </a:cubicBezTo>
                  <a:lnTo>
                    <a:pt x="7390" y="1537"/>
                  </a:lnTo>
                  <a:lnTo>
                    <a:pt x="6366" y="512"/>
                  </a:lnTo>
                  <a:cubicBezTo>
                    <a:pt x="6195" y="317"/>
                    <a:pt x="6464" y="49"/>
                    <a:pt x="6659" y="220"/>
                  </a:cubicBezTo>
                  <a:lnTo>
                    <a:pt x="7805" y="1390"/>
                  </a:lnTo>
                  <a:cubicBezTo>
                    <a:pt x="7903" y="1463"/>
                    <a:pt x="7903" y="1585"/>
                    <a:pt x="7805" y="1683"/>
                  </a:cubicBezTo>
                  <a:close/>
                  <a:moveTo>
                    <a:pt x="5122" y="2829"/>
                  </a:moveTo>
                  <a:lnTo>
                    <a:pt x="6268" y="1683"/>
                  </a:lnTo>
                  <a:cubicBezTo>
                    <a:pt x="6342" y="1585"/>
                    <a:pt x="6342" y="1463"/>
                    <a:pt x="6268" y="1390"/>
                  </a:cubicBezTo>
                  <a:lnTo>
                    <a:pt x="5122" y="220"/>
                  </a:lnTo>
                  <a:cubicBezTo>
                    <a:pt x="4927" y="73"/>
                    <a:pt x="4659" y="317"/>
                    <a:pt x="4829" y="512"/>
                  </a:cubicBezTo>
                  <a:lnTo>
                    <a:pt x="5854" y="1537"/>
                  </a:lnTo>
                  <a:lnTo>
                    <a:pt x="4829" y="2537"/>
                  </a:lnTo>
                  <a:cubicBezTo>
                    <a:pt x="4634" y="2732"/>
                    <a:pt x="4927" y="3024"/>
                    <a:pt x="5122" y="2829"/>
                  </a:cubicBezTo>
                  <a:close/>
                  <a:moveTo>
                    <a:pt x="3561" y="2829"/>
                  </a:moveTo>
                  <a:lnTo>
                    <a:pt x="4707" y="1683"/>
                  </a:lnTo>
                  <a:cubicBezTo>
                    <a:pt x="4805" y="1585"/>
                    <a:pt x="4805" y="1463"/>
                    <a:pt x="4707" y="1390"/>
                  </a:cubicBezTo>
                  <a:lnTo>
                    <a:pt x="3561" y="220"/>
                  </a:lnTo>
                  <a:cubicBezTo>
                    <a:pt x="3366" y="0"/>
                    <a:pt x="3049" y="317"/>
                    <a:pt x="3268" y="512"/>
                  </a:cubicBezTo>
                  <a:lnTo>
                    <a:pt x="4293" y="1537"/>
                  </a:lnTo>
                  <a:lnTo>
                    <a:pt x="3268" y="2537"/>
                  </a:lnTo>
                  <a:cubicBezTo>
                    <a:pt x="3098" y="2732"/>
                    <a:pt x="3366" y="3024"/>
                    <a:pt x="3561" y="28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7971707" y="1413898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34"/>
          <p:cNvSpPr/>
          <p:nvPr/>
        </p:nvSpPr>
        <p:spPr>
          <a:xfrm>
            <a:off x="715075" y="1044613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9" name="Google Shape;629;p34"/>
          <p:cNvGrpSpPr/>
          <p:nvPr/>
        </p:nvGrpSpPr>
        <p:grpSpPr>
          <a:xfrm>
            <a:off x="7316525" y="891650"/>
            <a:ext cx="1827475" cy="1051350"/>
            <a:chOff x="136938" y="3645137"/>
            <a:chExt cx="1827475" cy="1051350"/>
          </a:xfrm>
        </p:grpSpPr>
        <p:grpSp>
          <p:nvGrpSpPr>
            <p:cNvPr id="630" name="Google Shape;630;p34"/>
            <p:cNvGrpSpPr/>
            <p:nvPr/>
          </p:nvGrpSpPr>
          <p:grpSpPr>
            <a:xfrm>
              <a:off x="136938" y="3645137"/>
              <a:ext cx="1827475" cy="1051350"/>
              <a:chOff x="274188" y="1278048"/>
              <a:chExt cx="1827475" cy="1051350"/>
            </a:xfrm>
          </p:grpSpPr>
          <p:sp>
            <p:nvSpPr>
              <p:cNvPr id="631" name="Google Shape;631;p34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2" name="Google Shape;632;p34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633" name="Google Shape;633;p34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34" name="Google Shape;634;p34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35" name="Google Shape;635;p34"/>
            <p:cNvGrpSpPr/>
            <p:nvPr/>
          </p:nvGrpSpPr>
          <p:grpSpPr>
            <a:xfrm>
              <a:off x="312866" y="4003096"/>
              <a:ext cx="1339306" cy="443405"/>
              <a:chOff x="312866" y="4003096"/>
              <a:chExt cx="1339306" cy="443405"/>
            </a:xfrm>
          </p:grpSpPr>
          <p:sp>
            <p:nvSpPr>
              <p:cNvPr id="636" name="Google Shape;636;p34"/>
              <p:cNvSpPr/>
              <p:nvPr/>
            </p:nvSpPr>
            <p:spPr>
              <a:xfrm>
                <a:off x="877401" y="4018335"/>
                <a:ext cx="770549" cy="67223"/>
              </a:xfrm>
              <a:custGeom>
                <a:avLst/>
                <a:gdLst/>
                <a:ahLst/>
                <a:cxnLst/>
                <a:rect l="l" t="t" r="r" b="b"/>
                <a:pathLst>
                  <a:path w="17343" h="1513" extrusionOk="0">
                    <a:moveTo>
                      <a:pt x="1001" y="0"/>
                    </a:moveTo>
                    <a:cubicBezTo>
                      <a:pt x="1" y="0"/>
                      <a:pt x="1" y="1512"/>
                      <a:pt x="1001" y="1512"/>
                    </a:cubicBezTo>
                    <a:lnTo>
                      <a:pt x="16318" y="1512"/>
                    </a:lnTo>
                    <a:cubicBezTo>
                      <a:pt x="17342" y="1512"/>
                      <a:pt x="17342" y="0"/>
                      <a:pt x="163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4"/>
              <p:cNvSpPr/>
              <p:nvPr/>
            </p:nvSpPr>
            <p:spPr>
              <a:xfrm>
                <a:off x="873136" y="4156728"/>
                <a:ext cx="779036" cy="274489"/>
              </a:xfrm>
              <a:custGeom>
                <a:avLst/>
                <a:gdLst/>
                <a:ahLst/>
                <a:cxnLst/>
                <a:rect l="l" t="t" r="r" b="b"/>
                <a:pathLst>
                  <a:path w="17534" h="6178" extrusionOk="0">
                    <a:moveTo>
                      <a:pt x="9469" y="0"/>
                    </a:moveTo>
                    <a:cubicBezTo>
                      <a:pt x="9292" y="0"/>
                      <a:pt x="9116" y="62"/>
                      <a:pt x="8975" y="178"/>
                    </a:cubicBezTo>
                    <a:lnTo>
                      <a:pt x="4024" y="4470"/>
                    </a:lnTo>
                    <a:lnTo>
                      <a:pt x="1512" y="2885"/>
                    </a:lnTo>
                    <a:cubicBezTo>
                      <a:pt x="1365" y="2788"/>
                      <a:pt x="1219" y="2747"/>
                      <a:pt x="1083" y="2747"/>
                    </a:cubicBezTo>
                    <a:cubicBezTo>
                      <a:pt x="430" y="2747"/>
                      <a:pt x="0" y="3709"/>
                      <a:pt x="707" y="4153"/>
                    </a:cubicBezTo>
                    <a:lnTo>
                      <a:pt x="3682" y="6056"/>
                    </a:lnTo>
                    <a:cubicBezTo>
                      <a:pt x="3804" y="6129"/>
                      <a:pt x="3951" y="6178"/>
                      <a:pt x="4097" y="6178"/>
                    </a:cubicBezTo>
                    <a:cubicBezTo>
                      <a:pt x="4268" y="6178"/>
                      <a:pt x="4438" y="6129"/>
                      <a:pt x="4585" y="6007"/>
                    </a:cubicBezTo>
                    <a:lnTo>
                      <a:pt x="9511" y="1739"/>
                    </a:lnTo>
                    <a:lnTo>
                      <a:pt x="12731" y="4202"/>
                    </a:lnTo>
                    <a:cubicBezTo>
                      <a:pt x="12866" y="4307"/>
                      <a:pt x="13038" y="4357"/>
                      <a:pt x="13207" y="4357"/>
                    </a:cubicBezTo>
                    <a:cubicBezTo>
                      <a:pt x="13313" y="4357"/>
                      <a:pt x="13417" y="4337"/>
                      <a:pt x="13511" y="4300"/>
                    </a:cubicBezTo>
                    <a:lnTo>
                      <a:pt x="16731" y="2812"/>
                    </a:lnTo>
                    <a:cubicBezTo>
                      <a:pt x="17534" y="2432"/>
                      <a:pt x="17165" y="1337"/>
                      <a:pt x="16449" y="1337"/>
                    </a:cubicBezTo>
                    <a:cubicBezTo>
                      <a:pt x="16339" y="1337"/>
                      <a:pt x="16220" y="1363"/>
                      <a:pt x="16097" y="1422"/>
                    </a:cubicBezTo>
                    <a:lnTo>
                      <a:pt x="13292" y="2714"/>
                    </a:lnTo>
                    <a:lnTo>
                      <a:pt x="9926" y="153"/>
                    </a:lnTo>
                    <a:cubicBezTo>
                      <a:pt x="9788" y="50"/>
                      <a:pt x="9628" y="0"/>
                      <a:pt x="94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4"/>
              <p:cNvSpPr/>
              <p:nvPr/>
            </p:nvSpPr>
            <p:spPr>
              <a:xfrm>
                <a:off x="350807" y="4003096"/>
                <a:ext cx="211354" cy="187583"/>
              </a:xfrm>
              <a:custGeom>
                <a:avLst/>
                <a:gdLst/>
                <a:ahLst/>
                <a:cxnLst/>
                <a:rect l="l" t="t" r="r" b="b"/>
                <a:pathLst>
                  <a:path w="4757" h="4222" extrusionOk="0">
                    <a:moveTo>
                      <a:pt x="4648" y="1"/>
                    </a:moveTo>
                    <a:cubicBezTo>
                      <a:pt x="2522" y="1"/>
                      <a:pt x="648" y="1402"/>
                      <a:pt x="1" y="3441"/>
                    </a:cubicBezTo>
                    <a:lnTo>
                      <a:pt x="2391" y="4221"/>
                    </a:lnTo>
                    <a:cubicBezTo>
                      <a:pt x="2708" y="3197"/>
                      <a:pt x="3683" y="2490"/>
                      <a:pt x="4757" y="2490"/>
                    </a:cubicBezTo>
                    <a:lnTo>
                      <a:pt x="4757" y="2"/>
                    </a:lnTo>
                    <a:cubicBezTo>
                      <a:pt x="4720" y="1"/>
                      <a:pt x="4684" y="1"/>
                      <a:pt x="46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4"/>
              <p:cNvSpPr/>
              <p:nvPr/>
            </p:nvSpPr>
            <p:spPr>
              <a:xfrm>
                <a:off x="312866" y="4155928"/>
                <a:ext cx="460606" cy="290572"/>
              </a:xfrm>
              <a:custGeom>
                <a:avLst/>
                <a:gdLst/>
                <a:ahLst/>
                <a:cxnLst/>
                <a:rect l="l" t="t" r="r" b="b"/>
                <a:pathLst>
                  <a:path w="10367" h="6540" extrusionOk="0">
                    <a:moveTo>
                      <a:pt x="855" y="1"/>
                    </a:moveTo>
                    <a:lnTo>
                      <a:pt x="855" y="1"/>
                    </a:lnTo>
                    <a:cubicBezTo>
                      <a:pt x="1" y="2635"/>
                      <a:pt x="1440" y="5440"/>
                      <a:pt x="4074" y="6293"/>
                    </a:cubicBezTo>
                    <a:cubicBezTo>
                      <a:pt x="4584" y="6460"/>
                      <a:pt x="5103" y="6539"/>
                      <a:pt x="5614" y="6539"/>
                    </a:cubicBezTo>
                    <a:cubicBezTo>
                      <a:pt x="7715" y="6539"/>
                      <a:pt x="9680" y="5198"/>
                      <a:pt x="10367" y="3098"/>
                    </a:cubicBezTo>
                    <a:lnTo>
                      <a:pt x="7976" y="2318"/>
                    </a:lnTo>
                    <a:cubicBezTo>
                      <a:pt x="7642" y="3380"/>
                      <a:pt x="6657" y="4046"/>
                      <a:pt x="5597" y="4046"/>
                    </a:cubicBezTo>
                    <a:cubicBezTo>
                      <a:pt x="5343" y="4046"/>
                      <a:pt x="5085" y="4008"/>
                      <a:pt x="4830" y="3927"/>
                    </a:cubicBezTo>
                    <a:cubicBezTo>
                      <a:pt x="3513" y="3488"/>
                      <a:pt x="2806" y="2098"/>
                      <a:pt x="3245" y="781"/>
                    </a:cubicBezTo>
                    <a:lnTo>
                      <a:pt x="85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4"/>
              <p:cNvSpPr/>
              <p:nvPr/>
            </p:nvSpPr>
            <p:spPr>
              <a:xfrm>
                <a:off x="562102" y="4003140"/>
                <a:ext cx="222194" cy="290483"/>
              </a:xfrm>
              <a:custGeom>
                <a:avLst/>
                <a:gdLst/>
                <a:ahLst/>
                <a:cxnLst/>
                <a:rect l="l" t="t" r="r" b="b"/>
                <a:pathLst>
                  <a:path w="5001" h="6538" extrusionOk="0">
                    <a:moveTo>
                      <a:pt x="45" y="1"/>
                    </a:moveTo>
                    <a:cubicBezTo>
                      <a:pt x="30" y="1"/>
                      <a:pt x="15" y="1"/>
                      <a:pt x="1" y="1"/>
                    </a:cubicBezTo>
                    <a:lnTo>
                      <a:pt x="1" y="2489"/>
                    </a:lnTo>
                    <a:cubicBezTo>
                      <a:pt x="1683" y="2489"/>
                      <a:pt x="2903" y="4147"/>
                      <a:pt x="2366" y="5757"/>
                    </a:cubicBezTo>
                    <a:lnTo>
                      <a:pt x="4757" y="6537"/>
                    </a:lnTo>
                    <a:cubicBezTo>
                      <a:pt x="4927" y="6025"/>
                      <a:pt x="5000" y="5513"/>
                      <a:pt x="5000" y="5001"/>
                    </a:cubicBezTo>
                    <a:cubicBezTo>
                      <a:pt x="5000" y="2235"/>
                      <a:pt x="2781" y="1"/>
                      <a:pt x="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" name="Google Shape;606;p34">
            <a:extLst>
              <a:ext uri="{FF2B5EF4-FFF2-40B4-BE49-F238E27FC236}">
                <a16:creationId xmlns:a16="http://schemas.microsoft.com/office/drawing/2014/main" id="{D92B4C28-4F51-C1AE-C390-F331E043D0B7}"/>
              </a:ext>
            </a:extLst>
          </p:cNvPr>
          <p:cNvSpPr/>
          <p:nvPr/>
        </p:nvSpPr>
        <p:spPr>
          <a:xfrm>
            <a:off x="6443718" y="2107708"/>
            <a:ext cx="1645692" cy="64411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Enhanced Voice</a:t>
            </a:r>
          </a:p>
        </p:txBody>
      </p:sp>
      <p:sp>
        <p:nvSpPr>
          <p:cNvPr id="627" name="Google Shape;627;p34"/>
          <p:cNvSpPr/>
          <p:nvPr/>
        </p:nvSpPr>
        <p:spPr>
          <a:xfrm rot="-2700000">
            <a:off x="7920339" y="2570352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621;p34">
            <a:extLst>
              <a:ext uri="{FF2B5EF4-FFF2-40B4-BE49-F238E27FC236}">
                <a16:creationId xmlns:a16="http://schemas.microsoft.com/office/drawing/2014/main" id="{46BC05C9-49D1-C75D-B180-05C1942D338C}"/>
              </a:ext>
            </a:extLst>
          </p:cNvPr>
          <p:cNvCxnSpPr>
            <a:cxnSpLocks/>
            <a:stCxn id="606" idx="3"/>
          </p:cNvCxnSpPr>
          <p:nvPr/>
        </p:nvCxnSpPr>
        <p:spPr>
          <a:xfrm>
            <a:off x="6161248" y="2431864"/>
            <a:ext cx="28247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Google Shape;620;p34">
            <a:extLst>
              <a:ext uri="{FF2B5EF4-FFF2-40B4-BE49-F238E27FC236}">
                <a16:creationId xmlns:a16="http://schemas.microsoft.com/office/drawing/2014/main" id="{FB6D1BAD-E25D-14D1-0157-C6AC4D9A9800}"/>
              </a:ext>
            </a:extLst>
          </p:cNvPr>
          <p:cNvCxnSpPr>
            <a:cxnSpLocks/>
            <a:endCxn id="605" idx="1"/>
          </p:cNvCxnSpPr>
          <p:nvPr/>
        </p:nvCxnSpPr>
        <p:spPr>
          <a:xfrm>
            <a:off x="2141606" y="1743302"/>
            <a:ext cx="528919" cy="69303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加号 43">
            <a:extLst>
              <a:ext uri="{FF2B5EF4-FFF2-40B4-BE49-F238E27FC236}">
                <a16:creationId xmlns:a16="http://schemas.microsoft.com/office/drawing/2014/main" id="{71743F50-CBF2-3DE3-C48E-FB8E7FA286D6}"/>
              </a:ext>
            </a:extLst>
          </p:cNvPr>
          <p:cNvSpPr/>
          <p:nvPr/>
        </p:nvSpPr>
        <p:spPr>
          <a:xfrm>
            <a:off x="1038578" y="2149333"/>
            <a:ext cx="582242" cy="602487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Google Shape;604;p34">
            <a:extLst>
              <a:ext uri="{FF2B5EF4-FFF2-40B4-BE49-F238E27FC236}">
                <a16:creationId xmlns:a16="http://schemas.microsoft.com/office/drawing/2014/main" id="{8BF01E41-8C26-56DB-6551-C664FC431511}"/>
              </a:ext>
            </a:extLst>
          </p:cNvPr>
          <p:cNvSpPr/>
          <p:nvPr/>
        </p:nvSpPr>
        <p:spPr>
          <a:xfrm>
            <a:off x="1544281" y="3613059"/>
            <a:ext cx="6731069" cy="87262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Goal: remove the noise from background and preserve the voice from user.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0411D6-E6C0-6F92-E6AB-404E514A611F}"/>
              </a:ext>
            </a:extLst>
          </p:cNvPr>
          <p:cNvSpPr txBox="1"/>
          <p:nvPr/>
        </p:nvSpPr>
        <p:spPr>
          <a:xfrm>
            <a:off x="302588" y="204856"/>
            <a:ext cx="39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8E4C72F9-0977-316B-413E-B4BC826D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EA28C2DE-D1E6-BB18-E247-47A930376FF8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A4AF532D-0D4F-34CE-C727-947BAD3689A5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374C01F4-745A-C2E1-8615-47E9AE1699E0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A6602CBC-CA57-383A-814F-2F3129DDFA88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0281B21F-D453-3C87-07CE-6EAF418A36CF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E33D2A6B-FFAA-61D5-746B-243D73C67884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BBD1F63B-FFA7-76BD-BAE1-4070D676D23B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90FEF9A8-CB0D-A169-0427-303F5E1C7401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1FF4B413-2549-DC99-06BE-E3ED9DB08386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D79A6A1F-9A8A-7DB9-EF75-FB56B7F62883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B46F032E-6E67-07F5-05BA-8A37EC0395D6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44D515F0-E45E-4A7F-7484-2CCD3100197A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F3756D6A-6028-75C7-CC11-C0CEFFFE6DBC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6FE8B9D2-19F9-C162-8B3A-D4014FA7FAD7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89A51DE2-5EB6-2B41-6B3C-6BC26AB96F98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562C2811-127F-DCFE-7D48-E6446D2EC955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978951E7-AD58-AE56-3F3C-30EA1D67780B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66440C33-A522-8E4D-AB55-E0CE78FD7831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2090A8F7-5BD3-3903-33B4-C8A30EEA3900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BC504DCD-227C-800F-DFD6-517C6AAFF089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69282F1E-C3C9-9B50-D5ED-7DE82F929AE9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2A911CF5-C301-4557-6D3E-D6EB7F1EDCC9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344D9290-D433-633D-B170-65D69DA49B10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06C4ECE3-31CB-B65D-81D0-89EDD4B0FAB2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CB3AC1AA-78CC-2E12-38E5-AC14CFFE7402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054D5857-682B-B2DA-BB7C-6FA1FE187C68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0A77E448-7E44-686C-D877-5A4937B69490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B6234A2A-156E-D48F-3816-09A9A104B96D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FA1991DE-BB9D-C3AB-7348-CE3606A6CFFF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8CA10D4A-576F-A727-888E-3DD158EE68AD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E77690B4-75C6-64DA-34AE-6B7891C3AF6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93118" y="679350"/>
            <a:ext cx="1657832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F181DAC5-205F-8DCC-BEC4-5B380B0C5D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8981" y="1978139"/>
            <a:ext cx="5644618" cy="1009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CN" sz="3600" dirty="0"/>
              <a:t>Signal Model &amp; Baseline Filter</a:t>
            </a:r>
            <a:endParaRPr lang="en-GB" sz="3600" dirty="0"/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3EE6A072-1751-A2D0-F677-23CD2067BACE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6D39538B-7766-ACB5-91EA-FEC89852560B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26A66DB1-3B6D-9955-B5BE-500A727064AC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A208A9C2-0BC1-5359-94A2-01ADD6429DAE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DD9DD4BF-9EAA-98A9-C389-CF3B516D13B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08610" y="3954905"/>
            <a:ext cx="532536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Fundamentals of Speech Denoising</a:t>
            </a:r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876C56CE-AFF7-4B3C-F77E-4E271216615B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A5443584-8EC8-06F9-EC33-5CA9E9AB3164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510A0DA7-82A8-0745-5EF8-E00851B02B02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F476191A-569E-2EB6-31DC-5C097068F65F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E891673B-C229-074E-8A9D-00D5907F5EBC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EF4E7C3E-A793-60A3-314D-97CBC1A79D15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5A11C3B6-4399-0B45-9331-8C65E336FA73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77E94B8A-A84D-2120-07EB-B1FFD7E53F8D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45DBA7BA-A2D9-9E46-90DF-A0D1430A1D12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37185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0"/>
          <p:cNvSpPr txBox="1">
            <a:spLocks noGrp="1"/>
          </p:cNvSpPr>
          <p:nvPr>
            <p:ph type="subTitle" idx="2"/>
          </p:nvPr>
        </p:nvSpPr>
        <p:spPr>
          <a:xfrm>
            <a:off x="5212083" y="2068950"/>
            <a:ext cx="403709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—</a:t>
            </a:r>
          </a:p>
        </p:txBody>
      </p:sp>
      <p:sp>
        <p:nvSpPr>
          <p:cNvPr id="836" name="Google Shape;836;p40"/>
          <p:cNvSpPr txBox="1">
            <a:spLocks noGrp="1"/>
          </p:cNvSpPr>
          <p:nvPr>
            <p:ph type="subTitle" idx="5"/>
          </p:nvPr>
        </p:nvSpPr>
        <p:spPr>
          <a:xfrm>
            <a:off x="5596427" y="1975642"/>
            <a:ext cx="3416397" cy="6856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The clean and hiss </a:t>
            </a:r>
            <a:r>
              <a:rPr lang="en-US" sz="2000" dirty="0" err="1"/>
              <a:t>voise</a:t>
            </a:r>
            <a:r>
              <a:rPr lang="en-US" sz="2000" dirty="0"/>
              <a:t> are both signals.</a:t>
            </a:r>
          </a:p>
        </p:txBody>
      </p:sp>
      <p:sp>
        <p:nvSpPr>
          <p:cNvPr id="837" name="Google Shape;837;p40"/>
          <p:cNvSpPr txBox="1">
            <a:spLocks noGrp="1"/>
          </p:cNvSpPr>
          <p:nvPr>
            <p:ph type="title"/>
          </p:nvPr>
        </p:nvSpPr>
        <p:spPr>
          <a:xfrm>
            <a:off x="1758475" y="613374"/>
            <a:ext cx="562705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Signal Model</a:t>
            </a:r>
          </a:p>
        </p:txBody>
      </p:sp>
      <p:grpSp>
        <p:nvGrpSpPr>
          <p:cNvPr id="842" name="Google Shape;842;p40"/>
          <p:cNvGrpSpPr/>
          <p:nvPr/>
        </p:nvGrpSpPr>
        <p:grpSpPr>
          <a:xfrm>
            <a:off x="4751324" y="3395327"/>
            <a:ext cx="502800" cy="502800"/>
            <a:chOff x="1627550" y="2017350"/>
            <a:chExt cx="502800" cy="502800"/>
          </a:xfrm>
        </p:grpSpPr>
        <p:sp>
          <p:nvSpPr>
            <p:cNvPr id="843" name="Google Shape;843;p40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0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5" name="Google Shape;845;p40"/>
          <p:cNvGrpSpPr/>
          <p:nvPr/>
        </p:nvGrpSpPr>
        <p:grpSpPr>
          <a:xfrm>
            <a:off x="4734780" y="2753776"/>
            <a:ext cx="502800" cy="502899"/>
            <a:chOff x="463701" y="2307675"/>
            <a:chExt cx="502800" cy="502800"/>
          </a:xfrm>
        </p:grpSpPr>
        <p:sp>
          <p:nvSpPr>
            <p:cNvPr id="846" name="Google Shape;846;p40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0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0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3" name="Google Shape;863;p40"/>
          <p:cNvSpPr/>
          <p:nvPr/>
        </p:nvSpPr>
        <p:spPr>
          <a:xfrm>
            <a:off x="389879" y="791684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5" name="Google Shape;865;p40"/>
          <p:cNvGrpSpPr/>
          <p:nvPr/>
        </p:nvGrpSpPr>
        <p:grpSpPr>
          <a:xfrm>
            <a:off x="83126" y="1299174"/>
            <a:ext cx="4195553" cy="3164418"/>
            <a:chOff x="274187" y="1278048"/>
            <a:chExt cx="1838192" cy="1012963"/>
          </a:xfrm>
        </p:grpSpPr>
        <p:sp>
          <p:nvSpPr>
            <p:cNvPr id="866" name="Google Shape;866;p40"/>
            <p:cNvSpPr/>
            <p:nvPr/>
          </p:nvSpPr>
          <p:spPr>
            <a:xfrm>
              <a:off x="375079" y="1331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7" name="Google Shape;867;p40"/>
            <p:cNvGrpSpPr/>
            <p:nvPr/>
          </p:nvGrpSpPr>
          <p:grpSpPr>
            <a:xfrm>
              <a:off x="274187" y="1278048"/>
              <a:ext cx="1737300" cy="960000"/>
              <a:chOff x="7146474" y="2190661"/>
              <a:chExt cx="1737300" cy="960000"/>
            </a:xfrm>
          </p:grpSpPr>
          <p:sp>
            <p:nvSpPr>
              <p:cNvPr id="868" name="Google Shape;868;p40"/>
              <p:cNvSpPr/>
              <p:nvPr/>
            </p:nvSpPr>
            <p:spPr>
              <a:xfrm>
                <a:off x="7146474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cxnSp>
            <p:nvCxnSpPr>
              <p:cNvPr id="869" name="Google Shape;869;p40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" name="Google Shape;839;p40">
            <a:extLst>
              <a:ext uri="{FF2B5EF4-FFF2-40B4-BE49-F238E27FC236}">
                <a16:creationId xmlns:a16="http://schemas.microsoft.com/office/drawing/2014/main" id="{B5CD500C-0AFD-E35E-02A0-67F658106044}"/>
              </a:ext>
            </a:extLst>
          </p:cNvPr>
          <p:cNvGrpSpPr/>
          <p:nvPr/>
        </p:nvGrpSpPr>
        <p:grpSpPr>
          <a:xfrm>
            <a:off x="4751324" y="2076357"/>
            <a:ext cx="502899" cy="502899"/>
            <a:chOff x="858699" y="1967475"/>
            <a:chExt cx="605100" cy="605100"/>
          </a:xfrm>
        </p:grpSpPr>
        <p:sp>
          <p:nvSpPr>
            <p:cNvPr id="7" name="Google Shape;840;p40">
              <a:extLst>
                <a:ext uri="{FF2B5EF4-FFF2-40B4-BE49-F238E27FC236}">
                  <a16:creationId xmlns:a16="http://schemas.microsoft.com/office/drawing/2014/main" id="{A9015FBA-7BFE-DBDF-C3B0-DE59F1E4AE79}"/>
                </a:ext>
              </a:extLst>
            </p:cNvPr>
            <p:cNvSpPr/>
            <p:nvPr/>
          </p:nvSpPr>
          <p:spPr>
            <a:xfrm>
              <a:off x="858699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41;p40">
              <a:extLst>
                <a:ext uri="{FF2B5EF4-FFF2-40B4-BE49-F238E27FC236}">
                  <a16:creationId xmlns:a16="http://schemas.microsoft.com/office/drawing/2014/main" id="{0AC037B6-99F1-733A-4E7D-ACC42C55447C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D202920-E678-6AD7-8E27-DAD6C34F9C3B}"/>
                  </a:ext>
                </a:extLst>
              </p:cNvPr>
              <p:cNvSpPr/>
              <p:nvPr/>
            </p:nvSpPr>
            <p:spPr>
              <a:xfrm>
                <a:off x="4307439" y="1314932"/>
                <a:ext cx="4393501" cy="625318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𝒏𝒐𝒊𝒔𝒆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𝐜𝐥𝐞𝐚𝐧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  <m:r>
                        <a:rPr lang="en-US" altLang="zh-CN" sz="2400" b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e>
                        <m:sub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𝐡𝐢𝐬𝐬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</m:oMath>
                  </m:oMathPara>
                </a14:m>
                <a:endParaRPr lang="pt-BR" altLang="zh-CN" sz="2000" b="1" dirty="0">
                  <a:solidFill>
                    <a:schemeClr val="tx2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D202920-E678-6AD7-8E27-DAD6C34F9C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439" y="1314932"/>
                <a:ext cx="4393501" cy="625318"/>
              </a:xfrm>
              <a:prstGeom prst="rect">
                <a:avLst/>
              </a:prstGeom>
              <a:blipFill>
                <a:blip r:embed="rId3"/>
                <a:stretch>
                  <a:fillRect l="-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833;p40">
            <a:extLst>
              <a:ext uri="{FF2B5EF4-FFF2-40B4-BE49-F238E27FC236}">
                <a16:creationId xmlns:a16="http://schemas.microsoft.com/office/drawing/2014/main" id="{979C6C11-0C98-783F-1431-22D34AC0AA70}"/>
              </a:ext>
            </a:extLst>
          </p:cNvPr>
          <p:cNvSpPr txBox="1">
            <a:spLocks/>
          </p:cNvSpPr>
          <p:nvPr/>
        </p:nvSpPr>
        <p:spPr>
          <a:xfrm>
            <a:off x="5192718" y="2753875"/>
            <a:ext cx="403709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/>
              <a:t>—</a:t>
            </a:r>
            <a:endParaRPr lang="en-GB" dirty="0"/>
          </a:p>
        </p:txBody>
      </p:sp>
      <p:sp>
        <p:nvSpPr>
          <p:cNvPr id="15" name="Google Shape;833;p40">
            <a:extLst>
              <a:ext uri="{FF2B5EF4-FFF2-40B4-BE49-F238E27FC236}">
                <a16:creationId xmlns:a16="http://schemas.microsoft.com/office/drawing/2014/main" id="{0C0BB920-FE0B-B599-2AE5-2539633A808B}"/>
              </a:ext>
            </a:extLst>
          </p:cNvPr>
          <p:cNvSpPr txBox="1">
            <a:spLocks/>
          </p:cNvSpPr>
          <p:nvPr/>
        </p:nvSpPr>
        <p:spPr>
          <a:xfrm>
            <a:off x="5208578" y="3359385"/>
            <a:ext cx="403709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GB" dirty="0"/>
              <a:t>—</a:t>
            </a:r>
          </a:p>
        </p:txBody>
      </p:sp>
      <p:sp>
        <p:nvSpPr>
          <p:cNvPr id="16" name="Google Shape;836;p40">
            <a:extLst>
              <a:ext uri="{FF2B5EF4-FFF2-40B4-BE49-F238E27FC236}">
                <a16:creationId xmlns:a16="http://schemas.microsoft.com/office/drawing/2014/main" id="{788A9BE7-9E53-1999-B241-09EFC159E584}"/>
              </a:ext>
            </a:extLst>
          </p:cNvPr>
          <p:cNvSpPr txBox="1">
            <a:spLocks/>
          </p:cNvSpPr>
          <p:nvPr/>
        </p:nvSpPr>
        <p:spPr>
          <a:xfrm>
            <a:off x="5449169" y="2652802"/>
            <a:ext cx="2738011" cy="68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r>
              <a:rPr lang="en-US" altLang="zh-CN" sz="2000" dirty="0"/>
              <a:t>T</a:t>
            </a:r>
            <a:r>
              <a:rPr lang="zh-CN" altLang="zh-CN" sz="2000" dirty="0"/>
              <a:t>he noisy voice is a </a:t>
            </a:r>
            <a:endParaRPr lang="en-US" altLang="zh-CN" sz="2000" dirty="0"/>
          </a:p>
          <a:p>
            <a:r>
              <a:rPr lang="zh-CN" altLang="zh-CN" sz="2000" dirty="0"/>
              <a:t>superposition</a:t>
            </a:r>
            <a:r>
              <a:rPr lang="en-US" altLang="zh-CN" sz="2000" dirty="0"/>
              <a:t>.</a:t>
            </a:r>
            <a:endParaRPr lang="zh-CN" altLang="zh-CN" sz="2400" dirty="0">
              <a:effectLst/>
            </a:endParaRPr>
          </a:p>
        </p:txBody>
      </p:sp>
      <p:sp>
        <p:nvSpPr>
          <p:cNvPr id="17" name="Google Shape;836;p40">
            <a:extLst>
              <a:ext uri="{FF2B5EF4-FFF2-40B4-BE49-F238E27FC236}">
                <a16:creationId xmlns:a16="http://schemas.microsoft.com/office/drawing/2014/main" id="{8D3D7A01-1B56-3A28-1995-C2312DA24B0E}"/>
              </a:ext>
            </a:extLst>
          </p:cNvPr>
          <p:cNvSpPr txBox="1">
            <a:spLocks/>
          </p:cNvSpPr>
          <p:nvPr/>
        </p:nvSpPr>
        <p:spPr>
          <a:xfrm>
            <a:off x="5449169" y="3272104"/>
            <a:ext cx="2841706" cy="68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r>
              <a:rPr lang="en-US" altLang="zh-CN" sz="2000" dirty="0"/>
              <a:t>T</a:t>
            </a:r>
            <a:r>
              <a:rPr lang="zh-CN" altLang="zh-CN" sz="2000" dirty="0"/>
              <a:t>he filter is an </a:t>
            </a:r>
            <a:endParaRPr lang="en-US" altLang="zh-CN" sz="2000" dirty="0"/>
          </a:p>
          <a:p>
            <a:r>
              <a:rPr lang="zh-CN" altLang="zh-CN" sz="2000" dirty="0"/>
              <a:t>input-output system</a:t>
            </a:r>
            <a:r>
              <a:rPr lang="en-US" altLang="zh-CN" sz="2000" dirty="0"/>
              <a:t>.</a:t>
            </a:r>
            <a:endParaRPr lang="zh-CN" altLang="zh-CN" sz="2400" dirty="0">
              <a:effectLst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A23C32-A0FE-153B-EC44-6BCE1175763C}"/>
              </a:ext>
            </a:extLst>
          </p:cNvPr>
          <p:cNvSpPr/>
          <p:nvPr/>
        </p:nvSpPr>
        <p:spPr>
          <a:xfrm>
            <a:off x="4499876" y="4036779"/>
            <a:ext cx="3852272" cy="544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Frequency response illustrates what the system keeps or suppresses.</a:t>
            </a:r>
          </a:p>
        </p:txBody>
      </p:sp>
      <p:sp>
        <p:nvSpPr>
          <p:cNvPr id="19" name="箭头: 上 18">
            <a:extLst>
              <a:ext uri="{FF2B5EF4-FFF2-40B4-BE49-F238E27FC236}">
                <a16:creationId xmlns:a16="http://schemas.microsoft.com/office/drawing/2014/main" id="{15784BD7-D3F2-5191-0790-D8C0BD6D6A01}"/>
              </a:ext>
            </a:extLst>
          </p:cNvPr>
          <p:cNvSpPr/>
          <p:nvPr/>
        </p:nvSpPr>
        <p:spPr>
          <a:xfrm rot="18961828">
            <a:off x="8092092" y="4390724"/>
            <a:ext cx="397565" cy="401578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0B0CE3-7617-1592-0F27-143F6C54E9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55" t="12326" r="4189"/>
          <a:stretch>
            <a:fillRect/>
          </a:stretch>
        </p:blipFill>
        <p:spPr>
          <a:xfrm>
            <a:off x="93401" y="1303348"/>
            <a:ext cx="3936515" cy="294301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13D9BB8-90D0-C1E7-779C-390836F1ABD0}"/>
              </a:ext>
            </a:extLst>
          </p:cNvPr>
          <p:cNvSpPr txBox="1"/>
          <p:nvPr/>
        </p:nvSpPr>
        <p:spPr>
          <a:xfrm>
            <a:off x="302588" y="204856"/>
            <a:ext cx="39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>
          <a:extLst>
            <a:ext uri="{FF2B5EF4-FFF2-40B4-BE49-F238E27FC236}">
              <a16:creationId xmlns:a16="http://schemas.microsoft.com/office/drawing/2014/main" id="{D6A8CB0C-5422-ED10-3B8A-E4514103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>
            <a:extLst>
              <a:ext uri="{FF2B5EF4-FFF2-40B4-BE49-F238E27FC236}">
                <a16:creationId xmlns:a16="http://schemas.microsoft.com/office/drawing/2014/main" id="{B82B2873-5BCC-2C3E-CEAC-47828815C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0087" y="731400"/>
            <a:ext cx="6221696" cy="783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Frequency-Domain Observation</a:t>
            </a:r>
          </a:p>
        </p:txBody>
      </p:sp>
      <p:sp>
        <p:nvSpPr>
          <p:cNvPr id="5" name="Google Shape;603;p34">
            <a:extLst>
              <a:ext uri="{FF2B5EF4-FFF2-40B4-BE49-F238E27FC236}">
                <a16:creationId xmlns:a16="http://schemas.microsoft.com/office/drawing/2014/main" id="{2CF4FF55-F8CF-70A3-9632-BD46F12A3789}"/>
              </a:ext>
            </a:extLst>
          </p:cNvPr>
          <p:cNvSpPr/>
          <p:nvPr/>
        </p:nvSpPr>
        <p:spPr>
          <a:xfrm>
            <a:off x="403152" y="2223943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Clean Voice</a:t>
            </a:r>
          </a:p>
        </p:txBody>
      </p:sp>
      <p:sp>
        <p:nvSpPr>
          <p:cNvPr id="6" name="Google Shape;604;p34">
            <a:extLst>
              <a:ext uri="{FF2B5EF4-FFF2-40B4-BE49-F238E27FC236}">
                <a16:creationId xmlns:a16="http://schemas.microsoft.com/office/drawing/2014/main" id="{4A216C61-FAD2-37CD-A030-1218F5E378D7}"/>
              </a:ext>
            </a:extLst>
          </p:cNvPr>
          <p:cNvSpPr/>
          <p:nvPr/>
        </p:nvSpPr>
        <p:spPr>
          <a:xfrm>
            <a:off x="403152" y="3614482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Hiss Noise</a:t>
            </a:r>
          </a:p>
        </p:txBody>
      </p:sp>
      <p:sp>
        <p:nvSpPr>
          <p:cNvPr id="7" name="Google Shape;604;p34">
            <a:extLst>
              <a:ext uri="{FF2B5EF4-FFF2-40B4-BE49-F238E27FC236}">
                <a16:creationId xmlns:a16="http://schemas.microsoft.com/office/drawing/2014/main" id="{3C09D3F2-1D6C-27A1-8F3A-E09651E4237D}"/>
              </a:ext>
            </a:extLst>
          </p:cNvPr>
          <p:cNvSpPr/>
          <p:nvPr/>
        </p:nvSpPr>
        <p:spPr>
          <a:xfrm>
            <a:off x="2573918" y="2116714"/>
            <a:ext cx="1738523" cy="671657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Low Frequency</a:t>
            </a:r>
          </a:p>
        </p:txBody>
      </p:sp>
      <p:sp>
        <p:nvSpPr>
          <p:cNvPr id="8" name="Google Shape;604;p34">
            <a:extLst>
              <a:ext uri="{FF2B5EF4-FFF2-40B4-BE49-F238E27FC236}">
                <a16:creationId xmlns:a16="http://schemas.microsoft.com/office/drawing/2014/main" id="{568206D4-CB42-87E4-B8CC-6A8632E0C640}"/>
              </a:ext>
            </a:extLst>
          </p:cNvPr>
          <p:cNvSpPr/>
          <p:nvPr/>
        </p:nvSpPr>
        <p:spPr>
          <a:xfrm>
            <a:off x="2573918" y="3507253"/>
            <a:ext cx="1738523" cy="671657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High Frequency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43B9745-86D1-7AE8-7A63-8D23E1A5490D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141674" y="2452543"/>
            <a:ext cx="43224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7437240-CD0F-8EAC-8F63-FC31C4AD5984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141674" y="3843082"/>
            <a:ext cx="43224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14" name="Google Shape;1014;p46">
            <a:extLst>
              <a:ext uri="{FF2B5EF4-FFF2-40B4-BE49-F238E27FC236}">
                <a16:creationId xmlns:a16="http://schemas.microsoft.com/office/drawing/2014/main" id="{4E68773D-EFCA-F93C-A177-9C487B53F4B4}"/>
              </a:ext>
            </a:extLst>
          </p:cNvPr>
          <p:cNvGrpSpPr/>
          <p:nvPr/>
        </p:nvGrpSpPr>
        <p:grpSpPr>
          <a:xfrm>
            <a:off x="4427031" y="1677803"/>
            <a:ext cx="4389077" cy="2677142"/>
            <a:chOff x="4754850" y="887475"/>
            <a:chExt cx="3763400" cy="3725700"/>
          </a:xfrm>
        </p:grpSpPr>
        <p:sp>
          <p:nvSpPr>
            <p:cNvPr id="1015" name="Google Shape;1015;p46">
              <a:extLst>
                <a:ext uri="{FF2B5EF4-FFF2-40B4-BE49-F238E27FC236}">
                  <a16:creationId xmlns:a16="http://schemas.microsoft.com/office/drawing/2014/main" id="{B4C3E772-736C-106F-85BB-51F23B0D8829}"/>
                </a:ext>
              </a:extLst>
            </p:cNvPr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6" name="Google Shape;1016;p46">
              <a:extLst>
                <a:ext uri="{FF2B5EF4-FFF2-40B4-BE49-F238E27FC236}">
                  <a16:creationId xmlns:a16="http://schemas.microsoft.com/office/drawing/2014/main" id="{5E159CAD-C124-A460-526B-1C14030EF665}"/>
                </a:ext>
              </a:extLst>
            </p:cNvPr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7" name="Google Shape;1017;p46">
                    <a:extLst>
                      <a:ext uri="{FF2B5EF4-FFF2-40B4-BE49-F238E27FC236}">
                        <a16:creationId xmlns:a16="http://schemas.microsoft.com/office/drawing/2014/main" id="{7BFEE7C9-AA06-AD90-A30A-0C50EE9CE478}"/>
                      </a:ext>
                    </a:extLst>
                  </p:cNvPr>
                  <p:cNvSpPr/>
                  <p:nvPr/>
                </p:nvSpPr>
                <p:spPr>
                  <a:xfrm>
                    <a:off x="4754850" y="887475"/>
                    <a:ext cx="3673733" cy="361620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altLang="zh-CN" sz="2400" b="1" dirty="0">
                        <a:latin typeface="Cambria Math" panose="02040503050406030204" pitchFamily="18" charset="0"/>
                      </a:rPr>
                      <a:t>Discrete Fourier Transform</a:t>
                    </a:r>
                    <a:endParaRPr lang="en-US" altLang="zh-CN" sz="2400" b="1" i="1" dirty="0">
                      <a:latin typeface="Cambria Math" panose="02040503050406030204" pitchFamily="18" charset="0"/>
                    </a:endParaRPr>
                  </a:p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altLang="zh-CN" sz="2400" i="1" dirty="0">
                      <a:latin typeface="Cambria Math" panose="02040503050406030204" pitchFamily="18" charset="0"/>
                    </a:endParaRPr>
                  </a:p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f>
                                    <m:fPr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𝑘𝑛</m:t>
                                  </m:r>
                                </m:sup>
                              </m:sSup>
                            </m:e>
                          </m:nary>
                        </m:oMath>
                      </m:oMathPara>
                    </a14:m>
                    <a:endParaRPr sz="2400" dirty="0"/>
                  </a:p>
                </p:txBody>
              </p:sp>
            </mc:Choice>
            <mc:Fallback xmlns="">
              <p:sp>
                <p:nvSpPr>
                  <p:cNvPr id="1017" name="Google Shape;1017;p46">
                    <a:extLst>
                      <a:ext uri="{FF2B5EF4-FFF2-40B4-BE49-F238E27FC236}">
                        <a16:creationId xmlns:a16="http://schemas.microsoft.com/office/drawing/2014/main" id="{7BFEE7C9-AA06-AD90-A30A-0C50EE9CE47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4850" y="887475"/>
                    <a:ext cx="3673733" cy="3616200"/>
                  </a:xfrm>
                  <a:prstGeom prst="roundRect">
                    <a:avLst>
                      <a:gd name="adj" fmla="val 0"/>
                    </a:avLst>
                  </a:prstGeom>
                  <a:blipFill>
                    <a:blip r:embed="rId3"/>
                    <a:stretch>
                      <a:fillRect t="-14976" b="-65217"/>
                    </a:stretch>
                  </a:blipFill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18" name="Google Shape;1018;p46">
                <a:extLst>
                  <a:ext uri="{FF2B5EF4-FFF2-40B4-BE49-F238E27FC236}">
                    <a16:creationId xmlns:a16="http://schemas.microsoft.com/office/drawing/2014/main" id="{F9A6803D-0416-B860-2C26-3C7863630495}"/>
                  </a:ext>
                </a:extLst>
              </p:cNvPr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19" name="Google Shape;1019;p46">
                <a:extLst>
                  <a:ext uri="{FF2B5EF4-FFF2-40B4-BE49-F238E27FC236}">
                    <a16:creationId xmlns:a16="http://schemas.microsoft.com/office/drawing/2014/main" id="{61E1DCEB-1491-5A40-23EA-1DC6F3825545}"/>
                  </a:ext>
                </a:extLst>
              </p:cNvPr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1020" name="Google Shape;1020;p46">
                  <a:extLst>
                    <a:ext uri="{FF2B5EF4-FFF2-40B4-BE49-F238E27FC236}">
                      <a16:creationId xmlns:a16="http://schemas.microsoft.com/office/drawing/2014/main" id="{F977E25F-B814-0CB4-CB84-1C55AAFB5B19}"/>
                    </a:ext>
                  </a:extLst>
                </p:cNvPr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21" name="Google Shape;1021;p46">
                  <a:extLst>
                    <a:ext uri="{FF2B5EF4-FFF2-40B4-BE49-F238E27FC236}">
                      <a16:creationId xmlns:a16="http://schemas.microsoft.com/office/drawing/2014/main" id="{F9C4254A-B4D1-3CD4-97EC-1FE10FA2846C}"/>
                    </a:ext>
                  </a:extLst>
                </p:cNvPr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1022" name="Google Shape;1022;p46">
                    <a:extLst>
                      <a:ext uri="{FF2B5EF4-FFF2-40B4-BE49-F238E27FC236}">
                        <a16:creationId xmlns:a16="http://schemas.microsoft.com/office/drawing/2014/main" id="{CC9149C2-5427-A704-0725-4E315BC51409}"/>
                      </a:ext>
                    </a:extLst>
                  </p:cNvPr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3" name="Google Shape;1023;p46">
                    <a:extLst>
                      <a:ext uri="{FF2B5EF4-FFF2-40B4-BE49-F238E27FC236}">
                        <a16:creationId xmlns:a16="http://schemas.microsoft.com/office/drawing/2014/main" id="{9C89CB8D-BCCA-E45D-DD90-290CB063A42F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024" name="Google Shape;1024;p46">
                  <a:extLst>
                    <a:ext uri="{FF2B5EF4-FFF2-40B4-BE49-F238E27FC236}">
                      <a16:creationId xmlns:a16="http://schemas.microsoft.com/office/drawing/2014/main" id="{07F55982-142B-73BB-B141-3FF7C161DD4B}"/>
                    </a:ext>
                  </a:extLst>
                </p:cNvPr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5FEE920-A55F-B9D4-2941-40D8141B723F}"/>
              </a:ext>
            </a:extLst>
          </p:cNvPr>
          <p:cNvSpPr txBox="1"/>
          <p:nvPr/>
        </p:nvSpPr>
        <p:spPr>
          <a:xfrm>
            <a:off x="302588" y="204856"/>
            <a:ext cx="39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54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>
          <a:extLst>
            <a:ext uri="{FF2B5EF4-FFF2-40B4-BE49-F238E27FC236}">
              <a16:creationId xmlns:a16="http://schemas.microsoft.com/office/drawing/2014/main" id="{8F55950A-57E3-AA5C-140B-E22ADE86B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>
            <a:extLst>
              <a:ext uri="{FF2B5EF4-FFF2-40B4-BE49-F238E27FC236}">
                <a16:creationId xmlns:a16="http://schemas.microsoft.com/office/drawing/2014/main" id="{E7D33332-31F3-ED53-43E1-30BFD01B36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0087" y="731400"/>
            <a:ext cx="6221696" cy="783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Frequency-Domain Observation</a:t>
            </a:r>
          </a:p>
        </p:txBody>
      </p:sp>
      <p:sp>
        <p:nvSpPr>
          <p:cNvPr id="5" name="Google Shape;603;p34">
            <a:extLst>
              <a:ext uri="{FF2B5EF4-FFF2-40B4-BE49-F238E27FC236}">
                <a16:creationId xmlns:a16="http://schemas.microsoft.com/office/drawing/2014/main" id="{C6E6DD1F-D534-F2E3-F239-8BCB9A55D6DC}"/>
              </a:ext>
            </a:extLst>
          </p:cNvPr>
          <p:cNvSpPr/>
          <p:nvPr/>
        </p:nvSpPr>
        <p:spPr>
          <a:xfrm>
            <a:off x="403152" y="2223943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Clean Voice</a:t>
            </a:r>
          </a:p>
        </p:txBody>
      </p:sp>
      <p:sp>
        <p:nvSpPr>
          <p:cNvPr id="6" name="Google Shape;604;p34">
            <a:extLst>
              <a:ext uri="{FF2B5EF4-FFF2-40B4-BE49-F238E27FC236}">
                <a16:creationId xmlns:a16="http://schemas.microsoft.com/office/drawing/2014/main" id="{B3EE527A-6F28-4A52-B230-2B7A7C993ABC}"/>
              </a:ext>
            </a:extLst>
          </p:cNvPr>
          <p:cNvSpPr/>
          <p:nvPr/>
        </p:nvSpPr>
        <p:spPr>
          <a:xfrm>
            <a:off x="403152" y="3614482"/>
            <a:ext cx="1738522" cy="457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Hiss Noise</a:t>
            </a:r>
          </a:p>
        </p:txBody>
      </p:sp>
      <p:sp>
        <p:nvSpPr>
          <p:cNvPr id="7" name="Google Shape;604;p34">
            <a:extLst>
              <a:ext uri="{FF2B5EF4-FFF2-40B4-BE49-F238E27FC236}">
                <a16:creationId xmlns:a16="http://schemas.microsoft.com/office/drawing/2014/main" id="{36B13351-E251-A420-7761-3F35F0C77D8F}"/>
              </a:ext>
            </a:extLst>
          </p:cNvPr>
          <p:cNvSpPr/>
          <p:nvPr/>
        </p:nvSpPr>
        <p:spPr>
          <a:xfrm>
            <a:off x="2573918" y="2116714"/>
            <a:ext cx="1738523" cy="671657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Low Frequency</a:t>
            </a:r>
          </a:p>
        </p:txBody>
      </p:sp>
      <p:sp>
        <p:nvSpPr>
          <p:cNvPr id="8" name="Google Shape;604;p34">
            <a:extLst>
              <a:ext uri="{FF2B5EF4-FFF2-40B4-BE49-F238E27FC236}">
                <a16:creationId xmlns:a16="http://schemas.microsoft.com/office/drawing/2014/main" id="{B8517B46-DBE4-E6C1-1358-75E4954322F1}"/>
              </a:ext>
            </a:extLst>
          </p:cNvPr>
          <p:cNvSpPr/>
          <p:nvPr/>
        </p:nvSpPr>
        <p:spPr>
          <a:xfrm>
            <a:off x="2573918" y="3507253"/>
            <a:ext cx="1738523" cy="671657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rPr>
              <a:t>High Frequency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F276E7F-295D-E6D2-63E6-DFDCC868093B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141674" y="2452543"/>
            <a:ext cx="43224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ECBB4E9-DA1D-AEB8-1C88-F8CC2AA97B44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141674" y="3843082"/>
            <a:ext cx="43224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B81CF0A-DC7E-1962-7E16-4FB42A6E814C}"/>
              </a:ext>
            </a:extLst>
          </p:cNvPr>
          <p:cNvGrpSpPr/>
          <p:nvPr/>
        </p:nvGrpSpPr>
        <p:grpSpPr>
          <a:xfrm>
            <a:off x="4427031" y="1677803"/>
            <a:ext cx="4389077" cy="2677142"/>
            <a:chOff x="4744485" y="1585576"/>
            <a:chExt cx="3985998" cy="2108970"/>
          </a:xfrm>
        </p:grpSpPr>
        <p:grpSp>
          <p:nvGrpSpPr>
            <p:cNvPr id="1014" name="Google Shape;1014;p46">
              <a:extLst>
                <a:ext uri="{FF2B5EF4-FFF2-40B4-BE49-F238E27FC236}">
                  <a16:creationId xmlns:a16="http://schemas.microsoft.com/office/drawing/2014/main" id="{665C1E30-9F32-7FAC-E9A1-748C97CFCD33}"/>
                </a:ext>
              </a:extLst>
            </p:cNvPr>
            <p:cNvGrpSpPr/>
            <p:nvPr/>
          </p:nvGrpSpPr>
          <p:grpSpPr>
            <a:xfrm>
              <a:off x="4744485" y="1585576"/>
              <a:ext cx="3985998" cy="2108970"/>
              <a:chOff x="4754850" y="887475"/>
              <a:chExt cx="3763400" cy="3725700"/>
            </a:xfrm>
          </p:grpSpPr>
          <p:sp>
            <p:nvSpPr>
              <p:cNvPr id="1015" name="Google Shape;1015;p46">
                <a:extLst>
                  <a:ext uri="{FF2B5EF4-FFF2-40B4-BE49-F238E27FC236}">
                    <a16:creationId xmlns:a16="http://schemas.microsoft.com/office/drawing/2014/main" id="{8325E9F9-DA53-14C9-B56C-29F5018494B8}"/>
                  </a:ext>
                </a:extLst>
              </p:cNvPr>
              <p:cNvSpPr/>
              <p:nvPr/>
            </p:nvSpPr>
            <p:spPr>
              <a:xfrm>
                <a:off x="4844450" y="978975"/>
                <a:ext cx="3673800" cy="36342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16" name="Google Shape;1016;p46">
                <a:extLst>
                  <a:ext uri="{FF2B5EF4-FFF2-40B4-BE49-F238E27FC236}">
                    <a16:creationId xmlns:a16="http://schemas.microsoft.com/office/drawing/2014/main" id="{39FECC52-3C74-EF07-14FF-0D39668C1656}"/>
                  </a:ext>
                </a:extLst>
              </p:cNvPr>
              <p:cNvGrpSpPr/>
              <p:nvPr/>
            </p:nvGrpSpPr>
            <p:grpSpPr>
              <a:xfrm>
                <a:off x="4754850" y="887475"/>
                <a:ext cx="3674404" cy="3616200"/>
                <a:chOff x="4754850" y="887475"/>
                <a:chExt cx="3674404" cy="3616200"/>
              </a:xfrm>
            </p:grpSpPr>
            <p:sp>
              <p:nvSpPr>
                <p:cNvPr id="1017" name="Google Shape;1017;p46">
                  <a:extLst>
                    <a:ext uri="{FF2B5EF4-FFF2-40B4-BE49-F238E27FC236}">
                      <a16:creationId xmlns:a16="http://schemas.microsoft.com/office/drawing/2014/main" id="{B84F8CF3-6740-9E58-9AE1-A8734A5DAAFB}"/>
                    </a:ext>
                  </a:extLst>
                </p:cNvPr>
                <p:cNvSpPr/>
                <p:nvPr/>
              </p:nvSpPr>
              <p:spPr>
                <a:xfrm>
                  <a:off x="4754850" y="887475"/>
                  <a:ext cx="3673733" cy="36162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018" name="Google Shape;1018;p46">
                  <a:extLst>
                    <a:ext uri="{FF2B5EF4-FFF2-40B4-BE49-F238E27FC236}">
                      <a16:creationId xmlns:a16="http://schemas.microsoft.com/office/drawing/2014/main" id="{BCAA135A-7D16-5323-D25D-A06192782ECD}"/>
                    </a:ext>
                  </a:extLst>
                </p:cNvPr>
                <p:cNvCxnSpPr/>
                <p:nvPr/>
              </p:nvCxnSpPr>
              <p:spPr>
                <a:xfrm>
                  <a:off x="4755154" y="1253333"/>
                  <a:ext cx="36741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1019" name="Google Shape;1019;p46">
                  <a:extLst>
                    <a:ext uri="{FF2B5EF4-FFF2-40B4-BE49-F238E27FC236}">
                      <a16:creationId xmlns:a16="http://schemas.microsoft.com/office/drawing/2014/main" id="{E058150A-65E9-0318-766A-AB7451F4EB7C}"/>
                    </a:ext>
                  </a:extLst>
                </p:cNvPr>
                <p:cNvGrpSpPr/>
                <p:nvPr/>
              </p:nvGrpSpPr>
              <p:grpSpPr>
                <a:xfrm>
                  <a:off x="7492324" y="978977"/>
                  <a:ext cx="845101" cy="183000"/>
                  <a:chOff x="1605849" y="363963"/>
                  <a:chExt cx="845101" cy="183000"/>
                </a:xfrm>
              </p:grpSpPr>
              <p:sp>
                <p:nvSpPr>
                  <p:cNvPr id="1020" name="Google Shape;1020;p46">
                    <a:extLst>
                      <a:ext uri="{FF2B5EF4-FFF2-40B4-BE49-F238E27FC236}">
                        <a16:creationId xmlns:a16="http://schemas.microsoft.com/office/drawing/2014/main" id="{7F1F331F-B56F-C8B2-A7C0-8F5AF2A4A813}"/>
                      </a:ext>
                    </a:extLst>
                  </p:cNvPr>
                  <p:cNvSpPr/>
                  <p:nvPr/>
                </p:nvSpPr>
                <p:spPr>
                  <a:xfrm>
                    <a:off x="1951450" y="367563"/>
                    <a:ext cx="179400" cy="179400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21" name="Google Shape;1021;p46">
                    <a:extLst>
                      <a:ext uri="{FF2B5EF4-FFF2-40B4-BE49-F238E27FC236}">
                        <a16:creationId xmlns:a16="http://schemas.microsoft.com/office/drawing/2014/main" id="{ED05509E-1AE4-6691-509F-3A731782F3A1}"/>
                      </a:ext>
                    </a:extLst>
                  </p:cNvPr>
                  <p:cNvGrpSpPr/>
                  <p:nvPr/>
                </p:nvGrpSpPr>
                <p:grpSpPr>
                  <a:xfrm>
                    <a:off x="2267950" y="363963"/>
                    <a:ext cx="183000" cy="183000"/>
                    <a:chOff x="8225400" y="367488"/>
                    <a:chExt cx="183000" cy="183000"/>
                  </a:xfrm>
                </p:grpSpPr>
                <p:cxnSp>
                  <p:nvCxnSpPr>
                    <p:cNvPr id="1022" name="Google Shape;1022;p46">
                      <a:extLst>
                        <a:ext uri="{FF2B5EF4-FFF2-40B4-BE49-F238E27FC236}">
                          <a16:creationId xmlns:a16="http://schemas.microsoft.com/office/drawing/2014/main" id="{0CE78F77-E781-E1D6-2CFA-81A0C1325D9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023" name="Google Shape;1023;p46">
                      <a:extLst>
                        <a:ext uri="{FF2B5EF4-FFF2-40B4-BE49-F238E27FC236}">
                          <a16:creationId xmlns:a16="http://schemas.microsoft.com/office/drawing/2014/main" id="{C1BDC5CC-4819-137D-8916-F2F67401256E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1024" name="Google Shape;1024;p46">
                    <a:extLst>
                      <a:ext uri="{FF2B5EF4-FFF2-40B4-BE49-F238E27FC236}">
                        <a16:creationId xmlns:a16="http://schemas.microsoft.com/office/drawing/2014/main" id="{BBA0BC9C-BC2F-7B15-8A63-B684324EF205}"/>
                      </a:ext>
                    </a:extLst>
                  </p:cNvPr>
                  <p:cNvCxnSpPr/>
                  <p:nvPr/>
                </p:nvCxnSpPr>
                <p:spPr>
                  <a:xfrm>
                    <a:off x="1605849" y="546963"/>
                    <a:ext cx="208500" cy="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A9410ADA-4724-D452-64FD-5B8E1DB54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3083" y="1807257"/>
              <a:ext cx="3851580" cy="1807217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A030785-A8D8-49BF-9D5A-C9A0883A4D71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135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>
          <a:extLst>
            <a:ext uri="{FF2B5EF4-FFF2-40B4-BE49-F238E27FC236}">
              <a16:creationId xmlns:a16="http://schemas.microsoft.com/office/drawing/2014/main" id="{5655AB3B-E146-910B-C38F-DEF98328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>
            <a:extLst>
              <a:ext uri="{FF2B5EF4-FFF2-40B4-BE49-F238E27FC236}">
                <a16:creationId xmlns:a16="http://schemas.microsoft.com/office/drawing/2014/main" id="{FB7D8695-9CB5-408B-1F19-F5FD61B2E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7436" y="744896"/>
            <a:ext cx="4292614" cy="834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 Low-Pass Filter</a:t>
            </a:r>
          </a:p>
        </p:txBody>
      </p:sp>
      <p:sp>
        <p:nvSpPr>
          <p:cNvPr id="1013" name="Google Shape;1013;p46">
            <a:extLst>
              <a:ext uri="{FF2B5EF4-FFF2-40B4-BE49-F238E27FC236}">
                <a16:creationId xmlns:a16="http://schemas.microsoft.com/office/drawing/2014/main" id="{F15B83D8-5636-DE6D-FCD0-9B97DC04256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9008" y="1663976"/>
            <a:ext cx="3835101" cy="18155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Low-pass filter keeps lower frequencies and attenuates higher frequencies.</a:t>
            </a:r>
          </a:p>
        </p:txBody>
      </p:sp>
      <p:sp>
        <p:nvSpPr>
          <p:cNvPr id="1026" name="Google Shape;1026;p46">
            <a:extLst>
              <a:ext uri="{FF2B5EF4-FFF2-40B4-BE49-F238E27FC236}">
                <a16:creationId xmlns:a16="http://schemas.microsoft.com/office/drawing/2014/main" id="{F76FF90F-56D7-C300-67A1-23CE6C7FD0F1}"/>
              </a:ext>
            </a:extLst>
          </p:cNvPr>
          <p:cNvSpPr/>
          <p:nvPr/>
        </p:nvSpPr>
        <p:spPr>
          <a:xfrm>
            <a:off x="1500283" y="431258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6">
            <a:extLst>
              <a:ext uri="{FF2B5EF4-FFF2-40B4-BE49-F238E27FC236}">
                <a16:creationId xmlns:a16="http://schemas.microsoft.com/office/drawing/2014/main" id="{869C6D61-9800-05C8-71B8-6FC11719E30D}"/>
              </a:ext>
            </a:extLst>
          </p:cNvPr>
          <p:cNvSpPr/>
          <p:nvPr/>
        </p:nvSpPr>
        <p:spPr>
          <a:xfrm>
            <a:off x="884457" y="421067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6">
            <a:extLst>
              <a:ext uri="{FF2B5EF4-FFF2-40B4-BE49-F238E27FC236}">
                <a16:creationId xmlns:a16="http://schemas.microsoft.com/office/drawing/2014/main" id="{D52CECD4-452B-4B27-DCA1-339FBF09C5C5}"/>
              </a:ext>
            </a:extLst>
          </p:cNvPr>
          <p:cNvSpPr/>
          <p:nvPr/>
        </p:nvSpPr>
        <p:spPr>
          <a:xfrm>
            <a:off x="714314" y="400843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A114538-2C92-638A-121A-26749C00C71C}"/>
              </a:ext>
            </a:extLst>
          </p:cNvPr>
          <p:cNvGrpSpPr/>
          <p:nvPr/>
        </p:nvGrpSpPr>
        <p:grpSpPr>
          <a:xfrm>
            <a:off x="3763819" y="1362364"/>
            <a:ext cx="4971174" cy="3195781"/>
            <a:chOff x="4160027" y="1367080"/>
            <a:chExt cx="4574965" cy="3191065"/>
          </a:xfrm>
        </p:grpSpPr>
        <p:grpSp>
          <p:nvGrpSpPr>
            <p:cNvPr id="1014" name="Google Shape;1014;p46">
              <a:extLst>
                <a:ext uri="{FF2B5EF4-FFF2-40B4-BE49-F238E27FC236}">
                  <a16:creationId xmlns:a16="http://schemas.microsoft.com/office/drawing/2014/main" id="{0AB2EFE2-82A9-AB33-0228-1754386BA779}"/>
                </a:ext>
              </a:extLst>
            </p:cNvPr>
            <p:cNvGrpSpPr/>
            <p:nvPr/>
          </p:nvGrpSpPr>
          <p:grpSpPr>
            <a:xfrm>
              <a:off x="4160027" y="1367080"/>
              <a:ext cx="4574965" cy="3191065"/>
              <a:chOff x="4754850" y="887475"/>
              <a:chExt cx="3763400" cy="3725700"/>
            </a:xfrm>
          </p:grpSpPr>
          <p:sp>
            <p:nvSpPr>
              <p:cNvPr id="1015" name="Google Shape;1015;p46">
                <a:extLst>
                  <a:ext uri="{FF2B5EF4-FFF2-40B4-BE49-F238E27FC236}">
                    <a16:creationId xmlns:a16="http://schemas.microsoft.com/office/drawing/2014/main" id="{BBB04DB6-0763-98B5-816F-D5F5A8DD1173}"/>
                  </a:ext>
                </a:extLst>
              </p:cNvPr>
              <p:cNvSpPr/>
              <p:nvPr/>
            </p:nvSpPr>
            <p:spPr>
              <a:xfrm>
                <a:off x="4844450" y="978975"/>
                <a:ext cx="3673800" cy="36342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16" name="Google Shape;1016;p46">
                <a:extLst>
                  <a:ext uri="{FF2B5EF4-FFF2-40B4-BE49-F238E27FC236}">
                    <a16:creationId xmlns:a16="http://schemas.microsoft.com/office/drawing/2014/main" id="{7A57E729-4A1D-285F-23F6-AD691A46E048}"/>
                  </a:ext>
                </a:extLst>
              </p:cNvPr>
              <p:cNvGrpSpPr/>
              <p:nvPr/>
            </p:nvGrpSpPr>
            <p:grpSpPr>
              <a:xfrm>
                <a:off x="4754850" y="887475"/>
                <a:ext cx="3674404" cy="3616200"/>
                <a:chOff x="4754850" y="887475"/>
                <a:chExt cx="3674404" cy="3616200"/>
              </a:xfrm>
            </p:grpSpPr>
            <p:sp>
              <p:nvSpPr>
                <p:cNvPr id="1017" name="Google Shape;1017;p46">
                  <a:extLst>
                    <a:ext uri="{FF2B5EF4-FFF2-40B4-BE49-F238E27FC236}">
                      <a16:creationId xmlns:a16="http://schemas.microsoft.com/office/drawing/2014/main" id="{4FD36F17-B574-738F-C401-0365B3013F2C}"/>
                    </a:ext>
                  </a:extLst>
                </p:cNvPr>
                <p:cNvSpPr/>
                <p:nvPr/>
              </p:nvSpPr>
              <p:spPr>
                <a:xfrm>
                  <a:off x="4754850" y="887475"/>
                  <a:ext cx="3673733" cy="36162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018" name="Google Shape;1018;p46">
                  <a:extLst>
                    <a:ext uri="{FF2B5EF4-FFF2-40B4-BE49-F238E27FC236}">
                      <a16:creationId xmlns:a16="http://schemas.microsoft.com/office/drawing/2014/main" id="{1E26A4BC-EB57-8D5E-961F-4C2E1741F4CA}"/>
                    </a:ext>
                  </a:extLst>
                </p:cNvPr>
                <p:cNvCxnSpPr/>
                <p:nvPr/>
              </p:nvCxnSpPr>
              <p:spPr>
                <a:xfrm>
                  <a:off x="4755154" y="1253333"/>
                  <a:ext cx="36741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1019" name="Google Shape;1019;p46">
                  <a:extLst>
                    <a:ext uri="{FF2B5EF4-FFF2-40B4-BE49-F238E27FC236}">
                      <a16:creationId xmlns:a16="http://schemas.microsoft.com/office/drawing/2014/main" id="{53B3BBA8-B94D-E169-6A3E-E0C5118E2091}"/>
                    </a:ext>
                  </a:extLst>
                </p:cNvPr>
                <p:cNvGrpSpPr/>
                <p:nvPr/>
              </p:nvGrpSpPr>
              <p:grpSpPr>
                <a:xfrm>
                  <a:off x="7492324" y="978977"/>
                  <a:ext cx="845101" cy="183000"/>
                  <a:chOff x="1605849" y="363963"/>
                  <a:chExt cx="845101" cy="183000"/>
                </a:xfrm>
              </p:grpSpPr>
              <p:sp>
                <p:nvSpPr>
                  <p:cNvPr id="1020" name="Google Shape;1020;p46">
                    <a:extLst>
                      <a:ext uri="{FF2B5EF4-FFF2-40B4-BE49-F238E27FC236}">
                        <a16:creationId xmlns:a16="http://schemas.microsoft.com/office/drawing/2014/main" id="{95F5A01E-D63E-361D-E8D0-571AE7A9952D}"/>
                      </a:ext>
                    </a:extLst>
                  </p:cNvPr>
                  <p:cNvSpPr/>
                  <p:nvPr/>
                </p:nvSpPr>
                <p:spPr>
                  <a:xfrm>
                    <a:off x="1951450" y="367563"/>
                    <a:ext cx="179400" cy="179400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21" name="Google Shape;1021;p46">
                    <a:extLst>
                      <a:ext uri="{FF2B5EF4-FFF2-40B4-BE49-F238E27FC236}">
                        <a16:creationId xmlns:a16="http://schemas.microsoft.com/office/drawing/2014/main" id="{B30F49A5-243D-3E92-B035-5C6B43452458}"/>
                      </a:ext>
                    </a:extLst>
                  </p:cNvPr>
                  <p:cNvGrpSpPr/>
                  <p:nvPr/>
                </p:nvGrpSpPr>
                <p:grpSpPr>
                  <a:xfrm>
                    <a:off x="2267950" y="363963"/>
                    <a:ext cx="183000" cy="183000"/>
                    <a:chOff x="8225400" y="367488"/>
                    <a:chExt cx="183000" cy="183000"/>
                  </a:xfrm>
                </p:grpSpPr>
                <p:cxnSp>
                  <p:nvCxnSpPr>
                    <p:cNvPr id="1022" name="Google Shape;1022;p46">
                      <a:extLst>
                        <a:ext uri="{FF2B5EF4-FFF2-40B4-BE49-F238E27FC236}">
                          <a16:creationId xmlns:a16="http://schemas.microsoft.com/office/drawing/2014/main" id="{DB2D7017-A6C7-6ACF-709D-06F7DE7818D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023" name="Google Shape;1023;p46">
                      <a:extLst>
                        <a:ext uri="{FF2B5EF4-FFF2-40B4-BE49-F238E27FC236}">
                          <a16:creationId xmlns:a16="http://schemas.microsoft.com/office/drawing/2014/main" id="{AF8E9FAF-00C9-FCDD-3B4D-07F463DAFADC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1024" name="Google Shape;1024;p46">
                    <a:extLst>
                      <a:ext uri="{FF2B5EF4-FFF2-40B4-BE49-F238E27FC236}">
                        <a16:creationId xmlns:a16="http://schemas.microsoft.com/office/drawing/2014/main" id="{071F4804-9574-3368-A196-BB690AD83010}"/>
                      </a:ext>
                    </a:extLst>
                  </p:cNvPr>
                  <p:cNvCxnSpPr/>
                  <p:nvPr/>
                </p:nvCxnSpPr>
                <p:spPr>
                  <a:xfrm>
                    <a:off x="1605849" y="546963"/>
                    <a:ext cx="208500" cy="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0598644-6C87-FAC3-975D-A1171D35FC57}"/>
                </a:ext>
              </a:extLst>
            </p:cNvPr>
            <p:cNvGrpSpPr/>
            <p:nvPr/>
          </p:nvGrpSpPr>
          <p:grpSpPr>
            <a:xfrm>
              <a:off x="4177521" y="1696901"/>
              <a:ext cx="4435688" cy="2701939"/>
              <a:chOff x="884457" y="1236352"/>
              <a:chExt cx="5445237" cy="3115070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2716EBCA-DA82-FF5D-3C22-6067094E20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375" t="13738" r="10942" b="12955"/>
              <a:stretch>
                <a:fillRect/>
              </a:stretch>
            </p:blipFill>
            <p:spPr>
              <a:xfrm>
                <a:off x="884457" y="1236352"/>
                <a:ext cx="5445237" cy="3115070"/>
              </a:xfrm>
              <a:prstGeom prst="rect">
                <a:avLst/>
              </a:prstGeom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8536027-AFE4-2DF5-C220-91B76DD1E76B}"/>
                  </a:ext>
                </a:extLst>
              </p:cNvPr>
              <p:cNvSpPr/>
              <p:nvPr/>
            </p:nvSpPr>
            <p:spPr>
              <a:xfrm>
                <a:off x="6195710" y="1630684"/>
                <a:ext cx="133927" cy="794321"/>
              </a:xfrm>
              <a:prstGeom prst="rect">
                <a:avLst/>
              </a:prstGeom>
              <a:solidFill>
                <a:srgbClr val="FDFAF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C521BA3-E18F-5EDC-530F-24DCE45E221B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374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>
          <a:extLst>
            <a:ext uri="{FF2B5EF4-FFF2-40B4-BE49-F238E27FC236}">
              <a16:creationId xmlns:a16="http://schemas.microsoft.com/office/drawing/2014/main" id="{29B21BBB-6426-FE98-6608-644C66FE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>
            <a:extLst>
              <a:ext uri="{FF2B5EF4-FFF2-40B4-BE49-F238E27FC236}">
                <a16:creationId xmlns:a16="http://schemas.microsoft.com/office/drawing/2014/main" id="{84854E79-53B1-9DED-A1B8-33BCE14533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300" y="666330"/>
            <a:ext cx="4939046" cy="986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Parameter Choice</a:t>
            </a:r>
          </a:p>
        </p:txBody>
      </p:sp>
      <p:sp>
        <p:nvSpPr>
          <p:cNvPr id="1013" name="Google Shape;1013;p46">
            <a:extLst>
              <a:ext uri="{FF2B5EF4-FFF2-40B4-BE49-F238E27FC236}">
                <a16:creationId xmlns:a16="http://schemas.microsoft.com/office/drawing/2014/main" id="{3F3F4129-148F-D625-2A21-CC95FA60C3C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602213">
            <a:off x="1482197" y="3251760"/>
            <a:ext cx="2037245" cy="5197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Trade-off !</a:t>
            </a:r>
          </a:p>
        </p:txBody>
      </p:sp>
      <p:sp>
        <p:nvSpPr>
          <p:cNvPr id="1026" name="Google Shape;1026;p46">
            <a:extLst>
              <a:ext uri="{FF2B5EF4-FFF2-40B4-BE49-F238E27FC236}">
                <a16:creationId xmlns:a16="http://schemas.microsoft.com/office/drawing/2014/main" id="{FCA47CA1-39C6-41CE-C6B5-C9FB9FB97D24}"/>
              </a:ext>
            </a:extLst>
          </p:cNvPr>
          <p:cNvSpPr/>
          <p:nvPr/>
        </p:nvSpPr>
        <p:spPr>
          <a:xfrm>
            <a:off x="1500283" y="431258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6">
            <a:extLst>
              <a:ext uri="{FF2B5EF4-FFF2-40B4-BE49-F238E27FC236}">
                <a16:creationId xmlns:a16="http://schemas.microsoft.com/office/drawing/2014/main" id="{B6BB6710-E085-FEB6-E80F-77C66573100C}"/>
              </a:ext>
            </a:extLst>
          </p:cNvPr>
          <p:cNvSpPr/>
          <p:nvPr/>
        </p:nvSpPr>
        <p:spPr>
          <a:xfrm>
            <a:off x="903272" y="4154226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6">
            <a:extLst>
              <a:ext uri="{FF2B5EF4-FFF2-40B4-BE49-F238E27FC236}">
                <a16:creationId xmlns:a16="http://schemas.microsoft.com/office/drawing/2014/main" id="{CEE3E34F-8572-4D1B-6EF0-33BAF822BA6A}"/>
              </a:ext>
            </a:extLst>
          </p:cNvPr>
          <p:cNvSpPr/>
          <p:nvPr/>
        </p:nvSpPr>
        <p:spPr>
          <a:xfrm>
            <a:off x="714314" y="400843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6BECEC-34FB-49E1-11AB-57CFB8393DB7}"/>
              </a:ext>
            </a:extLst>
          </p:cNvPr>
          <p:cNvSpPr/>
          <p:nvPr/>
        </p:nvSpPr>
        <p:spPr>
          <a:xfrm>
            <a:off x="451955" y="1498247"/>
            <a:ext cx="4097731" cy="5786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Lower cutoff</a:t>
            </a:r>
            <a:r>
              <a:rPr lang="en-US" altLang="zh-CN" sz="2000" dirty="0"/>
              <a:t>: stronger noise reduction, but speech suffers more.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70076D-C198-9001-5A47-B4A2AF50B594}"/>
              </a:ext>
            </a:extLst>
          </p:cNvPr>
          <p:cNvSpPr/>
          <p:nvPr/>
        </p:nvSpPr>
        <p:spPr>
          <a:xfrm>
            <a:off x="451955" y="2436115"/>
            <a:ext cx="4097734" cy="5786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Higher cutoff</a:t>
            </a:r>
            <a:r>
              <a:rPr lang="en-US" altLang="zh-CN" sz="2000" dirty="0"/>
              <a:t>: more speech detail, but more hiss remains.</a:t>
            </a:r>
          </a:p>
        </p:txBody>
      </p:sp>
      <p:grpSp>
        <p:nvGrpSpPr>
          <p:cNvPr id="1014" name="Google Shape;1014;p46">
            <a:extLst>
              <a:ext uri="{FF2B5EF4-FFF2-40B4-BE49-F238E27FC236}">
                <a16:creationId xmlns:a16="http://schemas.microsoft.com/office/drawing/2014/main" id="{588E63D8-D430-CCC3-58EC-DCEE4074B49C}"/>
              </a:ext>
            </a:extLst>
          </p:cNvPr>
          <p:cNvGrpSpPr/>
          <p:nvPr/>
        </p:nvGrpSpPr>
        <p:grpSpPr>
          <a:xfrm>
            <a:off x="4832989" y="765079"/>
            <a:ext cx="3927701" cy="3843865"/>
            <a:chOff x="4754850" y="887475"/>
            <a:chExt cx="3763400" cy="3725700"/>
          </a:xfrm>
        </p:grpSpPr>
        <p:sp>
          <p:nvSpPr>
            <p:cNvPr id="1015" name="Google Shape;1015;p46">
              <a:extLst>
                <a:ext uri="{FF2B5EF4-FFF2-40B4-BE49-F238E27FC236}">
                  <a16:creationId xmlns:a16="http://schemas.microsoft.com/office/drawing/2014/main" id="{B2B7F92C-1CC5-481E-8114-0449D2F8E409}"/>
                </a:ext>
              </a:extLst>
            </p:cNvPr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6" name="Google Shape;1016;p46">
              <a:extLst>
                <a:ext uri="{FF2B5EF4-FFF2-40B4-BE49-F238E27FC236}">
                  <a16:creationId xmlns:a16="http://schemas.microsoft.com/office/drawing/2014/main" id="{F691604D-08FD-F3B8-ED2B-2AD95CF9E1F6}"/>
                </a:ext>
              </a:extLst>
            </p:cNvPr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1017" name="Google Shape;1017;p46">
                <a:extLst>
                  <a:ext uri="{FF2B5EF4-FFF2-40B4-BE49-F238E27FC236}">
                    <a16:creationId xmlns:a16="http://schemas.microsoft.com/office/drawing/2014/main" id="{2D30830B-CD39-57A6-F270-EB9E835742CC}"/>
                  </a:ext>
                </a:extLst>
              </p:cNvPr>
              <p:cNvSpPr/>
              <p:nvPr/>
            </p:nvSpPr>
            <p:spPr>
              <a:xfrm>
                <a:off x="4754850" y="887475"/>
                <a:ext cx="3673733" cy="3616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18" name="Google Shape;1018;p46">
                <a:extLst>
                  <a:ext uri="{FF2B5EF4-FFF2-40B4-BE49-F238E27FC236}">
                    <a16:creationId xmlns:a16="http://schemas.microsoft.com/office/drawing/2014/main" id="{0DBD7874-9B43-CDA6-78CC-B2F2BED7F391}"/>
                  </a:ext>
                </a:extLst>
              </p:cNvPr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19" name="Google Shape;1019;p46">
                <a:extLst>
                  <a:ext uri="{FF2B5EF4-FFF2-40B4-BE49-F238E27FC236}">
                    <a16:creationId xmlns:a16="http://schemas.microsoft.com/office/drawing/2014/main" id="{6AC66EC2-0FC2-2001-F145-741FEB4DF9FB}"/>
                  </a:ext>
                </a:extLst>
              </p:cNvPr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1020" name="Google Shape;1020;p46">
                  <a:extLst>
                    <a:ext uri="{FF2B5EF4-FFF2-40B4-BE49-F238E27FC236}">
                      <a16:creationId xmlns:a16="http://schemas.microsoft.com/office/drawing/2014/main" id="{F169563F-AAC8-8034-F18D-A3E33553D07F}"/>
                    </a:ext>
                  </a:extLst>
                </p:cNvPr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21" name="Google Shape;1021;p46">
                  <a:extLst>
                    <a:ext uri="{FF2B5EF4-FFF2-40B4-BE49-F238E27FC236}">
                      <a16:creationId xmlns:a16="http://schemas.microsoft.com/office/drawing/2014/main" id="{C5664F80-0322-0C79-0C8E-8DF7DF3BABE3}"/>
                    </a:ext>
                  </a:extLst>
                </p:cNvPr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1022" name="Google Shape;1022;p46">
                    <a:extLst>
                      <a:ext uri="{FF2B5EF4-FFF2-40B4-BE49-F238E27FC236}">
                        <a16:creationId xmlns:a16="http://schemas.microsoft.com/office/drawing/2014/main" id="{FC5D6403-A0F9-05A5-CB11-65967EE1C06A}"/>
                      </a:ext>
                    </a:extLst>
                  </p:cNvPr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3" name="Google Shape;1023;p46">
                    <a:extLst>
                      <a:ext uri="{FF2B5EF4-FFF2-40B4-BE49-F238E27FC236}">
                        <a16:creationId xmlns:a16="http://schemas.microsoft.com/office/drawing/2014/main" id="{5CAB6208-B60A-26C5-B391-5E699844A54A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024" name="Google Shape;1024;p46">
                  <a:extLst>
                    <a:ext uri="{FF2B5EF4-FFF2-40B4-BE49-F238E27FC236}">
                      <a16:creationId xmlns:a16="http://schemas.microsoft.com/office/drawing/2014/main" id="{B00ACCC6-9CA6-9598-2331-A312B39FEC2E}"/>
                    </a:ext>
                  </a:extLst>
                </p:cNvPr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B05BBEA-09BC-E93C-5BF8-E979D58880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61" r="68030"/>
          <a:stretch>
            <a:fillRect/>
          </a:stretch>
        </p:blipFill>
        <p:spPr>
          <a:xfrm>
            <a:off x="4848225" y="1159812"/>
            <a:ext cx="3802063" cy="328630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EF8030B-A0CD-4B4B-AB98-6DB0CF865C2B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51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3" name="Google Shape;683;p36"/>
          <p:cNvGrpSpPr/>
          <p:nvPr/>
        </p:nvGrpSpPr>
        <p:grpSpPr>
          <a:xfrm>
            <a:off x="4013286" y="1565965"/>
            <a:ext cx="711593" cy="2078217"/>
            <a:chOff x="6592201" y="2061933"/>
            <a:chExt cx="941841" cy="2789257"/>
          </a:xfrm>
        </p:grpSpPr>
        <p:sp>
          <p:nvSpPr>
            <p:cNvPr id="684" name="Google Shape;684;p36"/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69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06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  <a:moveTo>
                    <a:pt x="4172" y="3293"/>
                  </a:moveTo>
                  <a:cubicBezTo>
                    <a:pt x="4952" y="3293"/>
                    <a:pt x="4952" y="2147"/>
                    <a:pt x="4172" y="2147"/>
                  </a:cubicBezTo>
                  <a:cubicBezTo>
                    <a:pt x="4025" y="2147"/>
                    <a:pt x="3879" y="2196"/>
                    <a:pt x="3757" y="2318"/>
                  </a:cubicBezTo>
                  <a:cubicBezTo>
                    <a:pt x="3537" y="2537"/>
                    <a:pt x="3537" y="2903"/>
                    <a:pt x="3757" y="3123"/>
                  </a:cubicBezTo>
                  <a:cubicBezTo>
                    <a:pt x="3879" y="3244"/>
                    <a:pt x="4025" y="3293"/>
                    <a:pt x="4172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391" y="23464"/>
                  </a:moveTo>
                  <a:cubicBezTo>
                    <a:pt x="391" y="23756"/>
                    <a:pt x="513" y="24049"/>
                    <a:pt x="733" y="24268"/>
                  </a:cubicBezTo>
                  <a:cubicBezTo>
                    <a:pt x="928" y="24488"/>
                    <a:pt x="1220" y="24585"/>
                    <a:pt x="1537" y="24585"/>
                  </a:cubicBezTo>
                  <a:lnTo>
                    <a:pt x="6806" y="24585"/>
                  </a:lnTo>
                  <a:cubicBezTo>
                    <a:pt x="7440" y="24585"/>
                    <a:pt x="7952" y="24073"/>
                    <a:pt x="7952" y="23464"/>
                  </a:cubicBezTo>
                  <a:lnTo>
                    <a:pt x="7952" y="4074"/>
                  </a:lnTo>
                  <a:cubicBezTo>
                    <a:pt x="7879" y="2025"/>
                    <a:pt x="6220" y="391"/>
                    <a:pt x="4172" y="391"/>
                  </a:cubicBezTo>
                  <a:cubicBezTo>
                    <a:pt x="2123" y="391"/>
                    <a:pt x="440" y="2025"/>
                    <a:pt x="391" y="4074"/>
                  </a:cubicBezTo>
                  <a:close/>
                  <a:moveTo>
                    <a:pt x="4172" y="2196"/>
                  </a:moveTo>
                  <a:cubicBezTo>
                    <a:pt x="4854" y="2196"/>
                    <a:pt x="4854" y="3244"/>
                    <a:pt x="4172" y="3244"/>
                  </a:cubicBezTo>
                  <a:cubicBezTo>
                    <a:pt x="4025" y="3244"/>
                    <a:pt x="3903" y="3171"/>
                    <a:pt x="3806" y="3074"/>
                  </a:cubicBezTo>
                  <a:cubicBezTo>
                    <a:pt x="3611" y="2879"/>
                    <a:pt x="3611" y="2562"/>
                    <a:pt x="3806" y="2342"/>
                  </a:cubicBezTo>
                  <a:cubicBezTo>
                    <a:pt x="3903" y="2245"/>
                    <a:pt x="4025" y="2196"/>
                    <a:pt x="4172" y="2196"/>
                  </a:cubicBezTo>
                  <a:close/>
                  <a:moveTo>
                    <a:pt x="3611" y="2147"/>
                  </a:moveTo>
                  <a:cubicBezTo>
                    <a:pt x="4220" y="1513"/>
                    <a:pt x="5269" y="2196"/>
                    <a:pt x="4928" y="3025"/>
                  </a:cubicBezTo>
                  <a:cubicBezTo>
                    <a:pt x="4586" y="3854"/>
                    <a:pt x="3367" y="3610"/>
                    <a:pt x="3367" y="2708"/>
                  </a:cubicBezTo>
                  <a:cubicBezTo>
                    <a:pt x="3367" y="2488"/>
                    <a:pt x="3440" y="2293"/>
                    <a:pt x="3611" y="2147"/>
                  </a:cubicBezTo>
                  <a:close/>
                  <a:moveTo>
                    <a:pt x="7196" y="19951"/>
                  </a:moveTo>
                  <a:lnTo>
                    <a:pt x="7196" y="19951"/>
                  </a:lnTo>
                  <a:lnTo>
                    <a:pt x="7196" y="22805"/>
                  </a:lnTo>
                  <a:cubicBezTo>
                    <a:pt x="7196" y="22878"/>
                    <a:pt x="7123" y="22951"/>
                    <a:pt x="7049" y="22951"/>
                  </a:cubicBezTo>
                  <a:lnTo>
                    <a:pt x="1294" y="22951"/>
                  </a:lnTo>
                  <a:cubicBezTo>
                    <a:pt x="1220" y="22951"/>
                    <a:pt x="1147" y="22878"/>
                    <a:pt x="1147" y="22805"/>
                  </a:cubicBezTo>
                  <a:lnTo>
                    <a:pt x="1147" y="5635"/>
                  </a:lnTo>
                  <a:cubicBezTo>
                    <a:pt x="1147" y="5562"/>
                    <a:pt x="1220" y="5488"/>
                    <a:pt x="1294" y="5488"/>
                  </a:cubicBezTo>
                  <a:lnTo>
                    <a:pt x="7025" y="5488"/>
                  </a:lnTo>
                  <a:cubicBezTo>
                    <a:pt x="7123" y="5488"/>
                    <a:pt x="7196" y="5562"/>
                    <a:pt x="7196" y="5635"/>
                  </a:cubicBezTo>
                  <a:lnTo>
                    <a:pt x="7196" y="8488"/>
                  </a:lnTo>
                  <a:lnTo>
                    <a:pt x="7196" y="8488"/>
                  </a:lnTo>
                  <a:lnTo>
                    <a:pt x="7196" y="11366"/>
                  </a:lnTo>
                  <a:lnTo>
                    <a:pt x="7196" y="11366"/>
                  </a:lnTo>
                  <a:lnTo>
                    <a:pt x="7196" y="14220"/>
                  </a:lnTo>
                  <a:lnTo>
                    <a:pt x="7196" y="14220"/>
                  </a:lnTo>
                  <a:lnTo>
                    <a:pt x="7196" y="17073"/>
                  </a:lnTo>
                  <a:lnTo>
                    <a:pt x="7196" y="17073"/>
                  </a:lnTo>
                  <a:lnTo>
                    <a:pt x="7196" y="19927"/>
                  </a:lnTo>
                  <a:close/>
                  <a:moveTo>
                    <a:pt x="6879" y="20098"/>
                  </a:moveTo>
                  <a:lnTo>
                    <a:pt x="6879" y="22659"/>
                  </a:lnTo>
                  <a:lnTo>
                    <a:pt x="1440" y="22659"/>
                  </a:lnTo>
                  <a:lnTo>
                    <a:pt x="1440" y="20098"/>
                  </a:lnTo>
                  <a:close/>
                  <a:moveTo>
                    <a:pt x="1440" y="19781"/>
                  </a:moveTo>
                  <a:lnTo>
                    <a:pt x="1440" y="17220"/>
                  </a:lnTo>
                  <a:lnTo>
                    <a:pt x="6879" y="17220"/>
                  </a:lnTo>
                  <a:lnTo>
                    <a:pt x="6879" y="19781"/>
                  </a:lnTo>
                  <a:close/>
                  <a:moveTo>
                    <a:pt x="1440" y="16927"/>
                  </a:moveTo>
                  <a:lnTo>
                    <a:pt x="1440" y="14366"/>
                  </a:lnTo>
                  <a:lnTo>
                    <a:pt x="6879" y="14366"/>
                  </a:lnTo>
                  <a:lnTo>
                    <a:pt x="6879" y="16927"/>
                  </a:lnTo>
                  <a:close/>
                  <a:moveTo>
                    <a:pt x="1440" y="14074"/>
                  </a:moveTo>
                  <a:lnTo>
                    <a:pt x="1440" y="11513"/>
                  </a:lnTo>
                  <a:lnTo>
                    <a:pt x="6879" y="11513"/>
                  </a:lnTo>
                  <a:lnTo>
                    <a:pt x="6879" y="14074"/>
                  </a:lnTo>
                  <a:close/>
                  <a:moveTo>
                    <a:pt x="1440" y="11196"/>
                  </a:moveTo>
                  <a:lnTo>
                    <a:pt x="1440" y="8635"/>
                  </a:lnTo>
                  <a:lnTo>
                    <a:pt x="6879" y="8635"/>
                  </a:lnTo>
                  <a:lnTo>
                    <a:pt x="6879" y="11196"/>
                  </a:lnTo>
                  <a:close/>
                  <a:moveTo>
                    <a:pt x="1440" y="8342"/>
                  </a:moveTo>
                  <a:lnTo>
                    <a:pt x="1440" y="5805"/>
                  </a:lnTo>
                  <a:lnTo>
                    <a:pt x="6879" y="5805"/>
                  </a:lnTo>
                  <a:lnTo>
                    <a:pt x="6879" y="8366"/>
                  </a:lnTo>
                  <a:close/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93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30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6636341" y="2105487"/>
              <a:ext cx="853561" cy="2702149"/>
            </a:xfrm>
            <a:custGeom>
              <a:avLst/>
              <a:gdLst/>
              <a:ahLst/>
              <a:cxnLst/>
              <a:rect l="l" t="t" r="r" b="b"/>
              <a:pathLst>
                <a:path w="7561" h="24196" extrusionOk="0">
                  <a:moveTo>
                    <a:pt x="0" y="3684"/>
                  </a:moveTo>
                  <a:lnTo>
                    <a:pt x="0" y="23074"/>
                  </a:lnTo>
                  <a:cubicBezTo>
                    <a:pt x="0" y="23366"/>
                    <a:pt x="122" y="23659"/>
                    <a:pt x="342" y="23878"/>
                  </a:cubicBezTo>
                  <a:cubicBezTo>
                    <a:pt x="537" y="24098"/>
                    <a:pt x="829" y="24195"/>
                    <a:pt x="1146" y="24195"/>
                  </a:cubicBezTo>
                  <a:lnTo>
                    <a:pt x="6415" y="24195"/>
                  </a:lnTo>
                  <a:cubicBezTo>
                    <a:pt x="7049" y="24195"/>
                    <a:pt x="7561" y="23683"/>
                    <a:pt x="7561" y="23074"/>
                  </a:cubicBezTo>
                  <a:lnTo>
                    <a:pt x="7561" y="3684"/>
                  </a:lnTo>
                  <a:cubicBezTo>
                    <a:pt x="7488" y="1635"/>
                    <a:pt x="5829" y="1"/>
                    <a:pt x="3781" y="1"/>
                  </a:cubicBezTo>
                  <a:cubicBezTo>
                    <a:pt x="1732" y="1"/>
                    <a:pt x="49" y="1635"/>
                    <a:pt x="0" y="3684"/>
                  </a:cubicBezTo>
                  <a:close/>
                  <a:moveTo>
                    <a:pt x="4585" y="2318"/>
                  </a:moveTo>
                  <a:cubicBezTo>
                    <a:pt x="4585" y="3220"/>
                    <a:pt x="3366" y="3464"/>
                    <a:pt x="3024" y="2635"/>
                  </a:cubicBezTo>
                  <a:cubicBezTo>
                    <a:pt x="2683" y="1806"/>
                    <a:pt x="3732" y="1123"/>
                    <a:pt x="4366" y="1757"/>
                  </a:cubicBezTo>
                  <a:cubicBezTo>
                    <a:pt x="4512" y="1903"/>
                    <a:pt x="4585" y="2098"/>
                    <a:pt x="4585" y="2318"/>
                  </a:cubicBezTo>
                  <a:close/>
                  <a:moveTo>
                    <a:pt x="903" y="5098"/>
                  </a:moveTo>
                  <a:lnTo>
                    <a:pt x="6634" y="5098"/>
                  </a:lnTo>
                  <a:cubicBezTo>
                    <a:pt x="6732" y="5098"/>
                    <a:pt x="6805" y="5172"/>
                    <a:pt x="6805" y="5245"/>
                  </a:cubicBezTo>
                  <a:lnTo>
                    <a:pt x="6805" y="8123"/>
                  </a:lnTo>
                  <a:lnTo>
                    <a:pt x="6805" y="8123"/>
                  </a:lnTo>
                  <a:lnTo>
                    <a:pt x="6805" y="10976"/>
                  </a:lnTo>
                  <a:lnTo>
                    <a:pt x="6805" y="10976"/>
                  </a:lnTo>
                  <a:lnTo>
                    <a:pt x="6805" y="13830"/>
                  </a:lnTo>
                  <a:lnTo>
                    <a:pt x="6805" y="13830"/>
                  </a:lnTo>
                  <a:lnTo>
                    <a:pt x="6805" y="16683"/>
                  </a:lnTo>
                  <a:lnTo>
                    <a:pt x="6805" y="16683"/>
                  </a:lnTo>
                  <a:lnTo>
                    <a:pt x="6805" y="19537"/>
                  </a:lnTo>
                  <a:lnTo>
                    <a:pt x="6805" y="19537"/>
                  </a:lnTo>
                  <a:lnTo>
                    <a:pt x="6805" y="22415"/>
                  </a:lnTo>
                  <a:cubicBezTo>
                    <a:pt x="6805" y="22488"/>
                    <a:pt x="6732" y="22561"/>
                    <a:pt x="6634" y="22561"/>
                  </a:cubicBezTo>
                  <a:lnTo>
                    <a:pt x="903" y="22561"/>
                  </a:lnTo>
                  <a:cubicBezTo>
                    <a:pt x="829" y="22561"/>
                    <a:pt x="756" y="22488"/>
                    <a:pt x="756" y="22415"/>
                  </a:cubicBezTo>
                  <a:lnTo>
                    <a:pt x="756" y="5245"/>
                  </a:lnTo>
                  <a:cubicBezTo>
                    <a:pt x="756" y="5172"/>
                    <a:pt x="829" y="5098"/>
                    <a:pt x="903" y="50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6754649" y="2707541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6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6754649" y="3028949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7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6754649" y="3347564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6754649" y="3666292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8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6754649" y="3987700"/>
              <a:ext cx="614122" cy="286119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9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6655532" y="2184555"/>
              <a:ext cx="834370" cy="2623081"/>
            </a:xfrm>
            <a:custGeom>
              <a:avLst/>
              <a:gdLst/>
              <a:ahLst/>
              <a:cxnLst/>
              <a:rect l="l" t="t" r="r" b="b"/>
              <a:pathLst>
                <a:path w="7391" h="23488" extrusionOk="0">
                  <a:moveTo>
                    <a:pt x="6928" y="21951"/>
                  </a:moveTo>
                  <a:cubicBezTo>
                    <a:pt x="6928" y="22244"/>
                    <a:pt x="6830" y="22536"/>
                    <a:pt x="6610" y="22756"/>
                  </a:cubicBezTo>
                  <a:cubicBezTo>
                    <a:pt x="6391" y="22975"/>
                    <a:pt x="6098" y="23073"/>
                    <a:pt x="5806" y="23097"/>
                  </a:cubicBezTo>
                  <a:lnTo>
                    <a:pt x="513" y="23097"/>
                  </a:lnTo>
                  <a:cubicBezTo>
                    <a:pt x="342" y="23097"/>
                    <a:pt x="172" y="23048"/>
                    <a:pt x="1" y="22951"/>
                  </a:cubicBezTo>
                  <a:cubicBezTo>
                    <a:pt x="50" y="23024"/>
                    <a:pt x="98" y="23097"/>
                    <a:pt x="172" y="23170"/>
                  </a:cubicBezTo>
                  <a:cubicBezTo>
                    <a:pt x="367" y="23390"/>
                    <a:pt x="659" y="23487"/>
                    <a:pt x="976" y="23487"/>
                  </a:cubicBezTo>
                  <a:lnTo>
                    <a:pt x="6245" y="23487"/>
                  </a:lnTo>
                  <a:cubicBezTo>
                    <a:pt x="6879" y="23487"/>
                    <a:pt x="7391" y="22975"/>
                    <a:pt x="7391" y="22366"/>
                  </a:cubicBezTo>
                  <a:lnTo>
                    <a:pt x="7391" y="2976"/>
                  </a:lnTo>
                  <a:cubicBezTo>
                    <a:pt x="7391" y="1976"/>
                    <a:pt x="6976" y="1025"/>
                    <a:pt x="6269" y="317"/>
                  </a:cubicBezTo>
                  <a:cubicBezTo>
                    <a:pt x="6171" y="195"/>
                    <a:pt x="6049" y="98"/>
                    <a:pt x="5928" y="0"/>
                  </a:cubicBezTo>
                  <a:cubicBezTo>
                    <a:pt x="6586" y="707"/>
                    <a:pt x="6952" y="1610"/>
                    <a:pt x="6928" y="256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91;p36">
              <a:extLst>
                <a:ext uri="{FF2B5EF4-FFF2-40B4-BE49-F238E27FC236}">
                  <a16:creationId xmlns:a16="http://schemas.microsoft.com/office/drawing/2014/main" id="{D6D59C32-15F5-ECE8-A53A-3C5DD4EDF1C1}"/>
                </a:ext>
              </a:extLst>
            </p:cNvPr>
            <p:cNvSpPr/>
            <p:nvPr/>
          </p:nvSpPr>
          <p:spPr>
            <a:xfrm>
              <a:off x="6754649" y="4301217"/>
              <a:ext cx="614122" cy="286119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rgbClr val="E5EFE7">
                <a:alpha val="9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94" name="Google Shape;694;p36"/>
          <p:cNvSpPr txBox="1">
            <a:spLocks noGrp="1"/>
          </p:cNvSpPr>
          <p:nvPr>
            <p:ph type="title"/>
          </p:nvPr>
        </p:nvSpPr>
        <p:spPr>
          <a:xfrm>
            <a:off x="-241532" y="712138"/>
            <a:ext cx="9219096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/>
              <a:t>Shortage of </a:t>
            </a:r>
            <a:r>
              <a:rPr lang="en-US" sz="3600" dirty="0"/>
              <a:t>low-pass filter</a:t>
            </a:r>
          </a:p>
        </p:txBody>
      </p:sp>
      <p:sp>
        <p:nvSpPr>
          <p:cNvPr id="696" name="Google Shape;696;p36"/>
          <p:cNvSpPr txBox="1"/>
          <p:nvPr/>
        </p:nvSpPr>
        <p:spPr>
          <a:xfrm>
            <a:off x="5973923" y="1999042"/>
            <a:ext cx="3003641" cy="145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It does not know the signal is speech-dominant or noise-dominant.</a:t>
            </a:r>
          </a:p>
        </p:txBody>
      </p:sp>
      <p:sp>
        <p:nvSpPr>
          <p:cNvPr id="698" name="Google Shape;698;p36"/>
          <p:cNvSpPr txBox="1"/>
          <p:nvPr/>
        </p:nvSpPr>
        <p:spPr>
          <a:xfrm>
            <a:off x="232570" y="1492341"/>
            <a:ext cx="3109921" cy="83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Low-pass uses the same attenuation for the entire signal.</a:t>
            </a:r>
          </a:p>
        </p:txBody>
      </p:sp>
      <p:sp>
        <p:nvSpPr>
          <p:cNvPr id="699" name="Google Shape;699;p36"/>
          <p:cNvSpPr txBox="1"/>
          <p:nvPr/>
        </p:nvSpPr>
        <p:spPr>
          <a:xfrm>
            <a:off x="220383" y="2593746"/>
            <a:ext cx="3169958" cy="9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This can reduce hiss, but it can also remove useful speech detail.</a:t>
            </a:r>
          </a:p>
        </p:txBody>
      </p:sp>
      <p:cxnSp>
        <p:nvCxnSpPr>
          <p:cNvPr id="703" name="Google Shape;703;p36"/>
          <p:cNvCxnSpPr>
            <a:cxnSpLocks/>
          </p:cNvCxnSpPr>
          <p:nvPr/>
        </p:nvCxnSpPr>
        <p:spPr>
          <a:xfrm>
            <a:off x="3250491" y="1930626"/>
            <a:ext cx="1117525" cy="235005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05" name="Google Shape;705;p36"/>
          <p:cNvCxnSpPr>
            <a:cxnSpLocks/>
            <a:stCxn id="696" idx="1"/>
          </p:cNvCxnSpPr>
          <p:nvPr/>
        </p:nvCxnSpPr>
        <p:spPr>
          <a:xfrm rot="10800000">
            <a:off x="4374999" y="2628281"/>
            <a:ext cx="1598925" cy="99878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06" name="Google Shape;706;p36"/>
          <p:cNvCxnSpPr>
            <a:cxnSpLocks/>
          </p:cNvCxnSpPr>
          <p:nvPr/>
        </p:nvCxnSpPr>
        <p:spPr>
          <a:xfrm flipV="1">
            <a:off x="3423690" y="3094896"/>
            <a:ext cx="944326" cy="119099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07" name="Google Shape;707;p36"/>
          <p:cNvSpPr/>
          <p:nvPr/>
        </p:nvSpPr>
        <p:spPr>
          <a:xfrm>
            <a:off x="7746400" y="10664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6"/>
          <p:cNvSpPr/>
          <p:nvPr/>
        </p:nvSpPr>
        <p:spPr>
          <a:xfrm>
            <a:off x="7971832" y="91781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6"/>
          <p:cNvSpPr/>
          <p:nvPr/>
        </p:nvSpPr>
        <p:spPr>
          <a:xfrm>
            <a:off x="715100" y="1357700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7347FA-69F8-4E60-792A-C767D279189E}"/>
              </a:ext>
            </a:extLst>
          </p:cNvPr>
          <p:cNvSpPr/>
          <p:nvPr/>
        </p:nvSpPr>
        <p:spPr>
          <a:xfrm>
            <a:off x="1626452" y="3860757"/>
            <a:ext cx="5891097" cy="59976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This motivates a more flexible method.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0B529E4-8848-30D8-876F-B65AABCF80FB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86B64279-4636-8808-836F-9314127B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DCEFF4B9-4459-45BF-BDE9-D900099149DC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0BBD1F20-BDAA-3F83-E977-08A4156193DB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CA8D1B23-A672-BA0F-F702-16E620230F11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FBC380A5-D0AF-3E62-ABFA-38877B337B9C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7E32295E-6637-1060-DEBE-566A227EFF1D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9AEA5E1B-054C-6723-555E-6D988ED59E09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6ADDB5ED-1B83-1CE5-3B37-2EBBF03CB9A9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35EE15A7-6592-2E9E-4A49-31113A32BF6F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05E28E21-3758-0772-E966-E50AC6D13A20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6C72CCFF-A833-5654-3901-5CD5FEC972C6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A991D819-FACE-50B6-D511-D0BBE7E5CDAD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B186CAA3-9D00-D3A8-3283-4194B3EE7294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C0E3F8F3-99B0-BBCB-1D81-E7D2B5039C1C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F28225E8-17B4-84AB-2556-2E1D55D0FCF5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3D4458F6-BEE6-BFAF-F443-A08C55DB37D4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65DFAF51-621E-81B3-6269-01551124301A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E6F92475-193D-576E-5480-9EC8FA1ADAF3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23817DCD-97FC-FFCB-C340-1957FBC6D3F7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1807C3D1-285A-E42F-1E8A-F47E4498E082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4F636D69-B26B-8B18-E054-CBFADD585B18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98CDB604-DECA-4681-05D7-88284A25A5B1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5C47670E-1344-2CA2-14BE-BADF383ECA7D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C9AB1547-1B94-F19A-FD59-3A88F56FA866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82754845-ACBF-A75C-B608-1C2A1CEBB8F0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02CCD061-A328-1A4F-D8E3-74326C7A9A0B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F2DEB761-45EE-555B-BA91-D1CE93450A1D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7564A7DA-916B-00A9-838B-0178DE9A31BB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64D58343-EEDF-37ED-7703-0EAEE6F9DD8B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991227B4-925F-F0F9-305B-B1CD45513A3B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57B299A6-A16E-7D8D-441D-F636B9757B0B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51723E49-AA75-F572-81A5-A46389871C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93118" y="679350"/>
            <a:ext cx="1657832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F73EC8D8-5879-2E84-69E9-D44177F23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8981" y="2062296"/>
            <a:ext cx="5644618" cy="1009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CN" sz="3600" dirty="0"/>
              <a:t>From Fixed to Adaptive</a:t>
            </a:r>
            <a:endParaRPr lang="en-GB" sz="3600" dirty="0"/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5064D2EF-E362-E46F-4E42-09114D7C3FC6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0DE2F722-8078-3734-1D27-AAB7339258EF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B39B7AA7-EFB1-501C-E17B-FEF349322894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B0F0BAD0-E769-9349-8F53-ADBBCF91181C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69459A28-97E0-664A-F943-248BACAF8C1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0290" y="3773094"/>
            <a:ext cx="5242510" cy="665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altLang="zh-CN" sz="2400" dirty="0"/>
              <a:t>From fixed filters to adaptive time-frequency masks</a:t>
            </a:r>
            <a:endParaRPr lang="en-US" sz="2400" dirty="0"/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B4821E81-E36A-5021-21B3-10D470B20320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06051D3E-83A9-1374-A4E1-DEC4A0C6995A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5A30D704-9218-847F-3CA8-F063B0E6367E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879C7800-4329-D539-33FB-C062163828CC}"/>
              </a:ext>
            </a:extLst>
          </p:cNvPr>
          <p:cNvSpPr/>
          <p:nvPr/>
        </p:nvSpPr>
        <p:spPr>
          <a:xfrm>
            <a:off x="2822343" y="175083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E9AB27C2-7A95-F156-587B-124996A3E0A5}"/>
              </a:ext>
            </a:extLst>
          </p:cNvPr>
          <p:cNvSpPr/>
          <p:nvPr/>
        </p:nvSpPr>
        <p:spPr>
          <a:xfrm>
            <a:off x="2958818" y="162921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0BFCCD0A-B084-B899-48E1-1DC6A247457C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24212E8A-C9F5-C1A9-A611-2B37F4D71A0C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F5C3EB9F-1D22-2B6D-8F96-A2D5181F487B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5955550B-80EA-6C84-E957-07715CA1C2C5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42942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37"/>
          <p:cNvGrpSpPr/>
          <p:nvPr/>
        </p:nvGrpSpPr>
        <p:grpSpPr>
          <a:xfrm>
            <a:off x="4754850" y="3195960"/>
            <a:ext cx="3771900" cy="1412550"/>
            <a:chOff x="4754850" y="1600325"/>
            <a:chExt cx="3771900" cy="1412550"/>
          </a:xfrm>
        </p:grpSpPr>
        <p:sp>
          <p:nvSpPr>
            <p:cNvPr id="715" name="Google Shape;715;p37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17" name="Google Shape;717;p37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8" name="Google Shape;718;p37"/>
          <p:cNvGrpSpPr/>
          <p:nvPr/>
        </p:nvGrpSpPr>
        <p:grpSpPr>
          <a:xfrm>
            <a:off x="715100" y="3195863"/>
            <a:ext cx="3771900" cy="1412550"/>
            <a:chOff x="4754850" y="1600325"/>
            <a:chExt cx="3771900" cy="1412550"/>
          </a:xfrm>
        </p:grpSpPr>
        <p:sp>
          <p:nvSpPr>
            <p:cNvPr id="719" name="Google Shape;719;p37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7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1" name="Google Shape;721;p37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2" name="Google Shape;722;p37"/>
          <p:cNvGrpSpPr/>
          <p:nvPr/>
        </p:nvGrpSpPr>
        <p:grpSpPr>
          <a:xfrm>
            <a:off x="715100" y="1600313"/>
            <a:ext cx="3771900" cy="1412550"/>
            <a:chOff x="715100" y="1600313"/>
            <a:chExt cx="3771900" cy="1412550"/>
          </a:xfrm>
        </p:grpSpPr>
        <p:sp>
          <p:nvSpPr>
            <p:cNvPr id="723" name="Google Shape;723;p37"/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7"/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5" name="Google Shape;725;p37"/>
            <p:cNvCxnSpPr/>
            <p:nvPr/>
          </p:nvCxnSpPr>
          <p:spPr>
            <a:xfrm>
              <a:off x="715100" y="1783313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6" name="Google Shape;726;p37"/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727" name="Google Shape;727;p37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7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9" name="Google Shape;729;p37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30" name="Google Shape;730;p37"/>
          <p:cNvSpPr txBox="1">
            <a:spLocks noGrp="1"/>
          </p:cNvSpPr>
          <p:nvPr>
            <p:ph type="subTitle" idx="2"/>
          </p:nvPr>
        </p:nvSpPr>
        <p:spPr>
          <a:xfrm>
            <a:off x="5395806" y="3736119"/>
            <a:ext cx="3073499" cy="6395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Dominated noise means strong reduction.</a:t>
            </a:r>
            <a:endParaRPr lang="en-GB" sz="2000" dirty="0"/>
          </a:p>
        </p:txBody>
      </p:sp>
      <p:sp>
        <p:nvSpPr>
          <p:cNvPr id="731" name="Google Shape;731;p37"/>
          <p:cNvSpPr txBox="1">
            <a:spLocks noGrp="1"/>
          </p:cNvSpPr>
          <p:nvPr>
            <p:ph type="subTitle" idx="3"/>
          </p:nvPr>
        </p:nvSpPr>
        <p:spPr>
          <a:xfrm>
            <a:off x="1524938" y="2161665"/>
            <a:ext cx="2645350" cy="699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Specified gains to each frequency bin. </a:t>
            </a:r>
            <a:endParaRPr lang="en-GB" sz="2000" dirty="0"/>
          </a:p>
        </p:txBody>
      </p:sp>
      <p:sp>
        <p:nvSpPr>
          <p:cNvPr id="732" name="Google Shape;732;p37"/>
          <p:cNvSpPr txBox="1">
            <a:spLocks noGrp="1"/>
          </p:cNvSpPr>
          <p:nvPr>
            <p:ph type="subTitle" idx="4"/>
          </p:nvPr>
        </p:nvSpPr>
        <p:spPr>
          <a:xfrm>
            <a:off x="1384756" y="3707344"/>
            <a:ext cx="3081295" cy="625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Dominated speech means little attenuation.</a:t>
            </a:r>
            <a:endParaRPr lang="en-GB" sz="2000" dirty="0"/>
          </a:p>
        </p:txBody>
      </p:sp>
      <p:sp>
        <p:nvSpPr>
          <p:cNvPr id="733" name="Google Shape;733;p37"/>
          <p:cNvSpPr txBox="1">
            <a:spLocks noGrp="1"/>
          </p:cNvSpPr>
          <p:nvPr>
            <p:ph type="subTitle" idx="5"/>
          </p:nvPr>
        </p:nvSpPr>
        <p:spPr>
          <a:xfrm>
            <a:off x="5354948" y="2132115"/>
            <a:ext cx="3171801" cy="7092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The mask changes with both time and frequency. </a:t>
            </a:r>
            <a:endParaRPr lang="en-GB" sz="2000" dirty="0"/>
          </a:p>
        </p:txBody>
      </p:sp>
      <p:sp>
        <p:nvSpPr>
          <p:cNvPr id="734" name="Google Shape;734;p37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Frequency-Domain Masking</a:t>
            </a:r>
          </a:p>
        </p:txBody>
      </p:sp>
      <p:sp>
        <p:nvSpPr>
          <p:cNvPr id="735" name="Google Shape;735;p37"/>
          <p:cNvSpPr txBox="1">
            <a:spLocks noGrp="1"/>
          </p:cNvSpPr>
          <p:nvPr>
            <p:ph type="subTitle" idx="1"/>
          </p:nvPr>
        </p:nvSpPr>
        <p:spPr>
          <a:xfrm>
            <a:off x="5458917" y="3399360"/>
            <a:ext cx="2377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 ≈ 0</a:t>
            </a:r>
          </a:p>
        </p:txBody>
      </p:sp>
      <p:sp>
        <p:nvSpPr>
          <p:cNvPr id="736" name="Google Shape;736;p37"/>
          <p:cNvSpPr txBox="1">
            <a:spLocks noGrp="1"/>
          </p:cNvSpPr>
          <p:nvPr>
            <p:ph type="subTitle" idx="6"/>
          </p:nvPr>
        </p:nvSpPr>
        <p:spPr>
          <a:xfrm>
            <a:off x="1519662" y="3370480"/>
            <a:ext cx="2377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 ≈ 1</a:t>
            </a:r>
          </a:p>
        </p:txBody>
      </p:sp>
      <p:sp>
        <p:nvSpPr>
          <p:cNvPr id="737" name="Google Shape;737;p37"/>
          <p:cNvSpPr txBox="1">
            <a:spLocks noGrp="1"/>
          </p:cNvSpPr>
          <p:nvPr>
            <p:ph type="subTitle" idx="7"/>
          </p:nvPr>
        </p:nvSpPr>
        <p:spPr>
          <a:xfrm>
            <a:off x="1534869" y="1783314"/>
            <a:ext cx="25104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Y(f) = H(f)X(f)</a:t>
            </a:r>
            <a:endParaRPr lang="en-GB" dirty="0"/>
          </a:p>
        </p:txBody>
      </p:sp>
      <p:sp>
        <p:nvSpPr>
          <p:cNvPr id="738" name="Google Shape;738;p37"/>
          <p:cNvSpPr txBox="1">
            <a:spLocks noGrp="1"/>
          </p:cNvSpPr>
          <p:nvPr>
            <p:ph type="subTitle" idx="8"/>
          </p:nvPr>
        </p:nvSpPr>
        <p:spPr>
          <a:xfrm>
            <a:off x="5320991" y="1773637"/>
            <a:ext cx="36741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Y(t,f) = M(t,f)X(t,f)</a:t>
            </a:r>
            <a:endParaRPr lang="en-GB" dirty="0"/>
          </a:p>
        </p:txBody>
      </p:sp>
      <p:grpSp>
        <p:nvGrpSpPr>
          <p:cNvPr id="739" name="Google Shape;739;p37"/>
          <p:cNvGrpSpPr/>
          <p:nvPr/>
        </p:nvGrpSpPr>
        <p:grpSpPr>
          <a:xfrm>
            <a:off x="4852350" y="2111257"/>
            <a:ext cx="502899" cy="502899"/>
            <a:chOff x="858700" y="1967475"/>
            <a:chExt cx="605100" cy="605100"/>
          </a:xfrm>
        </p:grpSpPr>
        <p:sp>
          <p:nvSpPr>
            <p:cNvPr id="740" name="Google Shape;740;p37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7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37"/>
          <p:cNvGrpSpPr/>
          <p:nvPr/>
        </p:nvGrpSpPr>
        <p:grpSpPr>
          <a:xfrm>
            <a:off x="4858317" y="3759205"/>
            <a:ext cx="502800" cy="502800"/>
            <a:chOff x="7014301" y="2017350"/>
            <a:chExt cx="502800" cy="502800"/>
          </a:xfrm>
        </p:grpSpPr>
        <p:sp>
          <p:nvSpPr>
            <p:cNvPr id="743" name="Google Shape;743;p37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7"/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5" name="Google Shape;745;p37"/>
          <p:cNvGrpSpPr/>
          <p:nvPr/>
        </p:nvGrpSpPr>
        <p:grpSpPr>
          <a:xfrm>
            <a:off x="875506" y="3759205"/>
            <a:ext cx="502800" cy="502800"/>
            <a:chOff x="1627550" y="2017350"/>
            <a:chExt cx="502800" cy="502800"/>
          </a:xfrm>
        </p:grpSpPr>
        <p:sp>
          <p:nvSpPr>
            <p:cNvPr id="746" name="Google Shape;746;p37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7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" name="Google Shape;748;p37"/>
          <p:cNvGrpSpPr/>
          <p:nvPr/>
        </p:nvGrpSpPr>
        <p:grpSpPr>
          <a:xfrm>
            <a:off x="881661" y="2117905"/>
            <a:ext cx="502800" cy="502800"/>
            <a:chOff x="463701" y="2307675"/>
            <a:chExt cx="502800" cy="502800"/>
          </a:xfrm>
        </p:grpSpPr>
        <p:sp>
          <p:nvSpPr>
            <p:cNvPr id="749" name="Google Shape;749;p37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7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7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3" name="Google Shape;753;p37"/>
          <p:cNvSpPr/>
          <p:nvPr/>
        </p:nvSpPr>
        <p:spPr>
          <a:xfrm>
            <a:off x="715160" y="941661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7"/>
          <p:cNvSpPr/>
          <p:nvPr/>
        </p:nvSpPr>
        <p:spPr>
          <a:xfrm>
            <a:off x="7971748" y="1042351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B33FB6-622F-F109-F252-BFF32AEC32A7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3"/>
          <p:cNvSpPr txBox="1">
            <a:spLocks noGrp="1"/>
          </p:cNvSpPr>
          <p:nvPr>
            <p:ph type="title"/>
          </p:nvPr>
        </p:nvSpPr>
        <p:spPr>
          <a:xfrm>
            <a:off x="640860" y="548631"/>
            <a:ext cx="4776657" cy="12002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Short-time Fourier Transform</a:t>
            </a:r>
          </a:p>
        </p:txBody>
      </p:sp>
      <p:grpSp>
        <p:nvGrpSpPr>
          <p:cNvPr id="897" name="Google Shape;897;p43"/>
          <p:cNvGrpSpPr/>
          <p:nvPr/>
        </p:nvGrpSpPr>
        <p:grpSpPr>
          <a:xfrm>
            <a:off x="5693294" y="1358847"/>
            <a:ext cx="1646100" cy="1188900"/>
            <a:chOff x="7403363" y="1047512"/>
            <a:chExt cx="1646100" cy="1188900"/>
          </a:xfrm>
        </p:grpSpPr>
        <p:sp>
          <p:nvSpPr>
            <p:cNvPr id="898" name="Google Shape;898;p43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00" name="Google Shape;900;p43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01" name="Google Shape;901;p43"/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/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/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4" name="Google Shape;904;p43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905" name="Google Shape;905;p43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3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7" name="Google Shape;907;p43"/>
          <p:cNvGrpSpPr/>
          <p:nvPr/>
        </p:nvGrpSpPr>
        <p:grpSpPr>
          <a:xfrm>
            <a:off x="8177451" y="4105603"/>
            <a:ext cx="502899" cy="502899"/>
            <a:chOff x="858700" y="1967475"/>
            <a:chExt cx="605100" cy="605100"/>
          </a:xfrm>
        </p:grpSpPr>
        <p:sp>
          <p:nvSpPr>
            <p:cNvPr id="908" name="Google Shape;908;p4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3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43"/>
          <p:cNvGrpSpPr/>
          <p:nvPr/>
        </p:nvGrpSpPr>
        <p:grpSpPr>
          <a:xfrm>
            <a:off x="8177500" y="3419800"/>
            <a:ext cx="502800" cy="502800"/>
            <a:chOff x="1627550" y="2017350"/>
            <a:chExt cx="502800" cy="502800"/>
          </a:xfrm>
        </p:grpSpPr>
        <p:sp>
          <p:nvSpPr>
            <p:cNvPr id="911" name="Google Shape;911;p43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3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3" name="Google Shape;913;p43"/>
          <p:cNvGrpSpPr/>
          <p:nvPr/>
        </p:nvGrpSpPr>
        <p:grpSpPr>
          <a:xfrm>
            <a:off x="8177501" y="2644294"/>
            <a:ext cx="629846" cy="592514"/>
            <a:chOff x="463701" y="2217961"/>
            <a:chExt cx="629846" cy="592514"/>
          </a:xfrm>
        </p:grpSpPr>
        <p:sp>
          <p:nvSpPr>
            <p:cNvPr id="914" name="Google Shape;914;p43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3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3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7" name="Google Shape;917;p43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918" name="Google Shape;918;p43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3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20" name="Google Shape;920;p43"/>
          <p:cNvGrpSpPr/>
          <p:nvPr/>
        </p:nvGrpSpPr>
        <p:grpSpPr>
          <a:xfrm>
            <a:off x="5522657" y="2687254"/>
            <a:ext cx="1827475" cy="1051350"/>
            <a:chOff x="6161988" y="3104373"/>
            <a:chExt cx="1827475" cy="1051350"/>
          </a:xfrm>
        </p:grpSpPr>
        <p:grpSp>
          <p:nvGrpSpPr>
            <p:cNvPr id="921" name="Google Shape;921;p43"/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922" name="Google Shape;922;p43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23" name="Google Shape;923;p43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924" name="Google Shape;924;p43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5" name="Google Shape;925;p43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26" name="Google Shape;926;p43"/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927" name="Google Shape;927;p43"/>
              <p:cNvSpPr/>
              <p:nvPr/>
            </p:nvSpPr>
            <p:spPr>
              <a:xfrm>
                <a:off x="6343699" y="3524445"/>
                <a:ext cx="776865" cy="54206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48" extrusionOk="0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3"/>
              <p:cNvSpPr/>
              <p:nvPr/>
            </p:nvSpPr>
            <p:spPr>
              <a:xfrm>
                <a:off x="6343699" y="3651035"/>
                <a:ext cx="777147" cy="55131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371" extrusionOk="0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3"/>
              <p:cNvSpPr/>
              <p:nvPr/>
            </p:nvSpPr>
            <p:spPr>
              <a:xfrm>
                <a:off x="6343699" y="3778469"/>
                <a:ext cx="776865" cy="55172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72" extrusionOk="0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3"/>
              <p:cNvSpPr/>
              <p:nvPr/>
            </p:nvSpPr>
            <p:spPr>
              <a:xfrm>
                <a:off x="7286224" y="3416675"/>
                <a:ext cx="413947" cy="509050"/>
              </a:xfrm>
              <a:custGeom>
                <a:avLst/>
                <a:gdLst/>
                <a:ahLst/>
                <a:cxnLst/>
                <a:rect l="l" t="t" r="r" b="b"/>
                <a:pathLst>
                  <a:path w="10294" h="12659" extrusionOk="0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31" name="Google Shape;931;p43"/>
          <p:cNvSpPr/>
          <p:nvPr/>
        </p:nvSpPr>
        <p:spPr>
          <a:xfrm>
            <a:off x="5047325" y="10664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43"/>
          <p:cNvSpPr/>
          <p:nvPr/>
        </p:nvSpPr>
        <p:spPr>
          <a:xfrm>
            <a:off x="5272757" y="91781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4" name="Google Shape;934;p43"/>
          <p:cNvGrpSpPr/>
          <p:nvPr/>
        </p:nvGrpSpPr>
        <p:grpSpPr>
          <a:xfrm>
            <a:off x="8118400" y="475791"/>
            <a:ext cx="621000" cy="621000"/>
            <a:chOff x="416300" y="4058211"/>
            <a:chExt cx="621000" cy="621000"/>
          </a:xfrm>
        </p:grpSpPr>
        <p:sp>
          <p:nvSpPr>
            <p:cNvPr id="935" name="Google Shape;935;p4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049A04AD-2EEB-5F5A-3EBE-0DC42E577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56" y="1662708"/>
            <a:ext cx="5377344" cy="294579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1DAC460-687D-D7BC-E947-5897B34C8704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8"/>
          <p:cNvSpPr txBox="1">
            <a:spLocks noGrp="1"/>
          </p:cNvSpPr>
          <p:nvPr>
            <p:ph type="title"/>
          </p:nvPr>
        </p:nvSpPr>
        <p:spPr>
          <a:xfrm>
            <a:off x="715050" y="738508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Frequency-domain mask</a:t>
            </a:r>
          </a:p>
        </p:txBody>
      </p:sp>
      <p:sp>
        <p:nvSpPr>
          <p:cNvPr id="777" name="Google Shape;777;p38"/>
          <p:cNvSpPr/>
          <p:nvPr/>
        </p:nvSpPr>
        <p:spPr>
          <a:xfrm>
            <a:off x="410886" y="133240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B6A7753-83A6-912C-DA45-AF49279803F7}"/>
              </a:ext>
            </a:extLst>
          </p:cNvPr>
          <p:cNvGrpSpPr/>
          <p:nvPr/>
        </p:nvGrpSpPr>
        <p:grpSpPr>
          <a:xfrm>
            <a:off x="5330644" y="1880191"/>
            <a:ext cx="3410756" cy="2262318"/>
            <a:chOff x="2342106" y="5143500"/>
            <a:chExt cx="5484901" cy="1221987"/>
          </a:xfrm>
        </p:grpSpPr>
        <p:sp>
          <p:nvSpPr>
            <p:cNvPr id="13" name="Google Shape;549;p32">
              <a:extLst>
                <a:ext uri="{FF2B5EF4-FFF2-40B4-BE49-F238E27FC236}">
                  <a16:creationId xmlns:a16="http://schemas.microsoft.com/office/drawing/2014/main" id="{EBEF05A1-9B87-93F0-D086-23BA6E2BF6F7}"/>
                </a:ext>
              </a:extLst>
            </p:cNvPr>
            <p:cNvSpPr/>
            <p:nvPr/>
          </p:nvSpPr>
          <p:spPr>
            <a:xfrm>
              <a:off x="2342107" y="5143500"/>
              <a:ext cx="5484900" cy="122198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latin typeface="Karla" pitchFamily="2" charset="0"/>
                </a:rPr>
                <a:t>Frequency-domain masking makes local decisions and can better balance noise reduction with speech clarity.</a:t>
              </a:r>
              <a:endParaRPr sz="2000" b="1" dirty="0">
                <a:latin typeface="Karla" pitchFamily="2" charset="0"/>
              </a:endParaRPr>
            </a:p>
          </p:txBody>
        </p:sp>
        <p:cxnSp>
          <p:nvCxnSpPr>
            <p:cNvPr id="14" name="Google Shape;550;p32">
              <a:extLst>
                <a:ext uri="{FF2B5EF4-FFF2-40B4-BE49-F238E27FC236}">
                  <a16:creationId xmlns:a16="http://schemas.microsoft.com/office/drawing/2014/main" id="{35E4B20D-B8B9-B647-F835-6CF164B64883}"/>
                </a:ext>
              </a:extLst>
            </p:cNvPr>
            <p:cNvCxnSpPr/>
            <p:nvPr/>
          </p:nvCxnSpPr>
          <p:spPr>
            <a:xfrm>
              <a:off x="2342106" y="5351333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58151D8-CC66-EEE5-BB56-7BC2A9BE8D41}"/>
              </a:ext>
            </a:extLst>
          </p:cNvPr>
          <p:cNvGrpSpPr/>
          <p:nvPr/>
        </p:nvGrpSpPr>
        <p:grpSpPr>
          <a:xfrm>
            <a:off x="457543" y="1582805"/>
            <a:ext cx="4761002" cy="3192394"/>
            <a:chOff x="1006280" y="1829164"/>
            <a:chExt cx="3316338" cy="1837672"/>
          </a:xfrm>
        </p:grpSpPr>
        <p:grpSp>
          <p:nvGrpSpPr>
            <p:cNvPr id="2" name="Google Shape;1014;p46">
              <a:extLst>
                <a:ext uri="{FF2B5EF4-FFF2-40B4-BE49-F238E27FC236}">
                  <a16:creationId xmlns:a16="http://schemas.microsoft.com/office/drawing/2014/main" id="{161F2890-3F7B-F293-35DA-816E974F9BAF}"/>
                </a:ext>
              </a:extLst>
            </p:cNvPr>
            <p:cNvGrpSpPr/>
            <p:nvPr/>
          </p:nvGrpSpPr>
          <p:grpSpPr>
            <a:xfrm>
              <a:off x="1006280" y="1829164"/>
              <a:ext cx="3316338" cy="1837672"/>
              <a:chOff x="4754850" y="887475"/>
              <a:chExt cx="3763400" cy="3725700"/>
            </a:xfrm>
          </p:grpSpPr>
          <p:sp>
            <p:nvSpPr>
              <p:cNvPr id="3" name="Google Shape;1015;p46">
                <a:extLst>
                  <a:ext uri="{FF2B5EF4-FFF2-40B4-BE49-F238E27FC236}">
                    <a16:creationId xmlns:a16="http://schemas.microsoft.com/office/drawing/2014/main" id="{8DBAF43E-8337-35E9-88D3-6BBD717A7006}"/>
                  </a:ext>
                </a:extLst>
              </p:cNvPr>
              <p:cNvSpPr/>
              <p:nvPr/>
            </p:nvSpPr>
            <p:spPr>
              <a:xfrm>
                <a:off x="4844450" y="978975"/>
                <a:ext cx="3673800" cy="36342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" name="Google Shape;1016;p46">
                <a:extLst>
                  <a:ext uri="{FF2B5EF4-FFF2-40B4-BE49-F238E27FC236}">
                    <a16:creationId xmlns:a16="http://schemas.microsoft.com/office/drawing/2014/main" id="{C300274A-24EE-9A18-47E8-BB06213C07C2}"/>
                  </a:ext>
                </a:extLst>
              </p:cNvPr>
              <p:cNvGrpSpPr/>
              <p:nvPr/>
            </p:nvGrpSpPr>
            <p:grpSpPr>
              <a:xfrm>
                <a:off x="4754850" y="887475"/>
                <a:ext cx="3674404" cy="3616200"/>
                <a:chOff x="4754850" y="887475"/>
                <a:chExt cx="3674404" cy="3616200"/>
              </a:xfrm>
            </p:grpSpPr>
            <p:sp>
              <p:nvSpPr>
                <p:cNvPr id="5" name="Google Shape;1017;p46">
                  <a:extLst>
                    <a:ext uri="{FF2B5EF4-FFF2-40B4-BE49-F238E27FC236}">
                      <a16:creationId xmlns:a16="http://schemas.microsoft.com/office/drawing/2014/main" id="{1DBB5F50-8BD9-7815-B1D3-8DAEE27A3C05}"/>
                    </a:ext>
                  </a:extLst>
                </p:cNvPr>
                <p:cNvSpPr/>
                <p:nvPr/>
              </p:nvSpPr>
              <p:spPr>
                <a:xfrm>
                  <a:off x="4754850" y="887475"/>
                  <a:ext cx="3673733" cy="36162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" name="Google Shape;1018;p46">
                  <a:extLst>
                    <a:ext uri="{FF2B5EF4-FFF2-40B4-BE49-F238E27FC236}">
                      <a16:creationId xmlns:a16="http://schemas.microsoft.com/office/drawing/2014/main" id="{A189B8BA-F18B-8685-A750-FF58BEF9A217}"/>
                    </a:ext>
                  </a:extLst>
                </p:cNvPr>
                <p:cNvCxnSpPr/>
                <p:nvPr/>
              </p:nvCxnSpPr>
              <p:spPr>
                <a:xfrm>
                  <a:off x="4755154" y="1253333"/>
                  <a:ext cx="36741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7" name="Google Shape;1019;p46">
                  <a:extLst>
                    <a:ext uri="{FF2B5EF4-FFF2-40B4-BE49-F238E27FC236}">
                      <a16:creationId xmlns:a16="http://schemas.microsoft.com/office/drawing/2014/main" id="{407C3CBF-F81B-7985-62B6-EFC2E0DA38B2}"/>
                    </a:ext>
                  </a:extLst>
                </p:cNvPr>
                <p:cNvGrpSpPr/>
                <p:nvPr/>
              </p:nvGrpSpPr>
              <p:grpSpPr>
                <a:xfrm>
                  <a:off x="7492324" y="978977"/>
                  <a:ext cx="845101" cy="183000"/>
                  <a:chOff x="1605849" y="363963"/>
                  <a:chExt cx="845101" cy="183000"/>
                </a:xfrm>
              </p:grpSpPr>
              <p:sp>
                <p:nvSpPr>
                  <p:cNvPr id="8" name="Google Shape;1020;p46">
                    <a:extLst>
                      <a:ext uri="{FF2B5EF4-FFF2-40B4-BE49-F238E27FC236}">
                        <a16:creationId xmlns:a16="http://schemas.microsoft.com/office/drawing/2014/main" id="{C65AE22C-596B-D949-A7D7-267653FFDFF5}"/>
                      </a:ext>
                    </a:extLst>
                  </p:cNvPr>
                  <p:cNvSpPr/>
                  <p:nvPr/>
                </p:nvSpPr>
                <p:spPr>
                  <a:xfrm>
                    <a:off x="1951450" y="367563"/>
                    <a:ext cx="179400" cy="179400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" name="Google Shape;1021;p46">
                    <a:extLst>
                      <a:ext uri="{FF2B5EF4-FFF2-40B4-BE49-F238E27FC236}">
                        <a16:creationId xmlns:a16="http://schemas.microsoft.com/office/drawing/2014/main" id="{0A606DC7-390B-84C1-FAF1-5E30A8A2D9B2}"/>
                      </a:ext>
                    </a:extLst>
                  </p:cNvPr>
                  <p:cNvGrpSpPr/>
                  <p:nvPr/>
                </p:nvGrpSpPr>
                <p:grpSpPr>
                  <a:xfrm>
                    <a:off x="2267950" y="363963"/>
                    <a:ext cx="183000" cy="183000"/>
                    <a:chOff x="8225400" y="367488"/>
                    <a:chExt cx="183000" cy="183000"/>
                  </a:xfrm>
                </p:grpSpPr>
                <p:cxnSp>
                  <p:nvCxnSpPr>
                    <p:cNvPr id="11" name="Google Shape;1022;p46">
                      <a:extLst>
                        <a:ext uri="{FF2B5EF4-FFF2-40B4-BE49-F238E27FC236}">
                          <a16:creationId xmlns:a16="http://schemas.microsoft.com/office/drawing/2014/main" id="{F00B95F3-0C89-C8C3-8E8A-0C39C5CD98A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12" name="Google Shape;1023;p46">
                      <a:extLst>
                        <a:ext uri="{FF2B5EF4-FFF2-40B4-BE49-F238E27FC236}">
                          <a16:creationId xmlns:a16="http://schemas.microsoft.com/office/drawing/2014/main" id="{44C02A36-6391-D750-C021-8B4A567D9AF8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8225400" y="367488"/>
                      <a:ext cx="183000" cy="183000"/>
                    </a:xfrm>
                    <a:prstGeom prst="straightConnector1">
                      <a:avLst/>
                    </a:prstGeom>
                    <a:noFill/>
                    <a:ln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cxnSp>
                <p:nvCxnSpPr>
                  <p:cNvPr id="10" name="Google Shape;1024;p46">
                    <a:extLst>
                      <a:ext uri="{FF2B5EF4-FFF2-40B4-BE49-F238E27FC236}">
                        <a16:creationId xmlns:a16="http://schemas.microsoft.com/office/drawing/2014/main" id="{C2AAC795-9FA3-3151-1F6F-618BADE4D4AC}"/>
                      </a:ext>
                    </a:extLst>
                  </p:cNvPr>
                  <p:cNvCxnSpPr/>
                  <p:nvPr/>
                </p:nvCxnSpPr>
                <p:spPr>
                  <a:xfrm>
                    <a:off x="1605849" y="546963"/>
                    <a:ext cx="208500" cy="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EDFD39E6-48EE-D06A-4AFB-0B6649692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928" y="2024552"/>
              <a:ext cx="3204026" cy="1536019"/>
            </a:xfrm>
            <a:prstGeom prst="rect">
              <a:avLst/>
            </a:prstGeom>
          </p:spPr>
        </p:pic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98456AB-59E2-7981-5894-03E28EA1F08F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3E58A832-CA3A-B526-9F80-E64EAAB5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39">
            <a:extLst>
              <a:ext uri="{FF2B5EF4-FFF2-40B4-BE49-F238E27FC236}">
                <a16:creationId xmlns:a16="http://schemas.microsoft.com/office/drawing/2014/main" id="{E47F5033-B90C-9F95-A150-651648BE23A2}"/>
              </a:ext>
            </a:extLst>
          </p:cNvPr>
          <p:cNvGrpSpPr/>
          <p:nvPr/>
        </p:nvGrpSpPr>
        <p:grpSpPr>
          <a:xfrm>
            <a:off x="819230" y="2768331"/>
            <a:ext cx="3293489" cy="2029960"/>
            <a:chOff x="715100" y="1600325"/>
            <a:chExt cx="2418900" cy="1412700"/>
          </a:xfrm>
        </p:grpSpPr>
        <p:sp>
          <p:nvSpPr>
            <p:cNvPr id="793" name="Google Shape;793;p39">
              <a:extLst>
                <a:ext uri="{FF2B5EF4-FFF2-40B4-BE49-F238E27FC236}">
                  <a16:creationId xmlns:a16="http://schemas.microsoft.com/office/drawing/2014/main" id="{8CAC339C-25EB-4590-AC85-68AC9684F4CF}"/>
                </a:ext>
              </a:extLst>
            </p:cNvPr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4" name="Google Shape;794;p39">
              <a:extLst>
                <a:ext uri="{FF2B5EF4-FFF2-40B4-BE49-F238E27FC236}">
                  <a16:creationId xmlns:a16="http://schemas.microsoft.com/office/drawing/2014/main" id="{C9D74590-E76D-32B5-0AFF-15D6314AB32D}"/>
                </a:ext>
              </a:extLst>
            </p:cNvPr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795" name="Google Shape;795;p39">
                <a:extLst>
                  <a:ext uri="{FF2B5EF4-FFF2-40B4-BE49-F238E27FC236}">
                    <a16:creationId xmlns:a16="http://schemas.microsoft.com/office/drawing/2014/main" id="{B96B173F-B116-D06D-7521-D7D6E331B42E}"/>
                  </a:ext>
                </a:extLst>
              </p:cNvPr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96" name="Google Shape;796;p39">
                <a:extLst>
                  <a:ext uri="{FF2B5EF4-FFF2-40B4-BE49-F238E27FC236}">
                    <a16:creationId xmlns:a16="http://schemas.microsoft.com/office/drawing/2014/main" id="{3713A496-3184-63CB-71B7-42715F33D56E}"/>
                  </a:ext>
                </a:extLst>
              </p:cNvPr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12" name="Google Shape;812;p39">
            <a:extLst>
              <a:ext uri="{FF2B5EF4-FFF2-40B4-BE49-F238E27FC236}">
                <a16:creationId xmlns:a16="http://schemas.microsoft.com/office/drawing/2014/main" id="{C53F3434-3AD9-65B5-232D-F7A57238ABB7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796314" y="2753524"/>
            <a:ext cx="3191822" cy="7563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Adaptive </a:t>
            </a:r>
            <a:r>
              <a:rPr lang="en-GB" dirty="0" err="1"/>
              <a:t>Behavior</a:t>
            </a:r>
            <a:endParaRPr lang="en-GB" dirty="0"/>
          </a:p>
        </p:txBody>
      </p:sp>
      <p:sp>
        <p:nvSpPr>
          <p:cNvPr id="818" name="Google Shape;818;p39">
            <a:extLst>
              <a:ext uri="{FF2B5EF4-FFF2-40B4-BE49-F238E27FC236}">
                <a16:creationId xmlns:a16="http://schemas.microsoft.com/office/drawing/2014/main" id="{B3EB9F4F-F7C3-68D2-2873-69CA7D278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250" y="672019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Wiener-Style Mask</a:t>
            </a:r>
          </a:p>
        </p:txBody>
      </p:sp>
      <p:sp>
        <p:nvSpPr>
          <p:cNvPr id="821" name="Google Shape;821;p39">
            <a:extLst>
              <a:ext uri="{FF2B5EF4-FFF2-40B4-BE49-F238E27FC236}">
                <a16:creationId xmlns:a16="http://schemas.microsoft.com/office/drawing/2014/main" id="{D45C617F-3737-0441-09DA-DD6058257DC2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828795" y="3333865"/>
            <a:ext cx="3168906" cy="1210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Different frequencies receive different gain values instead of using one fixed cutoff.</a:t>
            </a:r>
            <a:endParaRPr lang="en-GB" sz="2000" dirty="0"/>
          </a:p>
        </p:txBody>
      </p:sp>
      <p:sp>
        <p:nvSpPr>
          <p:cNvPr id="825" name="Google Shape;825;p39">
            <a:extLst>
              <a:ext uri="{FF2B5EF4-FFF2-40B4-BE49-F238E27FC236}">
                <a16:creationId xmlns:a16="http://schemas.microsoft.com/office/drawing/2014/main" id="{4547BF5E-C74C-C7D2-3C17-3F17409F4F20}"/>
              </a:ext>
            </a:extLst>
          </p:cNvPr>
          <p:cNvSpPr/>
          <p:nvPr/>
        </p:nvSpPr>
        <p:spPr>
          <a:xfrm>
            <a:off x="7971700" y="10816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9">
            <a:extLst>
              <a:ext uri="{FF2B5EF4-FFF2-40B4-BE49-F238E27FC236}">
                <a16:creationId xmlns:a16="http://schemas.microsoft.com/office/drawing/2014/main" id="{A1178C14-5770-8402-CFFE-EAF574BF9FAB}"/>
              </a:ext>
            </a:extLst>
          </p:cNvPr>
          <p:cNvSpPr/>
          <p:nvPr/>
        </p:nvSpPr>
        <p:spPr>
          <a:xfrm>
            <a:off x="7739360" y="932973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9">
            <a:extLst>
              <a:ext uri="{FF2B5EF4-FFF2-40B4-BE49-F238E27FC236}">
                <a16:creationId xmlns:a16="http://schemas.microsoft.com/office/drawing/2014/main" id="{CBB83522-0DA8-5D29-C04B-CEA5E89CD87A}"/>
              </a:ext>
            </a:extLst>
          </p:cNvPr>
          <p:cNvSpPr/>
          <p:nvPr/>
        </p:nvSpPr>
        <p:spPr>
          <a:xfrm>
            <a:off x="715160" y="125272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5829E53-963F-B4D4-70C3-32D4075ED073}"/>
                  </a:ext>
                </a:extLst>
              </p:cNvPr>
              <p:cNvSpPr/>
              <p:nvPr/>
            </p:nvSpPr>
            <p:spPr>
              <a:xfrm>
                <a:off x="2186047" y="1498792"/>
                <a:ext cx="4771906" cy="1032508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CN" sz="2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sz="2200" b="0" i="1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CN" sz="2200" i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peech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𝑠𝑝𝑒𝑒𝑐h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altLang="zh-CN" sz="2200" i="1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oise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200" b="0" i="1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200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5829E53-963F-B4D4-70C3-32D4075ED0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047" y="1498792"/>
                <a:ext cx="4771906" cy="10325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oogle Shape;792;p39">
            <a:extLst>
              <a:ext uri="{FF2B5EF4-FFF2-40B4-BE49-F238E27FC236}">
                <a16:creationId xmlns:a16="http://schemas.microsoft.com/office/drawing/2014/main" id="{322CC100-8ADF-3E12-938E-D7920DCE8A4C}"/>
              </a:ext>
            </a:extLst>
          </p:cNvPr>
          <p:cNvGrpSpPr/>
          <p:nvPr/>
        </p:nvGrpSpPr>
        <p:grpSpPr>
          <a:xfrm>
            <a:off x="5178780" y="2768331"/>
            <a:ext cx="3293489" cy="2029960"/>
            <a:chOff x="715100" y="1600325"/>
            <a:chExt cx="2418900" cy="1412700"/>
          </a:xfrm>
        </p:grpSpPr>
        <p:sp>
          <p:nvSpPr>
            <p:cNvPr id="7" name="Google Shape;793;p39">
              <a:extLst>
                <a:ext uri="{FF2B5EF4-FFF2-40B4-BE49-F238E27FC236}">
                  <a16:creationId xmlns:a16="http://schemas.microsoft.com/office/drawing/2014/main" id="{27EC57A5-ED35-1BC8-25CC-A24715BECD8E}"/>
                </a:ext>
              </a:extLst>
            </p:cNvPr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794;p39">
              <a:extLst>
                <a:ext uri="{FF2B5EF4-FFF2-40B4-BE49-F238E27FC236}">
                  <a16:creationId xmlns:a16="http://schemas.microsoft.com/office/drawing/2014/main" id="{5818264D-12BB-9D2D-24A4-6D1FFF8CE361}"/>
                </a:ext>
              </a:extLst>
            </p:cNvPr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9" name="Google Shape;795;p39">
                <a:extLst>
                  <a:ext uri="{FF2B5EF4-FFF2-40B4-BE49-F238E27FC236}">
                    <a16:creationId xmlns:a16="http://schemas.microsoft.com/office/drawing/2014/main" id="{CCE521B8-48B6-C915-CE95-8CA9CBE972E6}"/>
                  </a:ext>
                </a:extLst>
              </p:cNvPr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" name="Google Shape;796;p39">
                <a:extLst>
                  <a:ext uri="{FF2B5EF4-FFF2-40B4-BE49-F238E27FC236}">
                    <a16:creationId xmlns:a16="http://schemas.microsoft.com/office/drawing/2014/main" id="{63FBE480-9951-7CD6-E216-D544E4F11F2D}"/>
                  </a:ext>
                </a:extLst>
              </p:cNvPr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" name="Google Shape;812;p39">
            <a:extLst>
              <a:ext uri="{FF2B5EF4-FFF2-40B4-BE49-F238E27FC236}">
                <a16:creationId xmlns:a16="http://schemas.microsoft.com/office/drawing/2014/main" id="{032773FC-6DF0-3D18-4D88-F2B38CE3F889}"/>
              </a:ext>
            </a:extLst>
          </p:cNvPr>
          <p:cNvSpPr txBox="1">
            <a:spLocks/>
          </p:cNvSpPr>
          <p:nvPr/>
        </p:nvSpPr>
        <p:spPr>
          <a:xfrm>
            <a:off x="5155864" y="2753524"/>
            <a:ext cx="3191822" cy="756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/>
            <a:r>
              <a:rPr lang="en-GB" altLang="zh-CN" dirty="0"/>
              <a:t>Practical Benefits</a:t>
            </a:r>
          </a:p>
        </p:txBody>
      </p:sp>
      <p:sp>
        <p:nvSpPr>
          <p:cNvPr id="12" name="Google Shape;821;p39">
            <a:extLst>
              <a:ext uri="{FF2B5EF4-FFF2-40B4-BE49-F238E27FC236}">
                <a16:creationId xmlns:a16="http://schemas.microsoft.com/office/drawing/2014/main" id="{FC4B8E3F-DEDE-B0EF-30CC-4F68D386EDD9}"/>
              </a:ext>
            </a:extLst>
          </p:cNvPr>
          <p:cNvSpPr txBox="1">
            <a:spLocks/>
          </p:cNvSpPr>
          <p:nvPr/>
        </p:nvSpPr>
        <p:spPr>
          <a:xfrm>
            <a:off x="5188345" y="3333865"/>
            <a:ext cx="3168906" cy="121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lvl="0" indent="0"/>
            <a:r>
              <a:rPr lang="en-US" altLang="zh-CN" sz="2000" dirty="0"/>
              <a:t>This often gives better clarity than simple low-pass filtering while still reducing hiss noise</a:t>
            </a:r>
            <a:endParaRPr lang="en-GB" altLang="zh-CN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DACBB7-03D6-7EB0-D1C3-8E6515D26FA9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579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C90A3685-B38B-7559-3930-C2FE437BA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FA9998F0-79D0-A84C-F7F2-6F3BE3A6A8C1}"/>
              </a:ext>
            </a:extLst>
          </p:cNvPr>
          <p:cNvGrpSpPr/>
          <p:nvPr/>
        </p:nvGrpSpPr>
        <p:grpSpPr>
          <a:xfrm rot="-5400000">
            <a:off x="8432884" y="1398158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C4283AAA-B1E0-9AEA-3AFC-CAF60F0541EB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B7E31BBD-A258-89FB-2EA3-937CF75BB804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FEC77291-D669-FB2C-2F26-7DAC71B161A6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4E164DEC-E0BC-298A-2164-0EC40AF605A3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A1FA93AD-CA67-6F87-851F-3B50BC266595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BD9A970E-A1F0-3A94-D316-1C33F3D1F334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50A28149-8C91-52AC-B895-A76942CADF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5699" y="1058168"/>
            <a:ext cx="5927873" cy="1009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CN" sz="2800" dirty="0"/>
              <a:t>Improved method workflow</a:t>
            </a:r>
          </a:p>
        </p:txBody>
      </p: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B9BAAFC9-F1E6-B504-9E4E-22AA7CAEC1B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328778" y="4858602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altLang="zh-CN" dirty="0"/>
              <a:t>From fixed filters to adaptive time-frequency masks</a:t>
            </a:r>
            <a:endParaRPr lang="en-US" dirty="0"/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8C18FC6A-66BC-2889-DAAE-BC608CAA5F0F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DB291150-1229-8D44-7B01-BF6BAE5ACA69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379CB6D0-22A7-8A70-77B8-EA6392D3E6CA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FEE6A272-1BA2-CF30-CF6C-0EB69E220A55}"/>
              </a:ext>
            </a:extLst>
          </p:cNvPr>
          <p:cNvSpPr/>
          <p:nvPr/>
        </p:nvSpPr>
        <p:spPr>
          <a:xfrm>
            <a:off x="2413043" y="1179308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3B296453-DA25-1B85-4542-8BC42292AEEE}"/>
              </a:ext>
            </a:extLst>
          </p:cNvPr>
          <p:cNvSpPr/>
          <p:nvPr/>
        </p:nvSpPr>
        <p:spPr>
          <a:xfrm>
            <a:off x="2203092" y="873603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43A8B34D-2EA4-91C9-B07E-D8E18362E845}"/>
              </a:ext>
            </a:extLst>
          </p:cNvPr>
          <p:cNvSpPr/>
          <p:nvPr/>
        </p:nvSpPr>
        <p:spPr>
          <a:xfrm>
            <a:off x="1627074" y="875166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061C7276-E890-5457-2F9F-3ED45346534C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E154673C-2BF3-50D1-1B55-BC6B3B99B3D5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EB99CA2F-5764-2C45-75D8-89E1C42602F3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781A6E25-A158-165F-3E54-40AA6DF82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697" y="1623782"/>
            <a:ext cx="800000" cy="761905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55835940-2E2D-2DCE-F03D-6A3683544CB5}"/>
              </a:ext>
            </a:extLst>
          </p:cNvPr>
          <p:cNvSpPr/>
          <p:nvPr/>
        </p:nvSpPr>
        <p:spPr>
          <a:xfrm>
            <a:off x="1688288" y="2423124"/>
            <a:ext cx="1040590" cy="185223"/>
          </a:xfrm>
          <a:prstGeom prst="roundRect">
            <a:avLst/>
          </a:prstGeom>
          <a:solidFill>
            <a:srgbClr val="F9E0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ysClr val="windowText" lastClr="000000"/>
                </a:solidFill>
                <a:latin typeface="Karla" pitchFamily="2" charset="0"/>
              </a:rPr>
              <a:t>noisy voice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A7251F2-2B84-FD50-605A-1B2D8E04E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714" y="1898160"/>
            <a:ext cx="419048" cy="22857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F9AB500-5054-1AF7-9D45-993F00C647D4}"/>
              </a:ext>
            </a:extLst>
          </p:cNvPr>
          <p:cNvSpPr txBox="1"/>
          <p:nvPr/>
        </p:nvSpPr>
        <p:spPr>
          <a:xfrm>
            <a:off x="1595699" y="2751744"/>
            <a:ext cx="1225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Karla" pitchFamily="2" charset="0"/>
              </a:rPr>
              <a:t>Input signal</a:t>
            </a:r>
          </a:p>
          <a:p>
            <a:r>
              <a:rPr lang="en-US" altLang="zh-CN" sz="1200" dirty="0">
                <a:latin typeface="Karla" pitchFamily="2" charset="0"/>
              </a:rPr>
              <a:t>(speech + hiss)</a:t>
            </a:r>
            <a:endParaRPr lang="zh-CN" altLang="en-US" sz="1200" dirty="0">
              <a:latin typeface="Karla" pitchFamily="2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7E905E5-5417-5ACD-6871-883338C8D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1646" y="1647753"/>
            <a:ext cx="723810" cy="714286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F9DA317-89A4-1E86-421D-CC2188F3686C}"/>
              </a:ext>
            </a:extLst>
          </p:cNvPr>
          <p:cNvSpPr/>
          <p:nvPr/>
        </p:nvSpPr>
        <p:spPr>
          <a:xfrm>
            <a:off x="3006157" y="2408139"/>
            <a:ext cx="914787" cy="210137"/>
          </a:xfrm>
          <a:prstGeom prst="roundRect">
            <a:avLst/>
          </a:prstGeom>
          <a:solidFill>
            <a:srgbClr val="D9E7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ysClr val="windowText" lastClr="000000"/>
                </a:solidFill>
                <a:latin typeface="Karla" pitchFamily="2" charset="0"/>
              </a:rPr>
              <a:t>STFT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885A8E-3DA3-FDD9-DF7C-0917D17AC396}"/>
              </a:ext>
            </a:extLst>
          </p:cNvPr>
          <p:cNvSpPr txBox="1"/>
          <p:nvPr/>
        </p:nvSpPr>
        <p:spPr>
          <a:xfrm>
            <a:off x="2770814" y="2675801"/>
            <a:ext cx="1374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Karla" pitchFamily="2" charset="0"/>
              </a:rPr>
              <a:t>Convert to time-frequency representation</a:t>
            </a:r>
            <a:endParaRPr lang="zh-CN" altLang="en-US" sz="1200" dirty="0">
              <a:latin typeface="Karla" pitchFamily="2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2C33D78-2BAC-071C-8A8C-DFB48382B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043" y="1888126"/>
            <a:ext cx="419048" cy="228571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6ACB8A2-0543-FFD2-C1DF-06FFC61226E6}"/>
              </a:ext>
            </a:extLst>
          </p:cNvPr>
          <p:cNvSpPr/>
          <p:nvPr/>
        </p:nvSpPr>
        <p:spPr>
          <a:xfrm>
            <a:off x="4101206" y="2423124"/>
            <a:ext cx="1076388" cy="203113"/>
          </a:xfrm>
          <a:prstGeom prst="roundRect">
            <a:avLst/>
          </a:prstGeom>
          <a:solidFill>
            <a:srgbClr val="FDE9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rgbClr val="0A0A0C"/>
                </a:solidFill>
                <a:latin typeface="Times New Roman" panose="02020603050405020304" pitchFamily="18" charset="0"/>
              </a:rPr>
              <a:t>estimate noise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5FB6AA-BFA8-122E-EED8-119FBA681EB3}"/>
              </a:ext>
            </a:extLst>
          </p:cNvPr>
          <p:cNvSpPr txBox="1"/>
          <p:nvPr/>
        </p:nvSpPr>
        <p:spPr>
          <a:xfrm>
            <a:off x="4031493" y="2659412"/>
            <a:ext cx="1225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Karla" pitchFamily="2" charset="0"/>
              </a:rPr>
              <a:t>Estimate noise power spectrum from signal</a:t>
            </a:r>
            <a:endParaRPr lang="zh-CN" altLang="en-US" sz="1200" dirty="0">
              <a:latin typeface="Karla" pitchFamily="2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16D81094-BF3B-6524-B35C-09E862455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085" y="1908930"/>
            <a:ext cx="419048" cy="22857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4244723-127D-6F03-5FBD-C6FA001EF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2445" y="1615750"/>
            <a:ext cx="914286" cy="809524"/>
          </a:xfrm>
          <a:prstGeom prst="rect">
            <a:avLst/>
          </a:prstGeom>
        </p:spPr>
      </p:pic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3FC6F30-C94A-F680-ECF2-4955E856F64E}"/>
              </a:ext>
            </a:extLst>
          </p:cNvPr>
          <p:cNvSpPr/>
          <p:nvPr/>
        </p:nvSpPr>
        <p:spPr>
          <a:xfrm>
            <a:off x="5367808" y="2423124"/>
            <a:ext cx="914787" cy="210137"/>
          </a:xfrm>
          <a:prstGeom prst="roundRect">
            <a:avLst/>
          </a:prstGeom>
          <a:solidFill>
            <a:srgbClr val="E2D0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ysClr val="windowText" lastClr="000000"/>
                </a:solidFill>
                <a:latin typeface="Karla" pitchFamily="2" charset="0"/>
              </a:rPr>
              <a:t>compute mask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4A8CF07-1F61-AF8A-B405-54B26814ADB9}"/>
              </a:ext>
            </a:extLst>
          </p:cNvPr>
          <p:cNvSpPr txBox="1"/>
          <p:nvPr/>
        </p:nvSpPr>
        <p:spPr>
          <a:xfrm>
            <a:off x="5276588" y="2659412"/>
            <a:ext cx="1225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Karla" pitchFamily="2" charset="0"/>
              </a:rPr>
              <a:t>Compute wiener style mask M</a:t>
            </a:r>
            <a:endParaRPr lang="zh-CN" altLang="en-US" sz="1200" dirty="0">
              <a:latin typeface="Karla" pitchFamily="2" charset="0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AEE8164C-98CC-8CAE-5DFE-72C0BA103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03" y="1902483"/>
            <a:ext cx="419048" cy="22857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15066CF-818D-4E76-1518-C7CD1A618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2355" y="1687138"/>
            <a:ext cx="800000" cy="72381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06C6D9F-1410-B563-2607-0C36E6E720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3278" y="1663369"/>
            <a:ext cx="723810" cy="714286"/>
          </a:xfrm>
          <a:prstGeom prst="rect">
            <a:avLst/>
          </a:prstGeom>
        </p:spPr>
      </p:pic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9EE0BAF-08E3-206C-905E-683F101F871F}"/>
              </a:ext>
            </a:extLst>
          </p:cNvPr>
          <p:cNvSpPr/>
          <p:nvPr/>
        </p:nvSpPr>
        <p:spPr>
          <a:xfrm>
            <a:off x="6502355" y="2423124"/>
            <a:ext cx="914787" cy="210137"/>
          </a:xfrm>
          <a:prstGeom prst="roundRect">
            <a:avLst/>
          </a:prstGeom>
          <a:solidFill>
            <a:srgbClr val="EDF1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ysClr val="windowText" lastClr="000000"/>
                </a:solidFill>
                <a:latin typeface="Karla" pitchFamily="2" charset="0"/>
              </a:rPr>
              <a:t>Apply mask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E587487-9DD5-2845-5248-31940B03D6A6}"/>
              </a:ext>
            </a:extLst>
          </p:cNvPr>
          <p:cNvSpPr txBox="1"/>
          <p:nvPr/>
        </p:nvSpPr>
        <p:spPr>
          <a:xfrm>
            <a:off x="6363427" y="2659412"/>
            <a:ext cx="1225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Karla" pitchFamily="2" charset="0"/>
              </a:rPr>
              <a:t>Apply mask to noisy spectrum</a:t>
            </a:r>
            <a:endParaRPr lang="zh-CN" altLang="en-US" sz="1200" dirty="0">
              <a:latin typeface="Karla" pitchFamily="2" charset="0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1CEBEDDB-D188-F005-642B-005E3A215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92830" y="3314598"/>
            <a:ext cx="419048" cy="22857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67141D46-1D68-8927-B39E-3329B46CCC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951" y="3565457"/>
            <a:ext cx="723810" cy="714286"/>
          </a:xfrm>
          <a:prstGeom prst="rect">
            <a:avLst/>
          </a:prstGeom>
        </p:spPr>
      </p:pic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B96DF2A-A875-20AA-1C57-0A5ABA80A891}"/>
              </a:ext>
            </a:extLst>
          </p:cNvPr>
          <p:cNvSpPr/>
          <p:nvPr/>
        </p:nvSpPr>
        <p:spPr>
          <a:xfrm>
            <a:off x="5140169" y="3565641"/>
            <a:ext cx="763961" cy="161395"/>
          </a:xfrm>
          <a:prstGeom prst="roundRect">
            <a:avLst/>
          </a:prstGeom>
          <a:solidFill>
            <a:srgbClr val="F8DD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 err="1">
                <a:solidFill>
                  <a:srgbClr val="0A0A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iSTFT</a:t>
            </a:r>
            <a:endParaRPr lang="en-US" altLang="zh-CN" sz="1100" b="1" dirty="0">
              <a:solidFill>
                <a:srgbClr val="0A0A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6C02BD-C09B-7CEB-C4AA-0F49332550A5}"/>
              </a:ext>
            </a:extLst>
          </p:cNvPr>
          <p:cNvSpPr txBox="1"/>
          <p:nvPr/>
        </p:nvSpPr>
        <p:spPr>
          <a:xfrm>
            <a:off x="4472850" y="3776261"/>
            <a:ext cx="209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Karla" pitchFamily="2" charset="0"/>
              </a:rPr>
              <a:t>Convert back to time domain for enhanced voice</a:t>
            </a:r>
            <a:endParaRPr lang="zh-CN" altLang="en-US" sz="1200" dirty="0">
              <a:latin typeface="Karla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4DBCAA-3326-C8C0-F60B-C36FE5CE93CF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969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>
          <a:extLst>
            <a:ext uri="{FF2B5EF4-FFF2-40B4-BE49-F238E27FC236}">
              <a16:creationId xmlns:a16="http://schemas.microsoft.com/office/drawing/2014/main" id="{204B0615-0513-5743-F620-7CC911448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" name="Google Shape;722;p37">
            <a:extLst>
              <a:ext uri="{FF2B5EF4-FFF2-40B4-BE49-F238E27FC236}">
                <a16:creationId xmlns:a16="http://schemas.microsoft.com/office/drawing/2014/main" id="{26A81514-C00D-FC42-E881-B5A5A289672A}"/>
              </a:ext>
            </a:extLst>
          </p:cNvPr>
          <p:cNvGrpSpPr/>
          <p:nvPr/>
        </p:nvGrpSpPr>
        <p:grpSpPr>
          <a:xfrm>
            <a:off x="555787" y="1310451"/>
            <a:ext cx="2720813" cy="1595663"/>
            <a:chOff x="715100" y="1600313"/>
            <a:chExt cx="3771900" cy="1412550"/>
          </a:xfrm>
        </p:grpSpPr>
        <p:sp>
          <p:nvSpPr>
            <p:cNvPr id="723" name="Google Shape;723;p37">
              <a:extLst>
                <a:ext uri="{FF2B5EF4-FFF2-40B4-BE49-F238E27FC236}">
                  <a16:creationId xmlns:a16="http://schemas.microsoft.com/office/drawing/2014/main" id="{3354F403-C1CA-2DDA-B2E3-34D436ECB1AC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7">
              <a:extLst>
                <a:ext uri="{FF2B5EF4-FFF2-40B4-BE49-F238E27FC236}">
                  <a16:creationId xmlns:a16="http://schemas.microsoft.com/office/drawing/2014/main" id="{283A4623-D895-05FC-C25B-BD266F1A3237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725" name="Google Shape;725;p37">
              <a:extLst>
                <a:ext uri="{FF2B5EF4-FFF2-40B4-BE49-F238E27FC236}">
                  <a16:creationId xmlns:a16="http://schemas.microsoft.com/office/drawing/2014/main" id="{04BC35CC-FF61-398A-F9F9-9CA50DAE4FDA}"/>
                </a:ext>
              </a:extLst>
            </p:cNvPr>
            <p:cNvCxnSpPr/>
            <p:nvPr/>
          </p:nvCxnSpPr>
          <p:spPr>
            <a:xfrm>
              <a:off x="715100" y="1937778"/>
              <a:ext cx="3674401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31" name="Google Shape;731;p37">
            <a:extLst>
              <a:ext uri="{FF2B5EF4-FFF2-40B4-BE49-F238E27FC236}">
                <a16:creationId xmlns:a16="http://schemas.microsoft.com/office/drawing/2014/main" id="{CFD41D98-D78E-1471-9D30-7CB05A36BA0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64870" y="2202987"/>
            <a:ext cx="2650265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sz="1100" dirty="0"/>
              <a:t>- - - - - - - - - - </a:t>
            </a:r>
            <a:r>
              <a:rPr lang="en-GB" altLang="zh-CN" sz="1100" dirty="0"/>
              <a:t>- - - - - - - - - - - - - - - - - - - -</a:t>
            </a:r>
          </a:p>
          <a:p>
            <a:pPr marL="0" indent="0" algn="ctr"/>
            <a:r>
              <a:rPr lang="en-GB" altLang="zh-CN" sz="1100" dirty="0"/>
              <a:t>Reference of the original speech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100" dirty="0"/>
          </a:p>
        </p:txBody>
      </p:sp>
      <p:sp>
        <p:nvSpPr>
          <p:cNvPr id="734" name="Google Shape;734;p37">
            <a:extLst>
              <a:ext uri="{FF2B5EF4-FFF2-40B4-BE49-F238E27FC236}">
                <a16:creationId xmlns:a16="http://schemas.microsoft.com/office/drawing/2014/main" id="{D676B760-AC19-6913-FDDA-243D7607DE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452" y="523682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Demo</a:t>
            </a:r>
          </a:p>
        </p:txBody>
      </p:sp>
      <p:sp>
        <p:nvSpPr>
          <p:cNvPr id="737" name="Google Shape;737;p37">
            <a:extLst>
              <a:ext uri="{FF2B5EF4-FFF2-40B4-BE49-F238E27FC236}">
                <a16:creationId xmlns:a16="http://schemas.microsoft.com/office/drawing/2014/main" id="{AC7A0030-BC47-0CE8-C2DC-D5A2AC898528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825982" y="1197073"/>
            <a:ext cx="25104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/>
              <a:t>1. Clean voice</a:t>
            </a:r>
            <a:endParaRPr lang="en-GB" sz="1800" dirty="0"/>
          </a:p>
        </p:txBody>
      </p:sp>
      <p:sp>
        <p:nvSpPr>
          <p:cNvPr id="753" name="Google Shape;753;p37">
            <a:extLst>
              <a:ext uri="{FF2B5EF4-FFF2-40B4-BE49-F238E27FC236}">
                <a16:creationId xmlns:a16="http://schemas.microsoft.com/office/drawing/2014/main" id="{0144ACE5-27AB-4896-5F1F-B098E20D9742}"/>
              </a:ext>
            </a:extLst>
          </p:cNvPr>
          <p:cNvSpPr/>
          <p:nvPr/>
        </p:nvSpPr>
        <p:spPr>
          <a:xfrm>
            <a:off x="910778" y="88419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7">
            <a:extLst>
              <a:ext uri="{FF2B5EF4-FFF2-40B4-BE49-F238E27FC236}">
                <a16:creationId xmlns:a16="http://schemas.microsoft.com/office/drawing/2014/main" id="{C21B4DD5-2F06-C4EE-B79F-6570DC35D711}"/>
              </a:ext>
            </a:extLst>
          </p:cNvPr>
          <p:cNvSpPr/>
          <p:nvPr/>
        </p:nvSpPr>
        <p:spPr>
          <a:xfrm>
            <a:off x="524162" y="1024121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058C1A-8614-AAC8-1660-4CCA5C2D80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508" y="1774446"/>
            <a:ext cx="468976" cy="43700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67F2D175-5F8C-7A24-FEB9-492756629250}"/>
              </a:ext>
            </a:extLst>
          </p:cNvPr>
          <p:cNvGrpSpPr/>
          <p:nvPr/>
        </p:nvGrpSpPr>
        <p:grpSpPr>
          <a:xfrm>
            <a:off x="5198552" y="1330126"/>
            <a:ext cx="2720813" cy="1595663"/>
            <a:chOff x="5189473" y="1413643"/>
            <a:chExt cx="2720815" cy="1595663"/>
          </a:xfrm>
        </p:grpSpPr>
        <p:grpSp>
          <p:nvGrpSpPr>
            <p:cNvPr id="7" name="Google Shape;722;p37">
              <a:extLst>
                <a:ext uri="{FF2B5EF4-FFF2-40B4-BE49-F238E27FC236}">
                  <a16:creationId xmlns:a16="http://schemas.microsoft.com/office/drawing/2014/main" id="{8FEB3A4D-9245-0414-157F-48802705D888}"/>
                </a:ext>
              </a:extLst>
            </p:cNvPr>
            <p:cNvGrpSpPr/>
            <p:nvPr/>
          </p:nvGrpSpPr>
          <p:grpSpPr>
            <a:xfrm>
              <a:off x="5189473" y="1413643"/>
              <a:ext cx="2720815" cy="1595663"/>
              <a:chOff x="715100" y="1600313"/>
              <a:chExt cx="3771900" cy="1412550"/>
            </a:xfrm>
          </p:grpSpPr>
          <p:sp>
            <p:nvSpPr>
              <p:cNvPr id="8" name="Google Shape;723;p37">
                <a:extLst>
                  <a:ext uri="{FF2B5EF4-FFF2-40B4-BE49-F238E27FC236}">
                    <a16:creationId xmlns:a16="http://schemas.microsoft.com/office/drawing/2014/main" id="{AACA582E-A4CD-E0C6-1333-E1A61E0831FF}"/>
                  </a:ext>
                </a:extLst>
              </p:cNvPr>
              <p:cNvSpPr/>
              <p:nvPr/>
            </p:nvSpPr>
            <p:spPr>
              <a:xfrm>
                <a:off x="812900" y="1691663"/>
                <a:ext cx="36741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24;p37">
                <a:extLst>
                  <a:ext uri="{FF2B5EF4-FFF2-40B4-BE49-F238E27FC236}">
                    <a16:creationId xmlns:a16="http://schemas.microsoft.com/office/drawing/2014/main" id="{0CBDB4F7-9CA9-3968-7712-14DFAFD3F46B}"/>
                  </a:ext>
                </a:extLst>
              </p:cNvPr>
              <p:cNvSpPr/>
              <p:nvPr/>
            </p:nvSpPr>
            <p:spPr>
              <a:xfrm>
                <a:off x="715100" y="1600313"/>
                <a:ext cx="36741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cxnSp>
            <p:nvCxnSpPr>
              <p:cNvPr id="10" name="Google Shape;725;p37">
                <a:extLst>
                  <a:ext uri="{FF2B5EF4-FFF2-40B4-BE49-F238E27FC236}">
                    <a16:creationId xmlns:a16="http://schemas.microsoft.com/office/drawing/2014/main" id="{4F559DFE-B330-C721-1685-371BE251748B}"/>
                  </a:ext>
                </a:extLst>
              </p:cNvPr>
              <p:cNvCxnSpPr/>
              <p:nvPr/>
            </p:nvCxnSpPr>
            <p:spPr>
              <a:xfrm>
                <a:off x="715100" y="1937778"/>
                <a:ext cx="3674401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01E80FF1-30ED-8ED5-E93C-6E065114A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241472" y="1849871"/>
              <a:ext cx="476190" cy="476190"/>
            </a:xfrm>
            <a:prstGeom prst="rect">
              <a:avLst/>
            </a:prstGeom>
          </p:spPr>
        </p:pic>
      </p:grpSp>
      <p:sp>
        <p:nvSpPr>
          <p:cNvPr id="12" name="Google Shape;737;p37">
            <a:extLst>
              <a:ext uri="{FF2B5EF4-FFF2-40B4-BE49-F238E27FC236}">
                <a16:creationId xmlns:a16="http://schemas.microsoft.com/office/drawing/2014/main" id="{D08EA292-E51C-D9FE-DD16-63F3E253B66E}"/>
              </a:ext>
            </a:extLst>
          </p:cNvPr>
          <p:cNvSpPr txBox="1">
            <a:spLocks/>
          </p:cNvSpPr>
          <p:nvPr/>
        </p:nvSpPr>
        <p:spPr>
          <a:xfrm>
            <a:off x="5479567" y="1225746"/>
            <a:ext cx="2510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sz="1800" b="1" dirty="0"/>
              <a:t>2. N</a:t>
            </a:r>
            <a:r>
              <a:rPr lang="en-US" altLang="zh-CN" sz="1800" b="1" dirty="0" err="1"/>
              <a:t>oisy</a:t>
            </a:r>
            <a:r>
              <a:rPr lang="en-US" altLang="zh-CN" sz="1800" b="1" dirty="0"/>
              <a:t> voice</a:t>
            </a:r>
            <a:endParaRPr lang="en-GB" sz="1800" b="1" dirty="0"/>
          </a:p>
        </p:txBody>
      </p:sp>
      <p:sp>
        <p:nvSpPr>
          <p:cNvPr id="11" name="Google Shape;731;p37">
            <a:extLst>
              <a:ext uri="{FF2B5EF4-FFF2-40B4-BE49-F238E27FC236}">
                <a16:creationId xmlns:a16="http://schemas.microsoft.com/office/drawing/2014/main" id="{ABCE8DF2-A154-8F93-8D77-0035025FD7EF}"/>
              </a:ext>
            </a:extLst>
          </p:cNvPr>
          <p:cNvSpPr txBox="1">
            <a:spLocks/>
          </p:cNvSpPr>
          <p:nvPr/>
        </p:nvSpPr>
        <p:spPr>
          <a:xfrm>
            <a:off x="5198335" y="2169080"/>
            <a:ext cx="2650265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GB" sz="1100" dirty="0"/>
              <a:t>- - - - - - - - - - </a:t>
            </a:r>
            <a:r>
              <a:rPr lang="en-GB" altLang="zh-CN" sz="1100" dirty="0"/>
              <a:t>- - - - - - - - - - - - - - - - - - - -</a:t>
            </a:r>
          </a:p>
          <a:p>
            <a:pPr marL="0" indent="0" algn="ctr"/>
            <a:r>
              <a:rPr lang="en-US" altLang="zh-CN" sz="1100" dirty="0"/>
              <a:t>Speech mixed with</a:t>
            </a:r>
          </a:p>
          <a:p>
            <a:pPr marL="0" indent="0" algn="ctr"/>
            <a:r>
              <a:rPr lang="en-US" altLang="zh-CN" sz="1100" dirty="0"/>
              <a:t>hiss noise</a:t>
            </a:r>
            <a:endParaRPr lang="en-GB" sz="1100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68B4018-C740-37BC-9B7F-D4645B56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4379" y="3080942"/>
            <a:ext cx="2731245" cy="1609483"/>
          </a:xfrm>
          <a:prstGeom prst="rect">
            <a:avLst/>
          </a:prstGeom>
        </p:spPr>
      </p:pic>
      <p:sp>
        <p:nvSpPr>
          <p:cNvPr id="30" name="Google Shape;737;p37">
            <a:extLst>
              <a:ext uri="{FF2B5EF4-FFF2-40B4-BE49-F238E27FC236}">
                <a16:creationId xmlns:a16="http://schemas.microsoft.com/office/drawing/2014/main" id="{D0721EE9-21B1-EEA4-7A54-3DA3B7CCE04B}"/>
              </a:ext>
            </a:extLst>
          </p:cNvPr>
          <p:cNvSpPr txBox="1">
            <a:spLocks/>
          </p:cNvSpPr>
          <p:nvPr/>
        </p:nvSpPr>
        <p:spPr>
          <a:xfrm>
            <a:off x="617250" y="2997378"/>
            <a:ext cx="2510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sz="1800" dirty="0"/>
              <a:t>3. L</a:t>
            </a:r>
            <a:r>
              <a:rPr lang="en-US" altLang="zh-CN" sz="1800" dirty="0"/>
              <a:t>ow-pass result</a:t>
            </a:r>
            <a:endParaRPr lang="en-GB" sz="18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521F7ECB-BCB0-78D1-7527-11ECF44984F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854" y="3542278"/>
            <a:ext cx="419048" cy="476190"/>
          </a:xfrm>
          <a:prstGeom prst="rect">
            <a:avLst/>
          </a:prstGeom>
        </p:spPr>
      </p:pic>
      <p:sp>
        <p:nvSpPr>
          <p:cNvPr id="33" name="Google Shape;731;p37">
            <a:extLst>
              <a:ext uri="{FF2B5EF4-FFF2-40B4-BE49-F238E27FC236}">
                <a16:creationId xmlns:a16="http://schemas.microsoft.com/office/drawing/2014/main" id="{049FE25A-0186-6D87-A411-0776E16955AC}"/>
              </a:ext>
            </a:extLst>
          </p:cNvPr>
          <p:cNvSpPr txBox="1">
            <a:spLocks/>
          </p:cNvSpPr>
          <p:nvPr/>
        </p:nvSpPr>
        <p:spPr>
          <a:xfrm>
            <a:off x="524162" y="3815432"/>
            <a:ext cx="2690973" cy="811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GB" sz="1100" dirty="0"/>
              <a:t>- - - - - - - - - - </a:t>
            </a:r>
            <a:r>
              <a:rPr lang="en-GB" altLang="zh-CN" sz="1100" dirty="0"/>
              <a:t>- - - - - - - - - - - - - - - - - - - -</a:t>
            </a:r>
          </a:p>
          <a:p>
            <a:pPr marL="0" indent="0" algn="ctr"/>
            <a:r>
              <a:rPr lang="en-US" altLang="zh-CN" sz="1100" dirty="0"/>
              <a:t>After low-pass filtering:</a:t>
            </a:r>
          </a:p>
          <a:p>
            <a:pPr marL="0" indent="0" algn="ctr"/>
            <a:r>
              <a:rPr lang="en-US" altLang="zh-CN" sz="1100" dirty="0"/>
              <a:t>noise reduced, but some</a:t>
            </a:r>
          </a:p>
          <a:p>
            <a:pPr marL="0" indent="0" algn="ctr"/>
            <a:r>
              <a:rPr lang="en-US" altLang="zh-CN" sz="1100" dirty="0"/>
              <a:t>speech details lost</a:t>
            </a:r>
            <a:endParaRPr lang="en-GB" sz="11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5D3E8D6-D98F-04FD-4F11-5416217F5B70}"/>
              </a:ext>
            </a:extLst>
          </p:cNvPr>
          <p:cNvGrpSpPr/>
          <p:nvPr/>
        </p:nvGrpSpPr>
        <p:grpSpPr>
          <a:xfrm>
            <a:off x="5198335" y="3119922"/>
            <a:ext cx="2720813" cy="1595663"/>
            <a:chOff x="5189470" y="1413643"/>
            <a:chExt cx="2720813" cy="1595663"/>
          </a:xfrm>
        </p:grpSpPr>
        <p:grpSp>
          <p:nvGrpSpPr>
            <p:cNvPr id="40" name="Google Shape;722;p37">
              <a:extLst>
                <a:ext uri="{FF2B5EF4-FFF2-40B4-BE49-F238E27FC236}">
                  <a16:creationId xmlns:a16="http://schemas.microsoft.com/office/drawing/2014/main" id="{37C56421-2FC3-B24A-F9C9-6919ACE8C1D6}"/>
                </a:ext>
              </a:extLst>
            </p:cNvPr>
            <p:cNvGrpSpPr/>
            <p:nvPr/>
          </p:nvGrpSpPr>
          <p:grpSpPr>
            <a:xfrm>
              <a:off x="5189470" y="1413643"/>
              <a:ext cx="2720813" cy="1595663"/>
              <a:chOff x="715100" y="1600313"/>
              <a:chExt cx="3771900" cy="1412550"/>
            </a:xfrm>
          </p:grpSpPr>
          <p:sp>
            <p:nvSpPr>
              <p:cNvPr id="42" name="Google Shape;723;p37">
                <a:extLst>
                  <a:ext uri="{FF2B5EF4-FFF2-40B4-BE49-F238E27FC236}">
                    <a16:creationId xmlns:a16="http://schemas.microsoft.com/office/drawing/2014/main" id="{C73D40FE-80AE-B81C-09EB-535CEC87DEC8}"/>
                  </a:ext>
                </a:extLst>
              </p:cNvPr>
              <p:cNvSpPr/>
              <p:nvPr/>
            </p:nvSpPr>
            <p:spPr>
              <a:xfrm>
                <a:off x="812900" y="1691663"/>
                <a:ext cx="36741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724;p37">
                <a:extLst>
                  <a:ext uri="{FF2B5EF4-FFF2-40B4-BE49-F238E27FC236}">
                    <a16:creationId xmlns:a16="http://schemas.microsoft.com/office/drawing/2014/main" id="{ED38C3EA-D933-8C18-9732-37E534610741}"/>
                  </a:ext>
                </a:extLst>
              </p:cNvPr>
              <p:cNvSpPr/>
              <p:nvPr/>
            </p:nvSpPr>
            <p:spPr>
              <a:xfrm>
                <a:off x="715100" y="1600313"/>
                <a:ext cx="36741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cxnSp>
            <p:nvCxnSpPr>
              <p:cNvPr id="44" name="Google Shape;725;p37">
                <a:extLst>
                  <a:ext uri="{FF2B5EF4-FFF2-40B4-BE49-F238E27FC236}">
                    <a16:creationId xmlns:a16="http://schemas.microsoft.com/office/drawing/2014/main" id="{204A99E0-D18E-C162-9B4C-99870A18CCCC}"/>
                  </a:ext>
                </a:extLst>
              </p:cNvPr>
              <p:cNvCxnSpPr/>
              <p:nvPr/>
            </p:nvCxnSpPr>
            <p:spPr>
              <a:xfrm>
                <a:off x="715100" y="1937778"/>
                <a:ext cx="3674401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38736E21-5CCC-B8F4-4EA9-1F335D4C9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241472" y="1849871"/>
              <a:ext cx="476190" cy="476190"/>
            </a:xfrm>
            <a:prstGeom prst="rect">
              <a:avLst/>
            </a:prstGeom>
          </p:spPr>
        </p:pic>
      </p:grpSp>
      <p:sp>
        <p:nvSpPr>
          <p:cNvPr id="45" name="Google Shape;737;p37">
            <a:extLst>
              <a:ext uri="{FF2B5EF4-FFF2-40B4-BE49-F238E27FC236}">
                <a16:creationId xmlns:a16="http://schemas.microsoft.com/office/drawing/2014/main" id="{777776E2-EFAF-422D-BE74-1243C840C1F8}"/>
              </a:ext>
            </a:extLst>
          </p:cNvPr>
          <p:cNvSpPr txBox="1">
            <a:spLocks/>
          </p:cNvSpPr>
          <p:nvPr/>
        </p:nvSpPr>
        <p:spPr>
          <a:xfrm>
            <a:off x="5461101" y="2960638"/>
            <a:ext cx="2510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sz="1800" dirty="0"/>
              <a:t>4. </a:t>
            </a:r>
            <a:r>
              <a:rPr lang="en-US" sz="1800" dirty="0"/>
              <a:t>Mask result</a:t>
            </a:r>
            <a:endParaRPr lang="en-GB" sz="1800" dirty="0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E701CE87-7632-3BC3-C30C-E811ADBD2E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68882" y="3564353"/>
            <a:ext cx="419048" cy="380952"/>
          </a:xfrm>
          <a:prstGeom prst="rect">
            <a:avLst/>
          </a:prstGeom>
        </p:spPr>
      </p:pic>
      <p:sp>
        <p:nvSpPr>
          <p:cNvPr id="50" name="Google Shape;731;p37">
            <a:extLst>
              <a:ext uri="{FF2B5EF4-FFF2-40B4-BE49-F238E27FC236}">
                <a16:creationId xmlns:a16="http://schemas.microsoft.com/office/drawing/2014/main" id="{901DC0C3-D734-B0B9-86A6-DC3E4B93D20E}"/>
              </a:ext>
            </a:extLst>
          </p:cNvPr>
          <p:cNvSpPr txBox="1">
            <a:spLocks/>
          </p:cNvSpPr>
          <p:nvPr/>
        </p:nvSpPr>
        <p:spPr>
          <a:xfrm>
            <a:off x="5187602" y="3815432"/>
            <a:ext cx="2650265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GB" sz="1100" dirty="0"/>
              <a:t>- - - - - - - - - - </a:t>
            </a:r>
            <a:r>
              <a:rPr lang="en-GB" altLang="zh-CN" sz="1100" dirty="0"/>
              <a:t>- - - - - - - - - - - - - - - - - - - -</a:t>
            </a:r>
          </a:p>
          <a:p>
            <a:pPr marL="0" indent="0" algn="ctr"/>
            <a:r>
              <a:rPr lang="en-US" altLang="zh-CN" sz="1100" dirty="0"/>
              <a:t>After mask filtering:</a:t>
            </a:r>
          </a:p>
          <a:p>
            <a:pPr marL="0" indent="0" algn="ctr"/>
            <a:r>
              <a:rPr lang="en-US" altLang="zh-CN" sz="1100" dirty="0"/>
              <a:t>noise suppressed while</a:t>
            </a:r>
          </a:p>
          <a:p>
            <a:pPr marL="0" indent="0" algn="ctr"/>
            <a:r>
              <a:rPr lang="en-US" altLang="zh-CN" sz="1100" dirty="0"/>
              <a:t>speech details preserved</a:t>
            </a:r>
            <a:endParaRPr lang="en-GB" sz="1100" dirty="0"/>
          </a:p>
        </p:txBody>
      </p:sp>
      <p:pic>
        <p:nvPicPr>
          <p:cNvPr id="2" name="clean_voice_3.1">
            <a:hlinkClick r:id="" action="ppaction://media"/>
            <a:extLst>
              <a:ext uri="{FF2B5EF4-FFF2-40B4-BE49-F238E27FC236}">
                <a16:creationId xmlns:a16="http://schemas.microsoft.com/office/drawing/2014/main" id="{EFAA5842-2E72-2668-233A-0920BA2C90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744368" y="1836144"/>
            <a:ext cx="406400" cy="406400"/>
          </a:xfrm>
          <a:prstGeom prst="rect">
            <a:avLst/>
          </a:prstGeom>
        </p:spPr>
      </p:pic>
      <p:pic>
        <p:nvPicPr>
          <p:cNvPr id="4" name="noisy_voice_3.1">
            <a:hlinkClick r:id="" action="ppaction://media"/>
            <a:extLst>
              <a:ext uri="{FF2B5EF4-FFF2-40B4-BE49-F238E27FC236}">
                <a16:creationId xmlns:a16="http://schemas.microsoft.com/office/drawing/2014/main" id="{2654CC5A-734A-3E31-5638-1FEFF828A76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512734" y="1795917"/>
            <a:ext cx="406400" cy="406400"/>
          </a:xfrm>
          <a:prstGeom prst="rect">
            <a:avLst/>
          </a:prstGeom>
        </p:spPr>
      </p:pic>
      <p:pic>
        <p:nvPicPr>
          <p:cNvPr id="5" name="lowpass_cutoff_3000_3.1">
            <a:hlinkClick r:id="" action="ppaction://media"/>
            <a:extLst>
              <a:ext uri="{FF2B5EF4-FFF2-40B4-BE49-F238E27FC236}">
                <a16:creationId xmlns:a16="http://schemas.microsoft.com/office/drawing/2014/main" id="{3B15D04C-79F1-A8CE-0BE9-2CF6DEE9817B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677720" y="3577173"/>
            <a:ext cx="406400" cy="406400"/>
          </a:xfrm>
          <a:prstGeom prst="rect">
            <a:avLst/>
          </a:prstGeom>
        </p:spPr>
      </p:pic>
      <p:pic>
        <p:nvPicPr>
          <p:cNvPr id="6" name="wiener_masked_voice_3.1">
            <a:hlinkClick r:id="" action="ppaction://media"/>
            <a:extLst>
              <a:ext uri="{FF2B5EF4-FFF2-40B4-BE49-F238E27FC236}">
                <a16:creationId xmlns:a16="http://schemas.microsoft.com/office/drawing/2014/main" id="{B0A3CBE1-8694-7610-F4AB-CEBD36CDE8CE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512734" y="3542278"/>
            <a:ext cx="406400" cy="4064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DCDF5BD-2FBC-7838-6F26-C572D3774529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6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0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874974DA-BD20-15EE-29D7-E80080E96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" name="Google Shape;655;p35">
            <a:extLst>
              <a:ext uri="{FF2B5EF4-FFF2-40B4-BE49-F238E27FC236}">
                <a16:creationId xmlns:a16="http://schemas.microsoft.com/office/drawing/2014/main" id="{8CAA1B14-A057-3B6C-70EA-CB3BAB859E48}"/>
              </a:ext>
            </a:extLst>
          </p:cNvPr>
          <p:cNvGrpSpPr/>
          <p:nvPr/>
        </p:nvGrpSpPr>
        <p:grpSpPr>
          <a:xfrm>
            <a:off x="478814" y="1951514"/>
            <a:ext cx="2580223" cy="2298163"/>
            <a:chOff x="715400" y="1600325"/>
            <a:chExt cx="2418600" cy="2916600"/>
          </a:xfrm>
        </p:grpSpPr>
        <p:sp>
          <p:nvSpPr>
            <p:cNvPr id="656" name="Google Shape;656;p35">
              <a:extLst>
                <a:ext uri="{FF2B5EF4-FFF2-40B4-BE49-F238E27FC236}">
                  <a16:creationId xmlns:a16="http://schemas.microsoft.com/office/drawing/2014/main" id="{8628A98A-005B-A792-496C-44267018736F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7" name="Google Shape;657;p35">
              <a:extLst>
                <a:ext uri="{FF2B5EF4-FFF2-40B4-BE49-F238E27FC236}">
                  <a16:creationId xmlns:a16="http://schemas.microsoft.com/office/drawing/2014/main" id="{E31CA07F-AB42-9B45-2B90-F82AE71D6A63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658" name="Google Shape;658;p35">
                <a:extLst>
                  <a:ext uri="{FF2B5EF4-FFF2-40B4-BE49-F238E27FC236}">
                    <a16:creationId xmlns:a16="http://schemas.microsoft.com/office/drawing/2014/main" id="{C67A6A9E-E18A-9A48-16A6-2C8B0B67DAD2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59" name="Google Shape;659;p35">
                <a:extLst>
                  <a:ext uri="{FF2B5EF4-FFF2-40B4-BE49-F238E27FC236}">
                    <a16:creationId xmlns:a16="http://schemas.microsoft.com/office/drawing/2014/main" id="{AEE3AB8B-9FB4-4811-04FF-821090CC7FAA}"/>
                  </a:ext>
                </a:extLst>
              </p:cNvPr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61" name="Google Shape;661;p35">
            <a:extLst>
              <a:ext uri="{FF2B5EF4-FFF2-40B4-BE49-F238E27FC236}">
                <a16:creationId xmlns:a16="http://schemas.microsoft.com/office/drawing/2014/main" id="{FDD1BAE8-7BE7-77FB-B447-0B99C35F957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82376" y="1421453"/>
            <a:ext cx="2639716" cy="610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altLang="zh-CN" sz="1600" dirty="0"/>
              <a:t>Noisy voice spectrogram</a:t>
            </a:r>
          </a:p>
        </p:txBody>
      </p:sp>
      <p:sp>
        <p:nvSpPr>
          <p:cNvPr id="663" name="Google Shape;663;p35">
            <a:extLst>
              <a:ext uri="{FF2B5EF4-FFF2-40B4-BE49-F238E27FC236}">
                <a16:creationId xmlns:a16="http://schemas.microsoft.com/office/drawing/2014/main" id="{1B6DFD45-E3C0-4A39-97EC-F8128F9407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10" y="557268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Result comparison</a:t>
            </a:r>
          </a:p>
        </p:txBody>
      </p:sp>
      <p:sp>
        <p:nvSpPr>
          <p:cNvPr id="673" name="Google Shape;673;p35">
            <a:extLst>
              <a:ext uri="{FF2B5EF4-FFF2-40B4-BE49-F238E27FC236}">
                <a16:creationId xmlns:a16="http://schemas.microsoft.com/office/drawing/2014/main" id="{5A8269D8-309C-A1DC-9754-7EADB6395699}"/>
              </a:ext>
            </a:extLst>
          </p:cNvPr>
          <p:cNvSpPr/>
          <p:nvPr/>
        </p:nvSpPr>
        <p:spPr>
          <a:xfrm>
            <a:off x="7971700" y="10816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5">
            <a:extLst>
              <a:ext uri="{FF2B5EF4-FFF2-40B4-BE49-F238E27FC236}">
                <a16:creationId xmlns:a16="http://schemas.microsoft.com/office/drawing/2014/main" id="{AE09C58F-1CCE-ADA1-9B12-F5B98146F0D8}"/>
              </a:ext>
            </a:extLst>
          </p:cNvPr>
          <p:cNvSpPr/>
          <p:nvPr/>
        </p:nvSpPr>
        <p:spPr>
          <a:xfrm>
            <a:off x="7739360" y="932973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5">
            <a:extLst>
              <a:ext uri="{FF2B5EF4-FFF2-40B4-BE49-F238E27FC236}">
                <a16:creationId xmlns:a16="http://schemas.microsoft.com/office/drawing/2014/main" id="{8B73195C-9BCF-FE86-E250-6B63037FFB95}"/>
              </a:ext>
            </a:extLst>
          </p:cNvPr>
          <p:cNvSpPr/>
          <p:nvPr/>
        </p:nvSpPr>
        <p:spPr>
          <a:xfrm>
            <a:off x="486489" y="108690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655;p35">
            <a:extLst>
              <a:ext uri="{FF2B5EF4-FFF2-40B4-BE49-F238E27FC236}">
                <a16:creationId xmlns:a16="http://schemas.microsoft.com/office/drawing/2014/main" id="{C9755A11-836B-706B-BC2C-2F5E27F0A449}"/>
              </a:ext>
            </a:extLst>
          </p:cNvPr>
          <p:cNvGrpSpPr/>
          <p:nvPr/>
        </p:nvGrpSpPr>
        <p:grpSpPr>
          <a:xfrm>
            <a:off x="3205749" y="1986816"/>
            <a:ext cx="2801777" cy="2298163"/>
            <a:chOff x="715400" y="1600325"/>
            <a:chExt cx="2418600" cy="2916600"/>
          </a:xfrm>
        </p:grpSpPr>
        <p:sp>
          <p:nvSpPr>
            <p:cNvPr id="13" name="Google Shape;656;p35">
              <a:extLst>
                <a:ext uri="{FF2B5EF4-FFF2-40B4-BE49-F238E27FC236}">
                  <a16:creationId xmlns:a16="http://schemas.microsoft.com/office/drawing/2014/main" id="{95AE58D0-E7C4-88D0-07F0-B80BAB48E6F4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657;p35">
              <a:extLst>
                <a:ext uri="{FF2B5EF4-FFF2-40B4-BE49-F238E27FC236}">
                  <a16:creationId xmlns:a16="http://schemas.microsoft.com/office/drawing/2014/main" id="{69116D20-F364-96EB-55FC-367A24D08853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15" name="Google Shape;658;p35">
                <a:extLst>
                  <a:ext uri="{FF2B5EF4-FFF2-40B4-BE49-F238E27FC236}">
                    <a16:creationId xmlns:a16="http://schemas.microsoft.com/office/drawing/2014/main" id="{523DB985-47D2-C3D7-44B8-9FCADC1E23DA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" name="Google Shape;659;p35">
                <a:extLst>
                  <a:ext uri="{FF2B5EF4-FFF2-40B4-BE49-F238E27FC236}">
                    <a16:creationId xmlns:a16="http://schemas.microsoft.com/office/drawing/2014/main" id="{AF47EA37-FE28-D04D-4F08-A8BA014D6008}"/>
                  </a:ext>
                </a:extLst>
              </p:cNvPr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7" name="Google Shape;661;p35">
            <a:extLst>
              <a:ext uri="{FF2B5EF4-FFF2-40B4-BE49-F238E27FC236}">
                <a16:creationId xmlns:a16="http://schemas.microsoft.com/office/drawing/2014/main" id="{889CE8F7-85BE-19D7-CBBE-37493A3F56C9}"/>
              </a:ext>
            </a:extLst>
          </p:cNvPr>
          <p:cNvSpPr txBox="1">
            <a:spLocks/>
          </p:cNvSpPr>
          <p:nvPr/>
        </p:nvSpPr>
        <p:spPr>
          <a:xfrm>
            <a:off x="3214131" y="1506786"/>
            <a:ext cx="2780897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altLang="zh-CN" sz="1600" dirty="0"/>
              <a:t>Low-pass result spectrogram</a:t>
            </a:r>
          </a:p>
        </p:txBody>
      </p:sp>
      <p:grpSp>
        <p:nvGrpSpPr>
          <p:cNvPr id="22" name="Google Shape;655;p35">
            <a:extLst>
              <a:ext uri="{FF2B5EF4-FFF2-40B4-BE49-F238E27FC236}">
                <a16:creationId xmlns:a16="http://schemas.microsoft.com/office/drawing/2014/main" id="{99CDC46F-3731-4849-7A06-DF32CD01FE3A}"/>
              </a:ext>
            </a:extLst>
          </p:cNvPr>
          <p:cNvGrpSpPr/>
          <p:nvPr/>
        </p:nvGrpSpPr>
        <p:grpSpPr>
          <a:xfrm>
            <a:off x="6080723" y="1986816"/>
            <a:ext cx="2695781" cy="2298163"/>
            <a:chOff x="715400" y="1600325"/>
            <a:chExt cx="2418600" cy="2916600"/>
          </a:xfrm>
        </p:grpSpPr>
        <p:sp>
          <p:nvSpPr>
            <p:cNvPr id="23" name="Google Shape;656;p35">
              <a:extLst>
                <a:ext uri="{FF2B5EF4-FFF2-40B4-BE49-F238E27FC236}">
                  <a16:creationId xmlns:a16="http://schemas.microsoft.com/office/drawing/2014/main" id="{A65513EA-81CB-75A2-52F5-3C1293B7FA20}"/>
                </a:ext>
              </a:extLst>
            </p:cNvPr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Google Shape;657;p35">
              <a:extLst>
                <a:ext uri="{FF2B5EF4-FFF2-40B4-BE49-F238E27FC236}">
                  <a16:creationId xmlns:a16="http://schemas.microsoft.com/office/drawing/2014/main" id="{8A51D8BF-B13B-0581-D95C-6F3E09E2DEEB}"/>
                </a:ext>
              </a:extLst>
            </p:cNvPr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25" name="Google Shape;658;p35">
                <a:extLst>
                  <a:ext uri="{FF2B5EF4-FFF2-40B4-BE49-F238E27FC236}">
                    <a16:creationId xmlns:a16="http://schemas.microsoft.com/office/drawing/2014/main" id="{657FB4AE-F743-B7C1-2D45-02E2054C349C}"/>
                  </a:ext>
                </a:extLst>
              </p:cNvPr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6" name="Google Shape;659;p35">
                <a:extLst>
                  <a:ext uri="{FF2B5EF4-FFF2-40B4-BE49-F238E27FC236}">
                    <a16:creationId xmlns:a16="http://schemas.microsoft.com/office/drawing/2014/main" id="{C1494D46-7AE6-8336-2955-A8CA0FEB89C9}"/>
                  </a:ext>
                </a:extLst>
              </p:cNvPr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" name="Google Shape;661;p35">
            <a:extLst>
              <a:ext uri="{FF2B5EF4-FFF2-40B4-BE49-F238E27FC236}">
                <a16:creationId xmlns:a16="http://schemas.microsoft.com/office/drawing/2014/main" id="{1124702D-A11E-730C-8647-D01D879C0E19}"/>
              </a:ext>
            </a:extLst>
          </p:cNvPr>
          <p:cNvSpPr txBox="1">
            <a:spLocks/>
          </p:cNvSpPr>
          <p:nvPr/>
        </p:nvSpPr>
        <p:spPr>
          <a:xfrm>
            <a:off x="6200380" y="1507238"/>
            <a:ext cx="2375544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 panose="02000604000000020004"/>
                <a:ea typeface="Rubik Black" panose="02000604000000020004"/>
                <a:cs typeface="Rubik Black" panose="02000604000000020004"/>
                <a:sym typeface="Rubik Black" panose="020006040000000200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altLang="zh-CN" sz="1600" dirty="0"/>
              <a:t>Mask result spectrogram </a:t>
            </a:r>
            <a:endParaRPr lang="en-GB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BC0059-0085-1AB3-C31D-8C7EE2729A31}"/>
              </a:ext>
            </a:extLst>
          </p:cNvPr>
          <p:cNvPicPr>
            <a:picLocks/>
          </p:cNvPicPr>
          <p:nvPr/>
        </p:nvPicPr>
        <p:blipFill>
          <a:blip r:embed="rId3"/>
          <a:srcRect t="9021" r="68636"/>
          <a:stretch>
            <a:fillRect/>
          </a:stretch>
        </p:blipFill>
        <p:spPr>
          <a:xfrm>
            <a:off x="503230" y="2108698"/>
            <a:ext cx="2453071" cy="20688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91A043B-47BD-2075-651A-C9F7BDBE59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919" t="10674" r="4019"/>
          <a:stretch>
            <a:fillRect/>
          </a:stretch>
        </p:blipFill>
        <p:spPr>
          <a:xfrm>
            <a:off x="6093220" y="2143823"/>
            <a:ext cx="2547549" cy="205624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887C5D1-7AEE-EC6C-695F-26304A396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219" y="2143822"/>
            <a:ext cx="2661751" cy="204304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C8EB874-03B0-92AE-63E5-031EEC103092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013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53"/>
          <p:cNvSpPr txBox="1">
            <a:spLocks noGrp="1"/>
          </p:cNvSpPr>
          <p:nvPr>
            <p:ph type="title"/>
          </p:nvPr>
        </p:nvSpPr>
        <p:spPr>
          <a:xfrm>
            <a:off x="1505083" y="1161624"/>
            <a:ext cx="6133833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A simple filter can become a richer system</a:t>
            </a:r>
            <a:endParaRPr lang="en-GB" sz="2400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6FDF054-62D8-7029-048F-8880D530D91B}"/>
              </a:ext>
            </a:extLst>
          </p:cNvPr>
          <p:cNvSpPr/>
          <p:nvPr/>
        </p:nvSpPr>
        <p:spPr>
          <a:xfrm>
            <a:off x="3343503" y="744013"/>
            <a:ext cx="2601977" cy="476517"/>
          </a:xfrm>
          <a:prstGeom prst="roundRect">
            <a:avLst/>
          </a:prstGeom>
          <a:solidFill>
            <a:srgbClr val="F9E0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ysClr val="windowText" lastClr="000000"/>
                </a:solidFill>
                <a:latin typeface="Karla" pitchFamily="2" charset="0"/>
              </a:rPr>
              <a:t>Conclusions</a:t>
            </a:r>
          </a:p>
        </p:txBody>
      </p:sp>
      <p:grpSp>
        <p:nvGrpSpPr>
          <p:cNvPr id="31" name="Google Shape;722;p37">
            <a:extLst>
              <a:ext uri="{FF2B5EF4-FFF2-40B4-BE49-F238E27FC236}">
                <a16:creationId xmlns:a16="http://schemas.microsoft.com/office/drawing/2014/main" id="{8672171F-2547-97D6-1FF0-1CDE3ECF112F}"/>
              </a:ext>
            </a:extLst>
          </p:cNvPr>
          <p:cNvGrpSpPr/>
          <p:nvPr/>
        </p:nvGrpSpPr>
        <p:grpSpPr>
          <a:xfrm>
            <a:off x="1577082" y="1686450"/>
            <a:ext cx="6587582" cy="832844"/>
            <a:chOff x="715100" y="1600313"/>
            <a:chExt cx="3771900" cy="1412550"/>
          </a:xfrm>
        </p:grpSpPr>
        <p:sp>
          <p:nvSpPr>
            <p:cNvPr id="32" name="Google Shape;723;p37">
              <a:extLst>
                <a:ext uri="{FF2B5EF4-FFF2-40B4-BE49-F238E27FC236}">
                  <a16:creationId xmlns:a16="http://schemas.microsoft.com/office/drawing/2014/main" id="{0070F57B-D18E-C41D-6762-F16080747AA1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24;p37">
              <a:extLst>
                <a:ext uri="{FF2B5EF4-FFF2-40B4-BE49-F238E27FC236}">
                  <a16:creationId xmlns:a16="http://schemas.microsoft.com/office/drawing/2014/main" id="{BA2486BE-80A3-3BD3-D33A-BFEE6EA780D6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EE78E80E-6524-AD40-ABC9-7462AE30BEFB}"/>
              </a:ext>
            </a:extLst>
          </p:cNvPr>
          <p:cNvSpPr txBox="1"/>
          <p:nvPr/>
        </p:nvSpPr>
        <p:spPr>
          <a:xfrm>
            <a:off x="2954444" y="1711901"/>
            <a:ext cx="59638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Karla" pitchFamily="2" charset="0"/>
              </a:rPr>
              <a:t>Signals and Systems Perspective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E8A3460F-4809-811D-87E6-BFD1C96A75BD}"/>
              </a:ext>
            </a:extLst>
          </p:cNvPr>
          <p:cNvSpPr/>
          <p:nvPr/>
        </p:nvSpPr>
        <p:spPr>
          <a:xfrm>
            <a:off x="2382997" y="1755911"/>
            <a:ext cx="525824" cy="589088"/>
          </a:xfrm>
          <a:prstGeom prst="roundRect">
            <a:avLst/>
          </a:prstGeom>
          <a:solidFill>
            <a:srgbClr val="F9E0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solidFill>
                  <a:sysClr val="windowText" lastClr="000000"/>
                </a:solidFill>
                <a:latin typeface="Karla" pitchFamily="2" charset="0"/>
              </a:rPr>
              <a:t>01</a:t>
            </a:r>
          </a:p>
        </p:txBody>
      </p:sp>
      <p:grpSp>
        <p:nvGrpSpPr>
          <p:cNvPr id="36" name="Google Shape;1298;p53">
            <a:extLst>
              <a:ext uri="{FF2B5EF4-FFF2-40B4-BE49-F238E27FC236}">
                <a16:creationId xmlns:a16="http://schemas.microsoft.com/office/drawing/2014/main" id="{C77B9A22-20A1-4821-4DBD-FF5098B876F6}"/>
              </a:ext>
            </a:extLst>
          </p:cNvPr>
          <p:cNvGrpSpPr/>
          <p:nvPr/>
        </p:nvGrpSpPr>
        <p:grpSpPr>
          <a:xfrm>
            <a:off x="1715469" y="1738586"/>
            <a:ext cx="468204" cy="732938"/>
            <a:chOff x="7331725" y="1600325"/>
            <a:chExt cx="1097293" cy="1470385"/>
          </a:xfrm>
        </p:grpSpPr>
        <p:sp>
          <p:nvSpPr>
            <p:cNvPr id="37" name="Google Shape;1299;p53">
              <a:extLst>
                <a:ext uri="{FF2B5EF4-FFF2-40B4-BE49-F238E27FC236}">
                  <a16:creationId xmlns:a16="http://schemas.microsoft.com/office/drawing/2014/main" id="{80D56611-763D-AA8E-9F97-8A760ACCF333}"/>
                </a:ext>
              </a:extLst>
            </p:cNvPr>
            <p:cNvSpPr/>
            <p:nvPr/>
          </p:nvSpPr>
          <p:spPr>
            <a:xfrm>
              <a:off x="7331725" y="1600325"/>
              <a:ext cx="1097293" cy="1470385"/>
            </a:xfrm>
            <a:custGeom>
              <a:avLst/>
              <a:gdLst/>
              <a:ahLst/>
              <a:cxnLst/>
              <a:rect l="l" t="t" r="r" b="b"/>
              <a:pathLst>
                <a:path w="24806" h="33293" extrusionOk="0">
                  <a:moveTo>
                    <a:pt x="4464" y="18073"/>
                  </a:moveTo>
                  <a:lnTo>
                    <a:pt x="4464" y="18073"/>
                  </a:lnTo>
                  <a:cubicBezTo>
                    <a:pt x="1" y="11659"/>
                    <a:pt x="4610" y="2878"/>
                    <a:pt x="12415" y="2878"/>
                  </a:cubicBezTo>
                  <a:cubicBezTo>
                    <a:pt x="20220" y="2878"/>
                    <a:pt x="24805" y="11659"/>
                    <a:pt x="20342" y="18073"/>
                  </a:cubicBezTo>
                  <a:lnTo>
                    <a:pt x="20342" y="18073"/>
                  </a:lnTo>
                  <a:cubicBezTo>
                    <a:pt x="19634" y="19220"/>
                    <a:pt x="18147" y="21683"/>
                    <a:pt x="17927" y="23024"/>
                  </a:cubicBezTo>
                  <a:cubicBezTo>
                    <a:pt x="17854" y="23512"/>
                    <a:pt x="17830" y="24000"/>
                    <a:pt x="17805" y="24512"/>
                  </a:cubicBezTo>
                  <a:cubicBezTo>
                    <a:pt x="17781" y="25415"/>
                    <a:pt x="17732" y="26097"/>
                    <a:pt x="17171" y="26463"/>
                  </a:cubicBezTo>
                  <a:lnTo>
                    <a:pt x="17269" y="26536"/>
                  </a:lnTo>
                  <a:cubicBezTo>
                    <a:pt x="17830" y="27097"/>
                    <a:pt x="17537" y="28049"/>
                    <a:pt x="16756" y="28244"/>
                  </a:cubicBezTo>
                  <a:cubicBezTo>
                    <a:pt x="16903" y="28415"/>
                    <a:pt x="17000" y="28634"/>
                    <a:pt x="17000" y="28878"/>
                  </a:cubicBezTo>
                  <a:cubicBezTo>
                    <a:pt x="17000" y="29414"/>
                    <a:pt x="16537" y="29878"/>
                    <a:pt x="15976" y="29878"/>
                  </a:cubicBezTo>
                  <a:lnTo>
                    <a:pt x="15830" y="29878"/>
                  </a:lnTo>
                  <a:cubicBezTo>
                    <a:pt x="15976" y="30049"/>
                    <a:pt x="16049" y="30268"/>
                    <a:pt x="16049" y="30488"/>
                  </a:cubicBezTo>
                  <a:cubicBezTo>
                    <a:pt x="16049" y="31049"/>
                    <a:pt x="15586" y="31488"/>
                    <a:pt x="15049" y="31512"/>
                  </a:cubicBezTo>
                  <a:lnTo>
                    <a:pt x="14537" y="31512"/>
                  </a:lnTo>
                  <a:cubicBezTo>
                    <a:pt x="14488" y="31927"/>
                    <a:pt x="14269" y="32317"/>
                    <a:pt x="13927" y="32610"/>
                  </a:cubicBezTo>
                  <a:cubicBezTo>
                    <a:pt x="13025" y="33292"/>
                    <a:pt x="11781" y="33292"/>
                    <a:pt x="10903" y="32610"/>
                  </a:cubicBezTo>
                  <a:cubicBezTo>
                    <a:pt x="10562" y="32317"/>
                    <a:pt x="10342" y="31927"/>
                    <a:pt x="10269" y="31512"/>
                  </a:cubicBezTo>
                  <a:lnTo>
                    <a:pt x="9781" y="31512"/>
                  </a:lnTo>
                  <a:cubicBezTo>
                    <a:pt x="8952" y="31512"/>
                    <a:pt x="8464" y="30536"/>
                    <a:pt x="8976" y="29878"/>
                  </a:cubicBezTo>
                  <a:lnTo>
                    <a:pt x="8830" y="29878"/>
                  </a:lnTo>
                  <a:cubicBezTo>
                    <a:pt x="7976" y="29878"/>
                    <a:pt x="7513" y="28902"/>
                    <a:pt x="8049" y="28244"/>
                  </a:cubicBezTo>
                  <a:cubicBezTo>
                    <a:pt x="7854" y="28195"/>
                    <a:pt x="7684" y="28097"/>
                    <a:pt x="7562" y="27951"/>
                  </a:cubicBezTo>
                  <a:cubicBezTo>
                    <a:pt x="7171" y="27561"/>
                    <a:pt x="7171" y="26927"/>
                    <a:pt x="7562" y="26536"/>
                  </a:cubicBezTo>
                  <a:lnTo>
                    <a:pt x="7635" y="26463"/>
                  </a:lnTo>
                  <a:cubicBezTo>
                    <a:pt x="7074" y="26122"/>
                    <a:pt x="7049" y="25439"/>
                    <a:pt x="7001" y="24512"/>
                  </a:cubicBezTo>
                  <a:cubicBezTo>
                    <a:pt x="7001" y="24000"/>
                    <a:pt x="6952" y="23512"/>
                    <a:pt x="6879" y="23024"/>
                  </a:cubicBezTo>
                  <a:cubicBezTo>
                    <a:pt x="6659" y="21659"/>
                    <a:pt x="5196" y="19195"/>
                    <a:pt x="4464" y="18049"/>
                  </a:cubicBezTo>
                  <a:close/>
                  <a:moveTo>
                    <a:pt x="12488" y="1269"/>
                  </a:moveTo>
                  <a:cubicBezTo>
                    <a:pt x="12488" y="1537"/>
                    <a:pt x="12098" y="1537"/>
                    <a:pt x="12098" y="1269"/>
                  </a:cubicBezTo>
                  <a:lnTo>
                    <a:pt x="12098" y="269"/>
                  </a:lnTo>
                  <a:cubicBezTo>
                    <a:pt x="12098" y="1"/>
                    <a:pt x="12488" y="1"/>
                    <a:pt x="12488" y="269"/>
                  </a:cubicBezTo>
                  <a:close/>
                  <a:moveTo>
                    <a:pt x="6976" y="2708"/>
                  </a:moveTo>
                  <a:lnTo>
                    <a:pt x="6464" y="1830"/>
                  </a:lnTo>
                  <a:cubicBezTo>
                    <a:pt x="6318" y="1586"/>
                    <a:pt x="5976" y="1781"/>
                    <a:pt x="6123" y="2025"/>
                  </a:cubicBezTo>
                  <a:lnTo>
                    <a:pt x="6635" y="2903"/>
                  </a:lnTo>
                  <a:cubicBezTo>
                    <a:pt x="6757" y="3122"/>
                    <a:pt x="7098" y="2927"/>
                    <a:pt x="6976" y="2708"/>
                  </a:cubicBezTo>
                  <a:close/>
                  <a:moveTo>
                    <a:pt x="2903" y="6708"/>
                  </a:moveTo>
                  <a:lnTo>
                    <a:pt x="2025" y="6220"/>
                  </a:lnTo>
                  <a:cubicBezTo>
                    <a:pt x="1928" y="6147"/>
                    <a:pt x="1806" y="6195"/>
                    <a:pt x="1757" y="6293"/>
                  </a:cubicBezTo>
                  <a:cubicBezTo>
                    <a:pt x="1684" y="6366"/>
                    <a:pt x="1732" y="6488"/>
                    <a:pt x="1830" y="6561"/>
                  </a:cubicBezTo>
                  <a:lnTo>
                    <a:pt x="2708" y="7074"/>
                  </a:lnTo>
                  <a:cubicBezTo>
                    <a:pt x="2806" y="7122"/>
                    <a:pt x="2928" y="7074"/>
                    <a:pt x="2976" y="6976"/>
                  </a:cubicBezTo>
                  <a:cubicBezTo>
                    <a:pt x="3025" y="6903"/>
                    <a:pt x="3001" y="6781"/>
                    <a:pt x="2903" y="6708"/>
                  </a:cubicBezTo>
                  <a:close/>
                  <a:moveTo>
                    <a:pt x="1367" y="12195"/>
                  </a:moveTo>
                  <a:cubicBezTo>
                    <a:pt x="1489" y="12195"/>
                    <a:pt x="1586" y="12269"/>
                    <a:pt x="1586" y="12390"/>
                  </a:cubicBezTo>
                  <a:cubicBezTo>
                    <a:pt x="1586" y="12512"/>
                    <a:pt x="1489" y="12586"/>
                    <a:pt x="1367" y="12586"/>
                  </a:cubicBezTo>
                  <a:lnTo>
                    <a:pt x="367" y="12586"/>
                  </a:lnTo>
                  <a:cubicBezTo>
                    <a:pt x="245" y="12586"/>
                    <a:pt x="171" y="12512"/>
                    <a:pt x="171" y="12390"/>
                  </a:cubicBezTo>
                  <a:cubicBezTo>
                    <a:pt x="171" y="12293"/>
                    <a:pt x="245" y="12195"/>
                    <a:pt x="367" y="12195"/>
                  </a:cubicBezTo>
                  <a:close/>
                  <a:moveTo>
                    <a:pt x="18000" y="2781"/>
                  </a:moveTo>
                  <a:lnTo>
                    <a:pt x="18513" y="1903"/>
                  </a:lnTo>
                  <a:cubicBezTo>
                    <a:pt x="18635" y="1683"/>
                    <a:pt x="18293" y="1464"/>
                    <a:pt x="18147" y="1708"/>
                  </a:cubicBezTo>
                  <a:lnTo>
                    <a:pt x="17659" y="2586"/>
                  </a:lnTo>
                  <a:cubicBezTo>
                    <a:pt x="17513" y="2805"/>
                    <a:pt x="17854" y="3000"/>
                    <a:pt x="18000" y="2781"/>
                  </a:cubicBezTo>
                  <a:close/>
                  <a:moveTo>
                    <a:pt x="22000" y="6854"/>
                  </a:moveTo>
                  <a:lnTo>
                    <a:pt x="22878" y="6342"/>
                  </a:lnTo>
                  <a:cubicBezTo>
                    <a:pt x="23098" y="6220"/>
                    <a:pt x="22903" y="5854"/>
                    <a:pt x="22683" y="6000"/>
                  </a:cubicBezTo>
                  <a:lnTo>
                    <a:pt x="21805" y="6513"/>
                  </a:lnTo>
                  <a:cubicBezTo>
                    <a:pt x="21561" y="6659"/>
                    <a:pt x="21756" y="7000"/>
                    <a:pt x="22000" y="6854"/>
                  </a:cubicBezTo>
                  <a:close/>
                  <a:moveTo>
                    <a:pt x="23439" y="12366"/>
                  </a:moveTo>
                  <a:cubicBezTo>
                    <a:pt x="23317" y="12366"/>
                    <a:pt x="23220" y="12293"/>
                    <a:pt x="23220" y="12171"/>
                  </a:cubicBezTo>
                  <a:cubicBezTo>
                    <a:pt x="23220" y="12073"/>
                    <a:pt x="23317" y="11976"/>
                    <a:pt x="23439" y="11976"/>
                  </a:cubicBezTo>
                  <a:lnTo>
                    <a:pt x="24439" y="11976"/>
                  </a:lnTo>
                  <a:cubicBezTo>
                    <a:pt x="24561" y="11976"/>
                    <a:pt x="24634" y="12073"/>
                    <a:pt x="24634" y="12171"/>
                  </a:cubicBezTo>
                  <a:cubicBezTo>
                    <a:pt x="24634" y="12293"/>
                    <a:pt x="24561" y="12366"/>
                    <a:pt x="24439" y="1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00;p53">
              <a:extLst>
                <a:ext uri="{FF2B5EF4-FFF2-40B4-BE49-F238E27FC236}">
                  <a16:creationId xmlns:a16="http://schemas.microsoft.com/office/drawing/2014/main" id="{51E7E2C3-FE54-1ABA-CEE2-5BE9C1238C5B}"/>
                </a:ext>
              </a:extLst>
            </p:cNvPr>
            <p:cNvSpPr/>
            <p:nvPr/>
          </p:nvSpPr>
          <p:spPr>
            <a:xfrm>
              <a:off x="7331725" y="1600325"/>
              <a:ext cx="1097293" cy="1470385"/>
            </a:xfrm>
            <a:custGeom>
              <a:avLst/>
              <a:gdLst/>
              <a:ahLst/>
              <a:cxnLst/>
              <a:rect l="l" t="t" r="r" b="b"/>
              <a:pathLst>
                <a:path w="24806" h="33293" extrusionOk="0">
                  <a:moveTo>
                    <a:pt x="10757" y="26244"/>
                  </a:moveTo>
                  <a:lnTo>
                    <a:pt x="10757" y="20342"/>
                  </a:lnTo>
                  <a:lnTo>
                    <a:pt x="10757" y="20098"/>
                  </a:lnTo>
                  <a:cubicBezTo>
                    <a:pt x="10635" y="20073"/>
                    <a:pt x="10488" y="20024"/>
                    <a:pt x="10391" y="20000"/>
                  </a:cubicBezTo>
                  <a:cubicBezTo>
                    <a:pt x="9952" y="19878"/>
                    <a:pt x="9562" y="19659"/>
                    <a:pt x="9220" y="19390"/>
                  </a:cubicBezTo>
                  <a:cubicBezTo>
                    <a:pt x="8952" y="19171"/>
                    <a:pt x="8781" y="18878"/>
                    <a:pt x="8757" y="18537"/>
                  </a:cubicBezTo>
                  <a:cubicBezTo>
                    <a:pt x="8757" y="18439"/>
                    <a:pt x="8781" y="18366"/>
                    <a:pt x="8805" y="18293"/>
                  </a:cubicBezTo>
                  <a:cubicBezTo>
                    <a:pt x="8879" y="18024"/>
                    <a:pt x="9074" y="17829"/>
                    <a:pt x="9318" y="17756"/>
                  </a:cubicBezTo>
                  <a:cubicBezTo>
                    <a:pt x="9488" y="17707"/>
                    <a:pt x="9683" y="17707"/>
                    <a:pt x="9879" y="17756"/>
                  </a:cubicBezTo>
                  <a:cubicBezTo>
                    <a:pt x="10098" y="17829"/>
                    <a:pt x="10293" y="17927"/>
                    <a:pt x="10440" y="18098"/>
                  </a:cubicBezTo>
                  <a:cubicBezTo>
                    <a:pt x="10879" y="18561"/>
                    <a:pt x="11122" y="19146"/>
                    <a:pt x="11147" y="19781"/>
                  </a:cubicBezTo>
                  <a:cubicBezTo>
                    <a:pt x="11976" y="19927"/>
                    <a:pt x="12830" y="19927"/>
                    <a:pt x="13683" y="19781"/>
                  </a:cubicBezTo>
                  <a:cubicBezTo>
                    <a:pt x="13708" y="19146"/>
                    <a:pt x="13952" y="18561"/>
                    <a:pt x="14366" y="18098"/>
                  </a:cubicBezTo>
                  <a:cubicBezTo>
                    <a:pt x="14537" y="17927"/>
                    <a:pt x="14732" y="17829"/>
                    <a:pt x="14927" y="17756"/>
                  </a:cubicBezTo>
                  <a:cubicBezTo>
                    <a:pt x="15122" y="17707"/>
                    <a:pt x="15317" y="17707"/>
                    <a:pt x="15513" y="17756"/>
                  </a:cubicBezTo>
                  <a:cubicBezTo>
                    <a:pt x="15757" y="17829"/>
                    <a:pt x="15952" y="18024"/>
                    <a:pt x="16025" y="18293"/>
                  </a:cubicBezTo>
                  <a:cubicBezTo>
                    <a:pt x="16049" y="18366"/>
                    <a:pt x="16049" y="18439"/>
                    <a:pt x="16049" y="18537"/>
                  </a:cubicBezTo>
                  <a:cubicBezTo>
                    <a:pt x="16049" y="18878"/>
                    <a:pt x="15878" y="19171"/>
                    <a:pt x="15610" y="19390"/>
                  </a:cubicBezTo>
                  <a:cubicBezTo>
                    <a:pt x="15244" y="19659"/>
                    <a:pt x="14854" y="19878"/>
                    <a:pt x="14439" y="20000"/>
                  </a:cubicBezTo>
                  <a:cubicBezTo>
                    <a:pt x="14318" y="20024"/>
                    <a:pt x="14196" y="20073"/>
                    <a:pt x="14049" y="20098"/>
                  </a:cubicBezTo>
                  <a:lnTo>
                    <a:pt x="14049" y="20342"/>
                  </a:lnTo>
                  <a:lnTo>
                    <a:pt x="14049" y="26244"/>
                  </a:lnTo>
                  <a:lnTo>
                    <a:pt x="16561" y="26244"/>
                  </a:lnTo>
                  <a:lnTo>
                    <a:pt x="16659" y="26244"/>
                  </a:lnTo>
                  <a:cubicBezTo>
                    <a:pt x="17342" y="26073"/>
                    <a:pt x="17366" y="25415"/>
                    <a:pt x="17415" y="24488"/>
                  </a:cubicBezTo>
                  <a:cubicBezTo>
                    <a:pt x="17439" y="23976"/>
                    <a:pt x="17464" y="23463"/>
                    <a:pt x="17537" y="22976"/>
                  </a:cubicBezTo>
                  <a:cubicBezTo>
                    <a:pt x="17781" y="21561"/>
                    <a:pt x="19293" y="19024"/>
                    <a:pt x="20025" y="17854"/>
                  </a:cubicBezTo>
                  <a:lnTo>
                    <a:pt x="20025" y="17829"/>
                  </a:lnTo>
                  <a:lnTo>
                    <a:pt x="20025" y="17829"/>
                  </a:lnTo>
                  <a:cubicBezTo>
                    <a:pt x="20220" y="17512"/>
                    <a:pt x="20366" y="17293"/>
                    <a:pt x="20391" y="17220"/>
                  </a:cubicBezTo>
                  <a:cubicBezTo>
                    <a:pt x="20756" y="16610"/>
                    <a:pt x="21049" y="15976"/>
                    <a:pt x="21244" y="15293"/>
                  </a:cubicBezTo>
                  <a:cubicBezTo>
                    <a:pt x="23147" y="9342"/>
                    <a:pt x="18683" y="3244"/>
                    <a:pt x="12415" y="3244"/>
                  </a:cubicBezTo>
                  <a:cubicBezTo>
                    <a:pt x="6147" y="3244"/>
                    <a:pt x="1684" y="9342"/>
                    <a:pt x="3562" y="15293"/>
                  </a:cubicBezTo>
                  <a:cubicBezTo>
                    <a:pt x="3781" y="15976"/>
                    <a:pt x="4074" y="16610"/>
                    <a:pt x="4415" y="17220"/>
                  </a:cubicBezTo>
                  <a:cubicBezTo>
                    <a:pt x="4440" y="17268"/>
                    <a:pt x="4586" y="17488"/>
                    <a:pt x="4806" y="17829"/>
                  </a:cubicBezTo>
                  <a:lnTo>
                    <a:pt x="4806" y="17829"/>
                  </a:lnTo>
                  <a:lnTo>
                    <a:pt x="4806" y="17854"/>
                  </a:lnTo>
                  <a:cubicBezTo>
                    <a:pt x="5537" y="19024"/>
                    <a:pt x="7049" y="21561"/>
                    <a:pt x="7269" y="22976"/>
                  </a:cubicBezTo>
                  <a:cubicBezTo>
                    <a:pt x="7342" y="23463"/>
                    <a:pt x="7391" y="23976"/>
                    <a:pt x="7391" y="24488"/>
                  </a:cubicBezTo>
                  <a:cubicBezTo>
                    <a:pt x="7440" y="25415"/>
                    <a:pt x="7464" y="26073"/>
                    <a:pt x="8147" y="26244"/>
                  </a:cubicBezTo>
                  <a:lnTo>
                    <a:pt x="8269" y="26244"/>
                  </a:lnTo>
                  <a:close/>
                  <a:moveTo>
                    <a:pt x="23415" y="12390"/>
                  </a:moveTo>
                  <a:cubicBezTo>
                    <a:pt x="23317" y="12390"/>
                    <a:pt x="23220" y="12293"/>
                    <a:pt x="23220" y="12195"/>
                  </a:cubicBezTo>
                  <a:cubicBezTo>
                    <a:pt x="23220" y="12073"/>
                    <a:pt x="23317" y="11976"/>
                    <a:pt x="23415" y="12000"/>
                  </a:cubicBezTo>
                  <a:lnTo>
                    <a:pt x="24439" y="12000"/>
                  </a:lnTo>
                  <a:cubicBezTo>
                    <a:pt x="24561" y="11976"/>
                    <a:pt x="24634" y="12073"/>
                    <a:pt x="24634" y="12195"/>
                  </a:cubicBezTo>
                  <a:cubicBezTo>
                    <a:pt x="24634" y="12293"/>
                    <a:pt x="24561" y="12390"/>
                    <a:pt x="24439" y="12390"/>
                  </a:cubicBezTo>
                  <a:close/>
                  <a:moveTo>
                    <a:pt x="22000" y="6854"/>
                  </a:moveTo>
                  <a:cubicBezTo>
                    <a:pt x="21756" y="7000"/>
                    <a:pt x="21561" y="6659"/>
                    <a:pt x="21805" y="6513"/>
                  </a:cubicBezTo>
                  <a:lnTo>
                    <a:pt x="22683" y="6000"/>
                  </a:lnTo>
                  <a:cubicBezTo>
                    <a:pt x="22903" y="5878"/>
                    <a:pt x="23098" y="6220"/>
                    <a:pt x="22878" y="6366"/>
                  </a:cubicBezTo>
                  <a:close/>
                  <a:moveTo>
                    <a:pt x="18000" y="2781"/>
                  </a:moveTo>
                  <a:cubicBezTo>
                    <a:pt x="17854" y="3025"/>
                    <a:pt x="17513" y="2830"/>
                    <a:pt x="17659" y="2586"/>
                  </a:cubicBezTo>
                  <a:lnTo>
                    <a:pt x="18147" y="1708"/>
                  </a:lnTo>
                  <a:cubicBezTo>
                    <a:pt x="18293" y="1488"/>
                    <a:pt x="18635" y="1683"/>
                    <a:pt x="18513" y="1927"/>
                  </a:cubicBezTo>
                  <a:close/>
                  <a:moveTo>
                    <a:pt x="1367" y="12195"/>
                  </a:moveTo>
                  <a:cubicBezTo>
                    <a:pt x="1489" y="12195"/>
                    <a:pt x="1586" y="12293"/>
                    <a:pt x="1586" y="12415"/>
                  </a:cubicBezTo>
                  <a:cubicBezTo>
                    <a:pt x="1586" y="12512"/>
                    <a:pt x="1489" y="12610"/>
                    <a:pt x="1367" y="12610"/>
                  </a:cubicBezTo>
                  <a:lnTo>
                    <a:pt x="367" y="12610"/>
                  </a:lnTo>
                  <a:cubicBezTo>
                    <a:pt x="245" y="12610"/>
                    <a:pt x="171" y="12512"/>
                    <a:pt x="171" y="12415"/>
                  </a:cubicBezTo>
                  <a:cubicBezTo>
                    <a:pt x="171" y="12293"/>
                    <a:pt x="245" y="12195"/>
                    <a:pt x="367" y="12195"/>
                  </a:cubicBezTo>
                  <a:close/>
                  <a:moveTo>
                    <a:pt x="2903" y="6708"/>
                  </a:moveTo>
                  <a:cubicBezTo>
                    <a:pt x="3001" y="6781"/>
                    <a:pt x="3025" y="6903"/>
                    <a:pt x="2976" y="6976"/>
                  </a:cubicBezTo>
                  <a:cubicBezTo>
                    <a:pt x="2928" y="7074"/>
                    <a:pt x="2806" y="7122"/>
                    <a:pt x="2708" y="7074"/>
                  </a:cubicBezTo>
                  <a:lnTo>
                    <a:pt x="1830" y="6561"/>
                  </a:lnTo>
                  <a:cubicBezTo>
                    <a:pt x="1732" y="6488"/>
                    <a:pt x="1684" y="6366"/>
                    <a:pt x="1757" y="6293"/>
                  </a:cubicBezTo>
                  <a:cubicBezTo>
                    <a:pt x="1806" y="6195"/>
                    <a:pt x="1928" y="6147"/>
                    <a:pt x="2025" y="6220"/>
                  </a:cubicBezTo>
                  <a:close/>
                  <a:moveTo>
                    <a:pt x="6976" y="2708"/>
                  </a:moveTo>
                  <a:cubicBezTo>
                    <a:pt x="7098" y="2952"/>
                    <a:pt x="6757" y="3147"/>
                    <a:pt x="6635" y="2927"/>
                  </a:cubicBezTo>
                  <a:lnTo>
                    <a:pt x="6123" y="2025"/>
                  </a:lnTo>
                  <a:cubicBezTo>
                    <a:pt x="5976" y="1805"/>
                    <a:pt x="6318" y="1610"/>
                    <a:pt x="6464" y="1830"/>
                  </a:cubicBezTo>
                  <a:close/>
                  <a:moveTo>
                    <a:pt x="12488" y="1293"/>
                  </a:moveTo>
                  <a:cubicBezTo>
                    <a:pt x="12488" y="1537"/>
                    <a:pt x="12098" y="1537"/>
                    <a:pt x="12098" y="1293"/>
                  </a:cubicBezTo>
                  <a:lnTo>
                    <a:pt x="12098" y="269"/>
                  </a:lnTo>
                  <a:cubicBezTo>
                    <a:pt x="12098" y="1"/>
                    <a:pt x="12488" y="1"/>
                    <a:pt x="12488" y="269"/>
                  </a:cubicBezTo>
                  <a:close/>
                  <a:moveTo>
                    <a:pt x="4464" y="18073"/>
                  </a:moveTo>
                  <a:lnTo>
                    <a:pt x="4464" y="18073"/>
                  </a:lnTo>
                  <a:cubicBezTo>
                    <a:pt x="1" y="11659"/>
                    <a:pt x="4610" y="2878"/>
                    <a:pt x="12415" y="2878"/>
                  </a:cubicBezTo>
                  <a:cubicBezTo>
                    <a:pt x="20220" y="2878"/>
                    <a:pt x="24805" y="11659"/>
                    <a:pt x="20342" y="18073"/>
                  </a:cubicBezTo>
                  <a:lnTo>
                    <a:pt x="20342" y="18073"/>
                  </a:lnTo>
                  <a:cubicBezTo>
                    <a:pt x="19634" y="19220"/>
                    <a:pt x="18147" y="21683"/>
                    <a:pt x="17927" y="23024"/>
                  </a:cubicBezTo>
                  <a:cubicBezTo>
                    <a:pt x="17854" y="23512"/>
                    <a:pt x="17830" y="24000"/>
                    <a:pt x="17805" y="24512"/>
                  </a:cubicBezTo>
                  <a:cubicBezTo>
                    <a:pt x="17781" y="25415"/>
                    <a:pt x="17732" y="26097"/>
                    <a:pt x="17171" y="26463"/>
                  </a:cubicBezTo>
                  <a:lnTo>
                    <a:pt x="17269" y="26536"/>
                  </a:lnTo>
                  <a:cubicBezTo>
                    <a:pt x="17830" y="27097"/>
                    <a:pt x="17537" y="28049"/>
                    <a:pt x="16756" y="28244"/>
                  </a:cubicBezTo>
                  <a:cubicBezTo>
                    <a:pt x="16903" y="28415"/>
                    <a:pt x="17000" y="28634"/>
                    <a:pt x="17000" y="28878"/>
                  </a:cubicBezTo>
                  <a:cubicBezTo>
                    <a:pt x="17000" y="29414"/>
                    <a:pt x="16537" y="29878"/>
                    <a:pt x="15976" y="29878"/>
                  </a:cubicBezTo>
                  <a:lnTo>
                    <a:pt x="15830" y="29878"/>
                  </a:lnTo>
                  <a:cubicBezTo>
                    <a:pt x="15976" y="30049"/>
                    <a:pt x="16049" y="30268"/>
                    <a:pt x="16049" y="30488"/>
                  </a:cubicBezTo>
                  <a:cubicBezTo>
                    <a:pt x="16049" y="31049"/>
                    <a:pt x="15586" y="31488"/>
                    <a:pt x="15049" y="31512"/>
                  </a:cubicBezTo>
                  <a:lnTo>
                    <a:pt x="14537" y="31512"/>
                  </a:lnTo>
                  <a:cubicBezTo>
                    <a:pt x="14488" y="31927"/>
                    <a:pt x="14269" y="32317"/>
                    <a:pt x="13927" y="32610"/>
                  </a:cubicBezTo>
                  <a:cubicBezTo>
                    <a:pt x="13025" y="33292"/>
                    <a:pt x="11781" y="33292"/>
                    <a:pt x="10903" y="32610"/>
                  </a:cubicBezTo>
                  <a:cubicBezTo>
                    <a:pt x="10562" y="32317"/>
                    <a:pt x="10342" y="31927"/>
                    <a:pt x="10269" y="31512"/>
                  </a:cubicBezTo>
                  <a:lnTo>
                    <a:pt x="9781" y="31512"/>
                  </a:lnTo>
                  <a:cubicBezTo>
                    <a:pt x="8952" y="31512"/>
                    <a:pt x="8464" y="30536"/>
                    <a:pt x="8976" y="29878"/>
                  </a:cubicBezTo>
                  <a:lnTo>
                    <a:pt x="8830" y="29878"/>
                  </a:lnTo>
                  <a:cubicBezTo>
                    <a:pt x="7976" y="29878"/>
                    <a:pt x="7513" y="28902"/>
                    <a:pt x="8049" y="28244"/>
                  </a:cubicBezTo>
                  <a:cubicBezTo>
                    <a:pt x="7854" y="28195"/>
                    <a:pt x="7684" y="28097"/>
                    <a:pt x="7562" y="27951"/>
                  </a:cubicBezTo>
                  <a:cubicBezTo>
                    <a:pt x="7171" y="27561"/>
                    <a:pt x="7171" y="26927"/>
                    <a:pt x="7562" y="26536"/>
                  </a:cubicBezTo>
                  <a:lnTo>
                    <a:pt x="7635" y="26463"/>
                  </a:lnTo>
                  <a:cubicBezTo>
                    <a:pt x="7074" y="26122"/>
                    <a:pt x="7049" y="25439"/>
                    <a:pt x="7001" y="24512"/>
                  </a:cubicBezTo>
                  <a:cubicBezTo>
                    <a:pt x="7001" y="24000"/>
                    <a:pt x="6952" y="23512"/>
                    <a:pt x="6879" y="23024"/>
                  </a:cubicBezTo>
                  <a:cubicBezTo>
                    <a:pt x="6659" y="21659"/>
                    <a:pt x="5196" y="19195"/>
                    <a:pt x="4464" y="18049"/>
                  </a:cubicBezTo>
                  <a:close/>
                  <a:moveTo>
                    <a:pt x="14147" y="31512"/>
                  </a:moveTo>
                  <a:lnTo>
                    <a:pt x="10659" y="31512"/>
                  </a:lnTo>
                  <a:cubicBezTo>
                    <a:pt x="10732" y="31829"/>
                    <a:pt x="10903" y="32122"/>
                    <a:pt x="11147" y="32317"/>
                  </a:cubicBezTo>
                  <a:cubicBezTo>
                    <a:pt x="11879" y="32878"/>
                    <a:pt x="12927" y="32878"/>
                    <a:pt x="13659" y="32317"/>
                  </a:cubicBezTo>
                  <a:cubicBezTo>
                    <a:pt x="13903" y="32122"/>
                    <a:pt x="14098" y="31829"/>
                    <a:pt x="14147" y="31512"/>
                  </a:cubicBezTo>
                  <a:close/>
                  <a:moveTo>
                    <a:pt x="15049" y="29902"/>
                  </a:moveTo>
                  <a:lnTo>
                    <a:pt x="9781" y="29902"/>
                  </a:lnTo>
                  <a:cubicBezTo>
                    <a:pt x="8952" y="29902"/>
                    <a:pt x="8952" y="31122"/>
                    <a:pt x="9781" y="31122"/>
                  </a:cubicBezTo>
                  <a:lnTo>
                    <a:pt x="15025" y="31122"/>
                  </a:lnTo>
                  <a:cubicBezTo>
                    <a:pt x="15196" y="31122"/>
                    <a:pt x="15342" y="31049"/>
                    <a:pt x="15464" y="30927"/>
                  </a:cubicBezTo>
                  <a:cubicBezTo>
                    <a:pt x="15586" y="30829"/>
                    <a:pt x="15635" y="30658"/>
                    <a:pt x="15635" y="30512"/>
                  </a:cubicBezTo>
                  <a:cubicBezTo>
                    <a:pt x="15635" y="30171"/>
                    <a:pt x="15366" y="29902"/>
                    <a:pt x="15025" y="29902"/>
                  </a:cubicBezTo>
                  <a:close/>
                  <a:moveTo>
                    <a:pt x="15976" y="28268"/>
                  </a:moveTo>
                  <a:lnTo>
                    <a:pt x="8830" y="28268"/>
                  </a:lnTo>
                  <a:cubicBezTo>
                    <a:pt x="8488" y="28268"/>
                    <a:pt x="8220" y="28536"/>
                    <a:pt x="8220" y="28878"/>
                  </a:cubicBezTo>
                  <a:cubicBezTo>
                    <a:pt x="8220" y="29219"/>
                    <a:pt x="8488" y="29488"/>
                    <a:pt x="8830" y="29488"/>
                  </a:cubicBezTo>
                  <a:lnTo>
                    <a:pt x="15976" y="29488"/>
                  </a:lnTo>
                  <a:cubicBezTo>
                    <a:pt x="16317" y="29488"/>
                    <a:pt x="16586" y="29219"/>
                    <a:pt x="16586" y="28878"/>
                  </a:cubicBezTo>
                  <a:cubicBezTo>
                    <a:pt x="16586" y="28536"/>
                    <a:pt x="16317" y="28268"/>
                    <a:pt x="15976" y="28268"/>
                  </a:cubicBezTo>
                  <a:close/>
                  <a:moveTo>
                    <a:pt x="13659" y="26244"/>
                  </a:moveTo>
                  <a:lnTo>
                    <a:pt x="11171" y="26244"/>
                  </a:lnTo>
                  <a:lnTo>
                    <a:pt x="11171" y="20342"/>
                  </a:lnTo>
                  <a:lnTo>
                    <a:pt x="11171" y="20171"/>
                  </a:lnTo>
                  <a:cubicBezTo>
                    <a:pt x="12000" y="20317"/>
                    <a:pt x="12830" y="20317"/>
                    <a:pt x="13659" y="20171"/>
                  </a:cubicBezTo>
                  <a:lnTo>
                    <a:pt x="13659" y="20342"/>
                  </a:lnTo>
                  <a:lnTo>
                    <a:pt x="13659" y="26244"/>
                  </a:lnTo>
                  <a:close/>
                  <a:moveTo>
                    <a:pt x="16561" y="26658"/>
                  </a:moveTo>
                  <a:lnTo>
                    <a:pt x="8269" y="26658"/>
                  </a:lnTo>
                  <a:cubicBezTo>
                    <a:pt x="8098" y="26658"/>
                    <a:pt x="7952" y="26707"/>
                    <a:pt x="7830" y="26829"/>
                  </a:cubicBezTo>
                  <a:cubicBezTo>
                    <a:pt x="7708" y="26951"/>
                    <a:pt x="7659" y="27097"/>
                    <a:pt x="7659" y="27268"/>
                  </a:cubicBezTo>
                  <a:cubicBezTo>
                    <a:pt x="7659" y="27415"/>
                    <a:pt x="7708" y="27585"/>
                    <a:pt x="7830" y="27707"/>
                  </a:cubicBezTo>
                  <a:cubicBezTo>
                    <a:pt x="7952" y="27805"/>
                    <a:pt x="8098" y="27878"/>
                    <a:pt x="8269" y="27878"/>
                  </a:cubicBezTo>
                  <a:lnTo>
                    <a:pt x="16537" y="27878"/>
                  </a:lnTo>
                  <a:cubicBezTo>
                    <a:pt x="16708" y="27878"/>
                    <a:pt x="16854" y="27805"/>
                    <a:pt x="16976" y="27707"/>
                  </a:cubicBezTo>
                  <a:cubicBezTo>
                    <a:pt x="17074" y="27585"/>
                    <a:pt x="17147" y="27415"/>
                    <a:pt x="17147" y="27268"/>
                  </a:cubicBezTo>
                  <a:cubicBezTo>
                    <a:pt x="17147" y="27097"/>
                    <a:pt x="17074" y="26951"/>
                    <a:pt x="16976" y="26829"/>
                  </a:cubicBezTo>
                  <a:cubicBezTo>
                    <a:pt x="16854" y="26707"/>
                    <a:pt x="16708" y="26658"/>
                    <a:pt x="16537" y="26658"/>
                  </a:cubicBezTo>
                  <a:close/>
                  <a:moveTo>
                    <a:pt x="14659" y="18390"/>
                  </a:moveTo>
                  <a:cubicBezTo>
                    <a:pt x="14757" y="18268"/>
                    <a:pt x="14903" y="18195"/>
                    <a:pt x="15049" y="18146"/>
                  </a:cubicBezTo>
                  <a:cubicBezTo>
                    <a:pt x="15147" y="18122"/>
                    <a:pt x="15269" y="18122"/>
                    <a:pt x="15391" y="18146"/>
                  </a:cubicBezTo>
                  <a:cubicBezTo>
                    <a:pt x="15513" y="18195"/>
                    <a:pt x="15610" y="18293"/>
                    <a:pt x="15635" y="18415"/>
                  </a:cubicBezTo>
                  <a:cubicBezTo>
                    <a:pt x="15659" y="18464"/>
                    <a:pt x="15659" y="18512"/>
                    <a:pt x="15659" y="18537"/>
                  </a:cubicBezTo>
                  <a:cubicBezTo>
                    <a:pt x="15635" y="18756"/>
                    <a:pt x="15537" y="18976"/>
                    <a:pt x="15342" y="19098"/>
                  </a:cubicBezTo>
                  <a:cubicBezTo>
                    <a:pt x="15049" y="19342"/>
                    <a:pt x="14708" y="19512"/>
                    <a:pt x="14318" y="19634"/>
                  </a:cubicBezTo>
                  <a:lnTo>
                    <a:pt x="14098" y="19683"/>
                  </a:lnTo>
                  <a:cubicBezTo>
                    <a:pt x="14122" y="19195"/>
                    <a:pt x="14318" y="18756"/>
                    <a:pt x="14659" y="18390"/>
                  </a:cubicBezTo>
                  <a:close/>
                  <a:moveTo>
                    <a:pt x="10732" y="19683"/>
                  </a:moveTo>
                  <a:lnTo>
                    <a:pt x="10488" y="19634"/>
                  </a:lnTo>
                  <a:cubicBezTo>
                    <a:pt x="10122" y="19512"/>
                    <a:pt x="9781" y="19342"/>
                    <a:pt x="9464" y="19098"/>
                  </a:cubicBezTo>
                  <a:cubicBezTo>
                    <a:pt x="9293" y="18976"/>
                    <a:pt x="9196" y="18756"/>
                    <a:pt x="9171" y="18561"/>
                  </a:cubicBezTo>
                  <a:cubicBezTo>
                    <a:pt x="9171" y="18512"/>
                    <a:pt x="9171" y="18464"/>
                    <a:pt x="9196" y="18415"/>
                  </a:cubicBezTo>
                  <a:cubicBezTo>
                    <a:pt x="9220" y="18293"/>
                    <a:pt x="9318" y="18195"/>
                    <a:pt x="9440" y="18171"/>
                  </a:cubicBezTo>
                  <a:cubicBezTo>
                    <a:pt x="9562" y="18122"/>
                    <a:pt x="9683" y="18122"/>
                    <a:pt x="9781" y="18171"/>
                  </a:cubicBezTo>
                  <a:cubicBezTo>
                    <a:pt x="9927" y="18195"/>
                    <a:pt x="10074" y="18293"/>
                    <a:pt x="10196" y="18390"/>
                  </a:cubicBezTo>
                  <a:cubicBezTo>
                    <a:pt x="10513" y="18756"/>
                    <a:pt x="10683" y="19195"/>
                    <a:pt x="10732" y="196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01;p53">
              <a:extLst>
                <a:ext uri="{FF2B5EF4-FFF2-40B4-BE49-F238E27FC236}">
                  <a16:creationId xmlns:a16="http://schemas.microsoft.com/office/drawing/2014/main" id="{AF10F129-D917-A08E-9A73-59F09FFAB304}"/>
                </a:ext>
              </a:extLst>
            </p:cNvPr>
            <p:cNvSpPr/>
            <p:nvPr/>
          </p:nvSpPr>
          <p:spPr>
            <a:xfrm>
              <a:off x="7413734" y="1710211"/>
              <a:ext cx="877180" cy="1049184"/>
            </a:xfrm>
            <a:custGeom>
              <a:avLst/>
              <a:gdLst/>
              <a:ahLst/>
              <a:cxnLst/>
              <a:rect l="l" t="t" r="r" b="b"/>
              <a:pathLst>
                <a:path w="19830" h="23756" extrusionOk="0">
                  <a:moveTo>
                    <a:pt x="8878" y="17195"/>
                  </a:moveTo>
                  <a:cubicBezTo>
                    <a:pt x="8829" y="16707"/>
                    <a:pt x="8634" y="16244"/>
                    <a:pt x="8317" y="15902"/>
                  </a:cubicBezTo>
                  <a:cubicBezTo>
                    <a:pt x="8195" y="15780"/>
                    <a:pt x="8073" y="15707"/>
                    <a:pt x="7927" y="15658"/>
                  </a:cubicBezTo>
                  <a:cubicBezTo>
                    <a:pt x="7805" y="15634"/>
                    <a:pt x="7683" y="15634"/>
                    <a:pt x="7586" y="15658"/>
                  </a:cubicBezTo>
                  <a:cubicBezTo>
                    <a:pt x="7464" y="15707"/>
                    <a:pt x="7366" y="15805"/>
                    <a:pt x="7317" y="15927"/>
                  </a:cubicBezTo>
                  <a:cubicBezTo>
                    <a:pt x="7293" y="15951"/>
                    <a:pt x="7293" y="16000"/>
                    <a:pt x="7293" y="16049"/>
                  </a:cubicBezTo>
                  <a:cubicBezTo>
                    <a:pt x="7317" y="16268"/>
                    <a:pt x="7415" y="16463"/>
                    <a:pt x="7610" y="16610"/>
                  </a:cubicBezTo>
                  <a:cubicBezTo>
                    <a:pt x="7903" y="16854"/>
                    <a:pt x="8268" y="17024"/>
                    <a:pt x="8634" y="17146"/>
                  </a:cubicBezTo>
                  <a:lnTo>
                    <a:pt x="8878" y="17195"/>
                  </a:lnTo>
                  <a:close/>
                  <a:moveTo>
                    <a:pt x="11781" y="17683"/>
                  </a:moveTo>
                  <a:cubicBezTo>
                    <a:pt x="10976" y="17829"/>
                    <a:pt x="10122" y="17829"/>
                    <a:pt x="9317" y="17683"/>
                  </a:cubicBezTo>
                  <a:lnTo>
                    <a:pt x="9317" y="17854"/>
                  </a:lnTo>
                  <a:lnTo>
                    <a:pt x="9317" y="23756"/>
                  </a:lnTo>
                  <a:lnTo>
                    <a:pt x="11781" y="23756"/>
                  </a:lnTo>
                  <a:lnTo>
                    <a:pt x="11781" y="17854"/>
                  </a:lnTo>
                  <a:lnTo>
                    <a:pt x="11781" y="17683"/>
                  </a:lnTo>
                  <a:close/>
                  <a:moveTo>
                    <a:pt x="19805" y="10049"/>
                  </a:moveTo>
                  <a:cubicBezTo>
                    <a:pt x="19829" y="11000"/>
                    <a:pt x="19683" y="11927"/>
                    <a:pt x="19390" y="12829"/>
                  </a:cubicBezTo>
                  <a:cubicBezTo>
                    <a:pt x="19195" y="13488"/>
                    <a:pt x="18902" y="14146"/>
                    <a:pt x="18537" y="14756"/>
                  </a:cubicBezTo>
                  <a:cubicBezTo>
                    <a:pt x="18512" y="14780"/>
                    <a:pt x="18366" y="15000"/>
                    <a:pt x="18146" y="15366"/>
                  </a:cubicBezTo>
                  <a:lnTo>
                    <a:pt x="18146" y="15366"/>
                  </a:lnTo>
                  <a:lnTo>
                    <a:pt x="18146" y="15366"/>
                  </a:lnTo>
                  <a:cubicBezTo>
                    <a:pt x="17415" y="16536"/>
                    <a:pt x="15927" y="19073"/>
                    <a:pt x="15683" y="20488"/>
                  </a:cubicBezTo>
                  <a:cubicBezTo>
                    <a:pt x="15610" y="21000"/>
                    <a:pt x="15561" y="21488"/>
                    <a:pt x="15561" y="22000"/>
                  </a:cubicBezTo>
                  <a:cubicBezTo>
                    <a:pt x="15512" y="22951"/>
                    <a:pt x="15488" y="23585"/>
                    <a:pt x="14805" y="23756"/>
                  </a:cubicBezTo>
                  <a:lnTo>
                    <a:pt x="14707" y="23756"/>
                  </a:lnTo>
                  <a:lnTo>
                    <a:pt x="12195" y="23756"/>
                  </a:lnTo>
                  <a:lnTo>
                    <a:pt x="12195" y="17854"/>
                  </a:lnTo>
                  <a:lnTo>
                    <a:pt x="12195" y="17610"/>
                  </a:lnTo>
                  <a:cubicBezTo>
                    <a:pt x="12317" y="17585"/>
                    <a:pt x="12464" y="17536"/>
                    <a:pt x="12585" y="17512"/>
                  </a:cubicBezTo>
                  <a:cubicBezTo>
                    <a:pt x="13000" y="17390"/>
                    <a:pt x="13390" y="17171"/>
                    <a:pt x="13732" y="16902"/>
                  </a:cubicBezTo>
                  <a:cubicBezTo>
                    <a:pt x="14000" y="16683"/>
                    <a:pt x="14171" y="16390"/>
                    <a:pt x="14195" y="16049"/>
                  </a:cubicBezTo>
                  <a:cubicBezTo>
                    <a:pt x="14195" y="15951"/>
                    <a:pt x="14195" y="15878"/>
                    <a:pt x="14171" y="15805"/>
                  </a:cubicBezTo>
                  <a:cubicBezTo>
                    <a:pt x="14073" y="15536"/>
                    <a:pt x="13903" y="15341"/>
                    <a:pt x="13659" y="15268"/>
                  </a:cubicBezTo>
                  <a:cubicBezTo>
                    <a:pt x="13463" y="15219"/>
                    <a:pt x="13268" y="15219"/>
                    <a:pt x="13073" y="15268"/>
                  </a:cubicBezTo>
                  <a:cubicBezTo>
                    <a:pt x="12854" y="15341"/>
                    <a:pt x="12659" y="15439"/>
                    <a:pt x="12512" y="15610"/>
                  </a:cubicBezTo>
                  <a:cubicBezTo>
                    <a:pt x="12098" y="16073"/>
                    <a:pt x="11854" y="16658"/>
                    <a:pt x="11805" y="17293"/>
                  </a:cubicBezTo>
                  <a:cubicBezTo>
                    <a:pt x="10976" y="17439"/>
                    <a:pt x="10122" y="17439"/>
                    <a:pt x="9293" y="17293"/>
                  </a:cubicBezTo>
                  <a:cubicBezTo>
                    <a:pt x="9268" y="16658"/>
                    <a:pt x="9025" y="16073"/>
                    <a:pt x="8586" y="15610"/>
                  </a:cubicBezTo>
                  <a:cubicBezTo>
                    <a:pt x="8439" y="15439"/>
                    <a:pt x="8244" y="15341"/>
                    <a:pt x="8025" y="15268"/>
                  </a:cubicBezTo>
                  <a:cubicBezTo>
                    <a:pt x="7829" y="15219"/>
                    <a:pt x="7634" y="15219"/>
                    <a:pt x="7464" y="15268"/>
                  </a:cubicBezTo>
                  <a:cubicBezTo>
                    <a:pt x="7220" y="15341"/>
                    <a:pt x="7025" y="15536"/>
                    <a:pt x="6951" y="15805"/>
                  </a:cubicBezTo>
                  <a:cubicBezTo>
                    <a:pt x="6903" y="15878"/>
                    <a:pt x="6903" y="15951"/>
                    <a:pt x="6903" y="16049"/>
                  </a:cubicBezTo>
                  <a:cubicBezTo>
                    <a:pt x="6927" y="16390"/>
                    <a:pt x="7098" y="16683"/>
                    <a:pt x="7366" y="16902"/>
                  </a:cubicBezTo>
                  <a:cubicBezTo>
                    <a:pt x="7708" y="17171"/>
                    <a:pt x="8098" y="17390"/>
                    <a:pt x="8512" y="17512"/>
                  </a:cubicBezTo>
                  <a:cubicBezTo>
                    <a:pt x="8634" y="17536"/>
                    <a:pt x="8781" y="17585"/>
                    <a:pt x="8903" y="17610"/>
                  </a:cubicBezTo>
                  <a:lnTo>
                    <a:pt x="8903" y="17854"/>
                  </a:lnTo>
                  <a:lnTo>
                    <a:pt x="8903" y="23756"/>
                  </a:lnTo>
                  <a:lnTo>
                    <a:pt x="6415" y="23756"/>
                  </a:lnTo>
                  <a:lnTo>
                    <a:pt x="6293" y="23756"/>
                  </a:lnTo>
                  <a:cubicBezTo>
                    <a:pt x="5610" y="23585"/>
                    <a:pt x="5586" y="22927"/>
                    <a:pt x="5537" y="22000"/>
                  </a:cubicBezTo>
                  <a:cubicBezTo>
                    <a:pt x="5537" y="21488"/>
                    <a:pt x="5488" y="20975"/>
                    <a:pt x="5415" y="20488"/>
                  </a:cubicBezTo>
                  <a:cubicBezTo>
                    <a:pt x="5171" y="19073"/>
                    <a:pt x="3683" y="16536"/>
                    <a:pt x="2952" y="15366"/>
                  </a:cubicBezTo>
                  <a:lnTo>
                    <a:pt x="2952" y="15341"/>
                  </a:lnTo>
                  <a:lnTo>
                    <a:pt x="2952" y="15341"/>
                  </a:lnTo>
                  <a:cubicBezTo>
                    <a:pt x="2732" y="15024"/>
                    <a:pt x="2586" y="14805"/>
                    <a:pt x="2561" y="14732"/>
                  </a:cubicBezTo>
                  <a:cubicBezTo>
                    <a:pt x="2195" y="14122"/>
                    <a:pt x="1927" y="13488"/>
                    <a:pt x="1708" y="12805"/>
                  </a:cubicBezTo>
                  <a:cubicBezTo>
                    <a:pt x="0" y="7390"/>
                    <a:pt x="3537" y="1732"/>
                    <a:pt x="9147" y="878"/>
                  </a:cubicBezTo>
                  <a:cubicBezTo>
                    <a:pt x="14756" y="0"/>
                    <a:pt x="19829" y="4366"/>
                    <a:pt x="19829" y="10049"/>
                  </a:cubicBezTo>
                  <a:close/>
                  <a:moveTo>
                    <a:pt x="12781" y="15902"/>
                  </a:moveTo>
                  <a:cubicBezTo>
                    <a:pt x="12464" y="16244"/>
                    <a:pt x="12268" y="16707"/>
                    <a:pt x="12220" y="17195"/>
                  </a:cubicBezTo>
                  <a:lnTo>
                    <a:pt x="12464" y="17122"/>
                  </a:lnTo>
                  <a:cubicBezTo>
                    <a:pt x="12829" y="17024"/>
                    <a:pt x="13171" y="16829"/>
                    <a:pt x="13488" y="16610"/>
                  </a:cubicBezTo>
                  <a:cubicBezTo>
                    <a:pt x="13659" y="16463"/>
                    <a:pt x="13781" y="16268"/>
                    <a:pt x="13805" y="16049"/>
                  </a:cubicBezTo>
                  <a:cubicBezTo>
                    <a:pt x="13805" y="16000"/>
                    <a:pt x="13781" y="15951"/>
                    <a:pt x="13781" y="15927"/>
                  </a:cubicBezTo>
                  <a:cubicBezTo>
                    <a:pt x="13732" y="15805"/>
                    <a:pt x="13634" y="15707"/>
                    <a:pt x="13512" y="15658"/>
                  </a:cubicBezTo>
                  <a:cubicBezTo>
                    <a:pt x="13415" y="15634"/>
                    <a:pt x="13293" y="15634"/>
                    <a:pt x="13171" y="15658"/>
                  </a:cubicBezTo>
                  <a:cubicBezTo>
                    <a:pt x="13024" y="15707"/>
                    <a:pt x="12903" y="15780"/>
                    <a:pt x="12781" y="159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1302;p53">
              <a:extLst>
                <a:ext uri="{FF2B5EF4-FFF2-40B4-BE49-F238E27FC236}">
                  <a16:creationId xmlns:a16="http://schemas.microsoft.com/office/drawing/2014/main" id="{863AE684-3C37-79DF-F49D-754AAC78841E}"/>
                </a:ext>
              </a:extLst>
            </p:cNvPr>
            <p:cNvSpPr/>
            <p:nvPr/>
          </p:nvSpPr>
          <p:spPr>
            <a:xfrm>
              <a:off x="7670508" y="2776651"/>
              <a:ext cx="419702" cy="53881"/>
            </a:xfrm>
            <a:custGeom>
              <a:avLst/>
              <a:gdLst/>
              <a:ahLst/>
              <a:cxnLst/>
              <a:rect l="l" t="t" r="r" b="b"/>
              <a:pathLst>
                <a:path w="9488" h="1220" extrusionOk="0">
                  <a:moveTo>
                    <a:pt x="6195" y="0"/>
                  </a:moveTo>
                  <a:lnTo>
                    <a:pt x="610" y="0"/>
                  </a:lnTo>
                  <a:cubicBezTo>
                    <a:pt x="439" y="0"/>
                    <a:pt x="293" y="73"/>
                    <a:pt x="171" y="171"/>
                  </a:cubicBezTo>
                  <a:cubicBezTo>
                    <a:pt x="49" y="293"/>
                    <a:pt x="0" y="463"/>
                    <a:pt x="0" y="610"/>
                  </a:cubicBezTo>
                  <a:cubicBezTo>
                    <a:pt x="0" y="781"/>
                    <a:pt x="49" y="927"/>
                    <a:pt x="171" y="1049"/>
                  </a:cubicBezTo>
                  <a:cubicBezTo>
                    <a:pt x="293" y="1171"/>
                    <a:pt x="439" y="1220"/>
                    <a:pt x="610" y="1220"/>
                  </a:cubicBezTo>
                  <a:lnTo>
                    <a:pt x="8878" y="1220"/>
                  </a:lnTo>
                  <a:cubicBezTo>
                    <a:pt x="9049" y="1220"/>
                    <a:pt x="9195" y="1171"/>
                    <a:pt x="9317" y="1049"/>
                  </a:cubicBezTo>
                  <a:cubicBezTo>
                    <a:pt x="9415" y="927"/>
                    <a:pt x="9488" y="781"/>
                    <a:pt x="9488" y="610"/>
                  </a:cubicBezTo>
                  <a:cubicBezTo>
                    <a:pt x="9488" y="463"/>
                    <a:pt x="9415" y="293"/>
                    <a:pt x="9317" y="171"/>
                  </a:cubicBezTo>
                  <a:cubicBezTo>
                    <a:pt x="9195" y="73"/>
                    <a:pt x="9049" y="0"/>
                    <a:pt x="88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3;p53">
              <a:extLst>
                <a:ext uri="{FF2B5EF4-FFF2-40B4-BE49-F238E27FC236}">
                  <a16:creationId xmlns:a16="http://schemas.microsoft.com/office/drawing/2014/main" id="{CF424C55-675B-43AE-CA94-BE1F21655DE1}"/>
                </a:ext>
              </a:extLst>
            </p:cNvPr>
            <p:cNvSpPr/>
            <p:nvPr/>
          </p:nvSpPr>
          <p:spPr>
            <a:xfrm>
              <a:off x="7695323" y="2848818"/>
              <a:ext cx="370070" cy="53881"/>
            </a:xfrm>
            <a:custGeom>
              <a:avLst/>
              <a:gdLst/>
              <a:ahLst/>
              <a:cxnLst/>
              <a:rect l="l" t="t" r="r" b="b"/>
              <a:pathLst>
                <a:path w="8366" h="1220" extrusionOk="0">
                  <a:moveTo>
                    <a:pt x="7756" y="0"/>
                  </a:moveTo>
                  <a:lnTo>
                    <a:pt x="610" y="0"/>
                  </a:lnTo>
                  <a:cubicBezTo>
                    <a:pt x="268" y="0"/>
                    <a:pt x="0" y="268"/>
                    <a:pt x="0" y="610"/>
                  </a:cubicBezTo>
                  <a:cubicBezTo>
                    <a:pt x="0" y="951"/>
                    <a:pt x="268" y="1220"/>
                    <a:pt x="610" y="1220"/>
                  </a:cubicBezTo>
                  <a:lnTo>
                    <a:pt x="7756" y="1220"/>
                  </a:lnTo>
                  <a:cubicBezTo>
                    <a:pt x="8097" y="1220"/>
                    <a:pt x="8366" y="951"/>
                    <a:pt x="8366" y="610"/>
                  </a:cubicBezTo>
                  <a:cubicBezTo>
                    <a:pt x="8366" y="268"/>
                    <a:pt x="8097" y="0"/>
                    <a:pt x="77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04;p53">
              <a:extLst>
                <a:ext uri="{FF2B5EF4-FFF2-40B4-BE49-F238E27FC236}">
                  <a16:creationId xmlns:a16="http://schemas.microsoft.com/office/drawing/2014/main" id="{28853A2C-D690-B9ED-E3B2-514A17484C06}"/>
                </a:ext>
              </a:extLst>
            </p:cNvPr>
            <p:cNvSpPr/>
            <p:nvPr/>
          </p:nvSpPr>
          <p:spPr>
            <a:xfrm>
              <a:off x="7727657" y="2919882"/>
              <a:ext cx="295667" cy="53925"/>
            </a:xfrm>
            <a:custGeom>
              <a:avLst/>
              <a:gdLst/>
              <a:ahLst/>
              <a:cxnLst/>
              <a:rect l="l" t="t" r="r" b="b"/>
              <a:pathLst>
                <a:path w="6684" h="1221" extrusionOk="0">
                  <a:moveTo>
                    <a:pt x="6074" y="1"/>
                  </a:moveTo>
                  <a:lnTo>
                    <a:pt x="830" y="1"/>
                  </a:lnTo>
                  <a:cubicBezTo>
                    <a:pt x="1" y="1"/>
                    <a:pt x="1" y="1220"/>
                    <a:pt x="830" y="1220"/>
                  </a:cubicBezTo>
                  <a:lnTo>
                    <a:pt x="6074" y="1220"/>
                  </a:lnTo>
                  <a:cubicBezTo>
                    <a:pt x="6245" y="1220"/>
                    <a:pt x="6391" y="1172"/>
                    <a:pt x="6513" y="1050"/>
                  </a:cubicBezTo>
                  <a:cubicBezTo>
                    <a:pt x="6635" y="928"/>
                    <a:pt x="6684" y="781"/>
                    <a:pt x="6684" y="611"/>
                  </a:cubicBezTo>
                  <a:cubicBezTo>
                    <a:pt x="6684" y="269"/>
                    <a:pt x="6415" y="1"/>
                    <a:pt x="60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05;p53">
              <a:extLst>
                <a:ext uri="{FF2B5EF4-FFF2-40B4-BE49-F238E27FC236}">
                  <a16:creationId xmlns:a16="http://schemas.microsoft.com/office/drawing/2014/main" id="{97D08656-66C0-55E0-1BB2-870C17FA991E}"/>
                </a:ext>
              </a:extLst>
            </p:cNvPr>
            <p:cNvSpPr/>
            <p:nvPr/>
          </p:nvSpPr>
          <p:spPr>
            <a:xfrm>
              <a:off x="7803208" y="2992050"/>
              <a:ext cx="154292" cy="60374"/>
            </a:xfrm>
            <a:custGeom>
              <a:avLst/>
              <a:gdLst/>
              <a:ahLst/>
              <a:cxnLst/>
              <a:rect l="l" t="t" r="r" b="b"/>
              <a:pathLst>
                <a:path w="3488" h="1367" extrusionOk="0">
                  <a:moveTo>
                    <a:pt x="3488" y="1"/>
                  </a:moveTo>
                  <a:lnTo>
                    <a:pt x="0" y="1"/>
                  </a:lnTo>
                  <a:cubicBezTo>
                    <a:pt x="73" y="318"/>
                    <a:pt x="244" y="611"/>
                    <a:pt x="488" y="806"/>
                  </a:cubicBezTo>
                  <a:cubicBezTo>
                    <a:pt x="1220" y="1367"/>
                    <a:pt x="2268" y="1367"/>
                    <a:pt x="3000" y="806"/>
                  </a:cubicBezTo>
                  <a:cubicBezTo>
                    <a:pt x="3244" y="611"/>
                    <a:pt x="3439" y="318"/>
                    <a:pt x="3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06;p53">
              <a:extLst>
                <a:ext uri="{FF2B5EF4-FFF2-40B4-BE49-F238E27FC236}">
                  <a16:creationId xmlns:a16="http://schemas.microsoft.com/office/drawing/2014/main" id="{87FB7808-2882-9FBB-1A0E-47CD281FCF5B}"/>
                </a:ext>
              </a:extLst>
            </p:cNvPr>
            <p:cNvSpPr/>
            <p:nvPr/>
          </p:nvSpPr>
          <p:spPr>
            <a:xfrm>
              <a:off x="7670508" y="1747885"/>
              <a:ext cx="676486" cy="1012615"/>
            </a:xfrm>
            <a:custGeom>
              <a:avLst/>
              <a:gdLst/>
              <a:ahLst/>
              <a:cxnLst/>
              <a:rect l="l" t="t" r="r" b="b"/>
              <a:pathLst>
                <a:path w="15293" h="22928" extrusionOk="0">
                  <a:moveTo>
                    <a:pt x="8268" y="20830"/>
                  </a:moveTo>
                  <a:cubicBezTo>
                    <a:pt x="8219" y="21781"/>
                    <a:pt x="8195" y="22415"/>
                    <a:pt x="7512" y="22586"/>
                  </a:cubicBezTo>
                  <a:lnTo>
                    <a:pt x="7415" y="22586"/>
                  </a:lnTo>
                  <a:lnTo>
                    <a:pt x="6390" y="22586"/>
                  </a:lnTo>
                  <a:lnTo>
                    <a:pt x="6390" y="22903"/>
                  </a:lnTo>
                  <a:lnTo>
                    <a:pt x="8878" y="22903"/>
                  </a:lnTo>
                  <a:lnTo>
                    <a:pt x="9000" y="22903"/>
                  </a:lnTo>
                  <a:cubicBezTo>
                    <a:pt x="9683" y="22708"/>
                    <a:pt x="9707" y="22074"/>
                    <a:pt x="9732" y="21147"/>
                  </a:cubicBezTo>
                  <a:cubicBezTo>
                    <a:pt x="9756" y="20635"/>
                    <a:pt x="9805" y="20122"/>
                    <a:pt x="9878" y="19610"/>
                  </a:cubicBezTo>
                  <a:cubicBezTo>
                    <a:pt x="10097" y="18196"/>
                    <a:pt x="11610" y="15683"/>
                    <a:pt x="12341" y="14513"/>
                  </a:cubicBezTo>
                  <a:lnTo>
                    <a:pt x="12341" y="14488"/>
                  </a:lnTo>
                  <a:lnTo>
                    <a:pt x="12341" y="14488"/>
                  </a:lnTo>
                  <a:cubicBezTo>
                    <a:pt x="12561" y="14147"/>
                    <a:pt x="12707" y="13927"/>
                    <a:pt x="12732" y="13879"/>
                  </a:cubicBezTo>
                  <a:cubicBezTo>
                    <a:pt x="13073" y="13269"/>
                    <a:pt x="13366" y="12635"/>
                    <a:pt x="13585" y="11952"/>
                  </a:cubicBezTo>
                  <a:cubicBezTo>
                    <a:pt x="15292" y="6464"/>
                    <a:pt x="11658" y="733"/>
                    <a:pt x="5927" y="1"/>
                  </a:cubicBezTo>
                  <a:cubicBezTo>
                    <a:pt x="10878" y="1489"/>
                    <a:pt x="13634" y="6732"/>
                    <a:pt x="12097" y="11635"/>
                  </a:cubicBezTo>
                  <a:cubicBezTo>
                    <a:pt x="11902" y="12318"/>
                    <a:pt x="11610" y="12952"/>
                    <a:pt x="11244" y="13562"/>
                  </a:cubicBezTo>
                  <a:cubicBezTo>
                    <a:pt x="11219" y="13610"/>
                    <a:pt x="11073" y="13830"/>
                    <a:pt x="10854" y="14147"/>
                  </a:cubicBezTo>
                  <a:lnTo>
                    <a:pt x="10854" y="14147"/>
                  </a:lnTo>
                  <a:lnTo>
                    <a:pt x="10854" y="14147"/>
                  </a:lnTo>
                  <a:cubicBezTo>
                    <a:pt x="10122" y="15318"/>
                    <a:pt x="8634" y="17854"/>
                    <a:pt x="8390" y="19269"/>
                  </a:cubicBezTo>
                  <a:cubicBezTo>
                    <a:pt x="8317" y="19781"/>
                    <a:pt x="8268" y="20269"/>
                    <a:pt x="8268" y="20781"/>
                  </a:cubicBezTo>
                  <a:close/>
                  <a:moveTo>
                    <a:pt x="3098" y="22903"/>
                  </a:moveTo>
                  <a:lnTo>
                    <a:pt x="3098" y="22586"/>
                  </a:lnTo>
                  <a:lnTo>
                    <a:pt x="0" y="22586"/>
                  </a:lnTo>
                  <a:cubicBezTo>
                    <a:pt x="122" y="22756"/>
                    <a:pt x="293" y="22878"/>
                    <a:pt x="488" y="22927"/>
                  </a:cubicBezTo>
                  <a:lnTo>
                    <a:pt x="610" y="22927"/>
                  </a:lnTo>
                  <a:close/>
                  <a:moveTo>
                    <a:pt x="5976" y="22903"/>
                  </a:moveTo>
                  <a:lnTo>
                    <a:pt x="3512" y="22903"/>
                  </a:lnTo>
                  <a:lnTo>
                    <a:pt x="3512" y="22586"/>
                  </a:lnTo>
                  <a:lnTo>
                    <a:pt x="5976" y="22586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07;p53">
              <a:extLst>
                <a:ext uri="{FF2B5EF4-FFF2-40B4-BE49-F238E27FC236}">
                  <a16:creationId xmlns:a16="http://schemas.microsoft.com/office/drawing/2014/main" id="{4F252CEC-C88A-A5AA-4D95-B16699D57A26}"/>
                </a:ext>
              </a:extLst>
            </p:cNvPr>
            <p:cNvSpPr/>
            <p:nvPr/>
          </p:nvSpPr>
          <p:spPr>
            <a:xfrm>
              <a:off x="7500033" y="1815768"/>
              <a:ext cx="220158" cy="323199"/>
            </a:xfrm>
            <a:custGeom>
              <a:avLst/>
              <a:gdLst/>
              <a:ahLst/>
              <a:cxnLst/>
              <a:rect l="l" t="t" r="r" b="b"/>
              <a:pathLst>
                <a:path w="4977" h="7318" extrusionOk="0">
                  <a:moveTo>
                    <a:pt x="4659" y="49"/>
                  </a:moveTo>
                  <a:cubicBezTo>
                    <a:pt x="4781" y="0"/>
                    <a:pt x="4878" y="49"/>
                    <a:pt x="4927" y="147"/>
                  </a:cubicBezTo>
                  <a:cubicBezTo>
                    <a:pt x="4976" y="244"/>
                    <a:pt x="4927" y="366"/>
                    <a:pt x="4830" y="415"/>
                  </a:cubicBezTo>
                  <a:cubicBezTo>
                    <a:pt x="4586" y="513"/>
                    <a:pt x="4366" y="659"/>
                    <a:pt x="4147" y="805"/>
                  </a:cubicBezTo>
                  <a:cubicBezTo>
                    <a:pt x="3927" y="952"/>
                    <a:pt x="3708" y="635"/>
                    <a:pt x="3927" y="488"/>
                  </a:cubicBezTo>
                  <a:cubicBezTo>
                    <a:pt x="4147" y="318"/>
                    <a:pt x="4415" y="171"/>
                    <a:pt x="4659" y="49"/>
                  </a:cubicBezTo>
                  <a:close/>
                  <a:moveTo>
                    <a:pt x="2854" y="1342"/>
                  </a:moveTo>
                  <a:cubicBezTo>
                    <a:pt x="2927" y="1244"/>
                    <a:pt x="3074" y="1244"/>
                    <a:pt x="3147" y="1342"/>
                  </a:cubicBezTo>
                  <a:cubicBezTo>
                    <a:pt x="3220" y="1415"/>
                    <a:pt x="3220" y="1537"/>
                    <a:pt x="3147" y="1610"/>
                  </a:cubicBezTo>
                  <a:cubicBezTo>
                    <a:pt x="2440" y="2317"/>
                    <a:pt x="1830" y="3122"/>
                    <a:pt x="1391" y="4025"/>
                  </a:cubicBezTo>
                  <a:cubicBezTo>
                    <a:pt x="927" y="4976"/>
                    <a:pt x="610" y="6000"/>
                    <a:pt x="440" y="7073"/>
                  </a:cubicBezTo>
                  <a:cubicBezTo>
                    <a:pt x="391" y="7317"/>
                    <a:pt x="1" y="7244"/>
                    <a:pt x="25" y="7000"/>
                  </a:cubicBezTo>
                  <a:cubicBezTo>
                    <a:pt x="220" y="5903"/>
                    <a:pt x="562" y="4854"/>
                    <a:pt x="1049" y="3854"/>
                  </a:cubicBezTo>
                  <a:cubicBezTo>
                    <a:pt x="1513" y="2903"/>
                    <a:pt x="2122" y="2074"/>
                    <a:pt x="2854" y="13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08;p53">
              <a:extLst>
                <a:ext uri="{FF2B5EF4-FFF2-40B4-BE49-F238E27FC236}">
                  <a16:creationId xmlns:a16="http://schemas.microsoft.com/office/drawing/2014/main" id="{8E1AFFA3-62D3-4065-1F1B-636D9691C464}"/>
                </a:ext>
              </a:extLst>
            </p:cNvPr>
            <p:cNvSpPr/>
            <p:nvPr/>
          </p:nvSpPr>
          <p:spPr>
            <a:xfrm>
              <a:off x="7948824" y="2848818"/>
              <a:ext cx="116559" cy="53881"/>
            </a:xfrm>
            <a:custGeom>
              <a:avLst/>
              <a:gdLst/>
              <a:ahLst/>
              <a:cxnLst/>
              <a:rect l="l" t="t" r="r" b="b"/>
              <a:pathLst>
                <a:path w="2635" h="1220" extrusionOk="0">
                  <a:moveTo>
                    <a:pt x="610" y="610"/>
                  </a:moveTo>
                  <a:cubicBezTo>
                    <a:pt x="610" y="951"/>
                    <a:pt x="342" y="1220"/>
                    <a:pt x="1" y="1220"/>
                  </a:cubicBezTo>
                  <a:lnTo>
                    <a:pt x="2025" y="1220"/>
                  </a:lnTo>
                  <a:cubicBezTo>
                    <a:pt x="2366" y="1220"/>
                    <a:pt x="2635" y="951"/>
                    <a:pt x="2635" y="610"/>
                  </a:cubicBezTo>
                  <a:cubicBezTo>
                    <a:pt x="2635" y="268"/>
                    <a:pt x="2366" y="0"/>
                    <a:pt x="2025" y="0"/>
                  </a:cubicBezTo>
                  <a:lnTo>
                    <a:pt x="1" y="0"/>
                  </a:lnTo>
                  <a:cubicBezTo>
                    <a:pt x="342" y="0"/>
                    <a:pt x="610" y="268"/>
                    <a:pt x="610" y="61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09;p53">
              <a:extLst>
                <a:ext uri="{FF2B5EF4-FFF2-40B4-BE49-F238E27FC236}">
                  <a16:creationId xmlns:a16="http://schemas.microsoft.com/office/drawing/2014/main" id="{8FC76AB8-4DBD-082B-5688-D4CFA73CE6CC}"/>
                </a:ext>
              </a:extLst>
            </p:cNvPr>
            <p:cNvSpPr/>
            <p:nvPr/>
          </p:nvSpPr>
          <p:spPr>
            <a:xfrm>
              <a:off x="7973639" y="2776651"/>
              <a:ext cx="116559" cy="53881"/>
            </a:xfrm>
            <a:custGeom>
              <a:avLst/>
              <a:gdLst/>
              <a:ahLst/>
              <a:cxnLst/>
              <a:rect l="l" t="t" r="r" b="b"/>
              <a:pathLst>
                <a:path w="2635" h="1220" extrusionOk="0">
                  <a:moveTo>
                    <a:pt x="1" y="1220"/>
                  </a:moveTo>
                  <a:lnTo>
                    <a:pt x="2025" y="1220"/>
                  </a:lnTo>
                  <a:cubicBezTo>
                    <a:pt x="2196" y="1220"/>
                    <a:pt x="2342" y="1171"/>
                    <a:pt x="2464" y="1049"/>
                  </a:cubicBezTo>
                  <a:cubicBezTo>
                    <a:pt x="2562" y="927"/>
                    <a:pt x="2635" y="781"/>
                    <a:pt x="2635" y="610"/>
                  </a:cubicBezTo>
                  <a:cubicBezTo>
                    <a:pt x="2635" y="463"/>
                    <a:pt x="2562" y="293"/>
                    <a:pt x="2464" y="171"/>
                  </a:cubicBezTo>
                  <a:cubicBezTo>
                    <a:pt x="2342" y="73"/>
                    <a:pt x="2196" y="0"/>
                    <a:pt x="2025" y="0"/>
                  </a:cubicBezTo>
                  <a:lnTo>
                    <a:pt x="1" y="0"/>
                  </a:lnTo>
                  <a:cubicBezTo>
                    <a:pt x="171" y="0"/>
                    <a:pt x="318" y="73"/>
                    <a:pt x="440" y="171"/>
                  </a:cubicBezTo>
                  <a:cubicBezTo>
                    <a:pt x="537" y="293"/>
                    <a:pt x="610" y="463"/>
                    <a:pt x="610" y="610"/>
                  </a:cubicBezTo>
                  <a:cubicBezTo>
                    <a:pt x="610" y="781"/>
                    <a:pt x="537" y="927"/>
                    <a:pt x="440" y="1049"/>
                  </a:cubicBezTo>
                  <a:cubicBezTo>
                    <a:pt x="318" y="1171"/>
                    <a:pt x="171" y="1220"/>
                    <a:pt x="1" y="122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10;p53">
              <a:extLst>
                <a:ext uri="{FF2B5EF4-FFF2-40B4-BE49-F238E27FC236}">
                  <a16:creationId xmlns:a16="http://schemas.microsoft.com/office/drawing/2014/main" id="{CF114944-FE9D-9CCD-04C0-27A656D1BDB9}"/>
                </a:ext>
              </a:extLst>
            </p:cNvPr>
            <p:cNvSpPr/>
            <p:nvPr/>
          </p:nvSpPr>
          <p:spPr>
            <a:xfrm>
              <a:off x="7906758" y="2919882"/>
              <a:ext cx="116559" cy="53925"/>
            </a:xfrm>
            <a:custGeom>
              <a:avLst/>
              <a:gdLst/>
              <a:ahLst/>
              <a:cxnLst/>
              <a:rect l="l" t="t" r="r" b="b"/>
              <a:pathLst>
                <a:path w="2635" h="1221" extrusionOk="0">
                  <a:moveTo>
                    <a:pt x="2025" y="1"/>
                  </a:moveTo>
                  <a:lnTo>
                    <a:pt x="0" y="1"/>
                  </a:lnTo>
                  <a:cubicBezTo>
                    <a:pt x="342" y="1"/>
                    <a:pt x="610" y="269"/>
                    <a:pt x="610" y="611"/>
                  </a:cubicBezTo>
                  <a:cubicBezTo>
                    <a:pt x="610" y="781"/>
                    <a:pt x="537" y="928"/>
                    <a:pt x="439" y="1050"/>
                  </a:cubicBezTo>
                  <a:cubicBezTo>
                    <a:pt x="318" y="1172"/>
                    <a:pt x="171" y="1220"/>
                    <a:pt x="0" y="1220"/>
                  </a:cubicBezTo>
                  <a:lnTo>
                    <a:pt x="2025" y="1220"/>
                  </a:lnTo>
                  <a:cubicBezTo>
                    <a:pt x="2196" y="1220"/>
                    <a:pt x="2342" y="1172"/>
                    <a:pt x="2464" y="1050"/>
                  </a:cubicBezTo>
                  <a:cubicBezTo>
                    <a:pt x="2586" y="928"/>
                    <a:pt x="2635" y="781"/>
                    <a:pt x="2635" y="611"/>
                  </a:cubicBezTo>
                  <a:cubicBezTo>
                    <a:pt x="2635" y="269"/>
                    <a:pt x="2366" y="1"/>
                    <a:pt x="2025" y="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722;p37">
            <a:extLst>
              <a:ext uri="{FF2B5EF4-FFF2-40B4-BE49-F238E27FC236}">
                <a16:creationId xmlns:a16="http://schemas.microsoft.com/office/drawing/2014/main" id="{160AE871-772B-3B4D-0507-0B8D5E505854}"/>
              </a:ext>
            </a:extLst>
          </p:cNvPr>
          <p:cNvGrpSpPr/>
          <p:nvPr/>
        </p:nvGrpSpPr>
        <p:grpSpPr>
          <a:xfrm>
            <a:off x="1577082" y="2511617"/>
            <a:ext cx="6587582" cy="738664"/>
            <a:chOff x="715100" y="1600313"/>
            <a:chExt cx="3771900" cy="1412550"/>
          </a:xfrm>
        </p:grpSpPr>
        <p:sp>
          <p:nvSpPr>
            <p:cNvPr id="50" name="Google Shape;723;p37">
              <a:extLst>
                <a:ext uri="{FF2B5EF4-FFF2-40B4-BE49-F238E27FC236}">
                  <a16:creationId xmlns:a16="http://schemas.microsoft.com/office/drawing/2014/main" id="{F42046E3-0D72-1037-52DD-AB455F187EE4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24;p37">
              <a:extLst>
                <a:ext uri="{FF2B5EF4-FFF2-40B4-BE49-F238E27FC236}">
                  <a16:creationId xmlns:a16="http://schemas.microsoft.com/office/drawing/2014/main" id="{6F426A34-1F04-FB94-63F8-D0B10D57E8B8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4FABB2C6-227F-0EA2-A07C-5AA373BBC7F0}"/>
              </a:ext>
            </a:extLst>
          </p:cNvPr>
          <p:cNvSpPr txBox="1"/>
          <p:nvPr/>
        </p:nvSpPr>
        <p:spPr>
          <a:xfrm>
            <a:off x="2954300" y="2438922"/>
            <a:ext cx="59638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Karla" pitchFamily="2" charset="0"/>
              </a:rPr>
              <a:t>Baseline: Low-pass Filtering</a:t>
            </a:r>
          </a:p>
          <a:p>
            <a:r>
              <a:rPr lang="en-US" altLang="zh-CN" dirty="0">
                <a:latin typeface="Karla" pitchFamily="2" charset="0"/>
              </a:rPr>
              <a:t>Low-pass filtering provides a simple baseline by removing </a:t>
            </a:r>
          </a:p>
          <a:p>
            <a:r>
              <a:rPr lang="en-US" altLang="zh-CN" dirty="0">
                <a:latin typeface="Karla" pitchFamily="2" charset="0"/>
              </a:rPr>
              <a:t>high-frequency noise.</a:t>
            </a:r>
            <a:endParaRPr lang="zh-CN" altLang="en-US" sz="1200" dirty="0">
              <a:latin typeface="Karla" pitchFamily="2" charset="0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CF04A21A-5181-7D67-9510-13EDCB1872E4}"/>
              </a:ext>
            </a:extLst>
          </p:cNvPr>
          <p:cNvSpPr/>
          <p:nvPr/>
        </p:nvSpPr>
        <p:spPr>
          <a:xfrm>
            <a:off x="2391819" y="2558321"/>
            <a:ext cx="525824" cy="589088"/>
          </a:xfrm>
          <a:prstGeom prst="roundRect">
            <a:avLst/>
          </a:prstGeom>
          <a:solidFill>
            <a:srgbClr val="D9E7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solidFill>
                  <a:sysClr val="windowText" lastClr="000000"/>
                </a:solidFill>
                <a:latin typeface="Karla" pitchFamily="2" charset="0"/>
              </a:rPr>
              <a:t>02</a:t>
            </a:r>
          </a:p>
        </p:txBody>
      </p:sp>
      <p:grpSp>
        <p:nvGrpSpPr>
          <p:cNvPr id="1349" name="Google Shape;1349;p53"/>
          <p:cNvGrpSpPr/>
          <p:nvPr/>
        </p:nvGrpSpPr>
        <p:grpSpPr>
          <a:xfrm>
            <a:off x="1727242" y="2606532"/>
            <a:ext cx="484265" cy="525192"/>
            <a:chOff x="6221117" y="3926992"/>
            <a:chExt cx="493304" cy="493304"/>
          </a:xfrm>
        </p:grpSpPr>
        <p:sp>
          <p:nvSpPr>
            <p:cNvPr id="1350" name="Google Shape;1350;p53"/>
            <p:cNvSpPr/>
            <p:nvPr/>
          </p:nvSpPr>
          <p:spPr>
            <a:xfrm>
              <a:off x="6221117" y="3926992"/>
              <a:ext cx="493304" cy="493304"/>
            </a:xfrm>
            <a:custGeom>
              <a:avLst/>
              <a:gdLst/>
              <a:ahLst/>
              <a:cxnLst/>
              <a:rect l="l" t="t" r="r" b="b"/>
              <a:pathLst>
                <a:path w="14952" h="14952" extrusionOk="0">
                  <a:moveTo>
                    <a:pt x="1220" y="0"/>
                  </a:moveTo>
                  <a:cubicBezTo>
                    <a:pt x="562" y="0"/>
                    <a:pt x="1" y="561"/>
                    <a:pt x="1" y="1220"/>
                  </a:cubicBezTo>
                  <a:lnTo>
                    <a:pt x="1" y="13732"/>
                  </a:lnTo>
                  <a:cubicBezTo>
                    <a:pt x="1" y="14415"/>
                    <a:pt x="562" y="14951"/>
                    <a:pt x="1220" y="14951"/>
                  </a:cubicBezTo>
                  <a:lnTo>
                    <a:pt x="13732" y="14951"/>
                  </a:lnTo>
                  <a:cubicBezTo>
                    <a:pt x="14391" y="14951"/>
                    <a:pt x="14952" y="14415"/>
                    <a:pt x="14952" y="13732"/>
                  </a:cubicBezTo>
                  <a:lnTo>
                    <a:pt x="14952" y="1220"/>
                  </a:lnTo>
                  <a:cubicBezTo>
                    <a:pt x="14952" y="561"/>
                    <a:pt x="14391" y="0"/>
                    <a:pt x="13732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3"/>
            <p:cNvSpPr/>
            <p:nvPr/>
          </p:nvSpPr>
          <p:spPr>
            <a:xfrm>
              <a:off x="6307745" y="4013620"/>
              <a:ext cx="320046" cy="320046"/>
            </a:xfrm>
            <a:custGeom>
              <a:avLst/>
              <a:gdLst/>
              <a:ahLst/>
              <a:cxnLst/>
              <a:rect l="l" t="t" r="r" b="b"/>
              <a:pathLst>
                <a:path w="8513" h="8513" extrusionOk="0">
                  <a:moveTo>
                    <a:pt x="4268" y="3172"/>
                  </a:moveTo>
                  <a:cubicBezTo>
                    <a:pt x="5219" y="3172"/>
                    <a:pt x="5707" y="4342"/>
                    <a:pt x="5024" y="5025"/>
                  </a:cubicBezTo>
                  <a:cubicBezTo>
                    <a:pt x="4804" y="5246"/>
                    <a:pt x="4532" y="5344"/>
                    <a:pt x="4265" y="5344"/>
                  </a:cubicBezTo>
                  <a:cubicBezTo>
                    <a:pt x="3707" y="5344"/>
                    <a:pt x="3171" y="4913"/>
                    <a:pt x="3171" y="4269"/>
                  </a:cubicBezTo>
                  <a:cubicBezTo>
                    <a:pt x="3171" y="3659"/>
                    <a:pt x="3659" y="3172"/>
                    <a:pt x="4268" y="3172"/>
                  </a:cubicBezTo>
                  <a:close/>
                  <a:moveTo>
                    <a:pt x="4707" y="1"/>
                  </a:moveTo>
                  <a:lnTo>
                    <a:pt x="4634" y="757"/>
                  </a:lnTo>
                  <a:cubicBezTo>
                    <a:pt x="4512" y="757"/>
                    <a:pt x="4390" y="733"/>
                    <a:pt x="4268" y="733"/>
                  </a:cubicBezTo>
                  <a:cubicBezTo>
                    <a:pt x="4000" y="733"/>
                    <a:pt x="3756" y="781"/>
                    <a:pt x="3488" y="830"/>
                  </a:cubicBezTo>
                  <a:lnTo>
                    <a:pt x="3317" y="74"/>
                  </a:lnTo>
                  <a:cubicBezTo>
                    <a:pt x="2537" y="269"/>
                    <a:pt x="1805" y="659"/>
                    <a:pt x="1220" y="1245"/>
                  </a:cubicBezTo>
                  <a:lnTo>
                    <a:pt x="1781" y="1781"/>
                  </a:lnTo>
                  <a:cubicBezTo>
                    <a:pt x="1512" y="2074"/>
                    <a:pt x="1293" y="2367"/>
                    <a:pt x="1122" y="2732"/>
                  </a:cubicBezTo>
                  <a:lnTo>
                    <a:pt x="415" y="2391"/>
                  </a:lnTo>
                  <a:cubicBezTo>
                    <a:pt x="146" y="2976"/>
                    <a:pt x="0" y="3611"/>
                    <a:pt x="0" y="4245"/>
                  </a:cubicBezTo>
                  <a:cubicBezTo>
                    <a:pt x="0" y="4415"/>
                    <a:pt x="0" y="4586"/>
                    <a:pt x="24" y="4757"/>
                  </a:cubicBezTo>
                  <a:lnTo>
                    <a:pt x="781" y="4659"/>
                  </a:lnTo>
                  <a:cubicBezTo>
                    <a:pt x="829" y="5050"/>
                    <a:pt x="951" y="5415"/>
                    <a:pt x="1122" y="5757"/>
                  </a:cubicBezTo>
                  <a:lnTo>
                    <a:pt x="415" y="6098"/>
                  </a:lnTo>
                  <a:cubicBezTo>
                    <a:pt x="781" y="6830"/>
                    <a:pt x="1317" y="7440"/>
                    <a:pt x="2024" y="7879"/>
                  </a:cubicBezTo>
                  <a:lnTo>
                    <a:pt x="2439" y="7220"/>
                  </a:lnTo>
                  <a:cubicBezTo>
                    <a:pt x="2756" y="7415"/>
                    <a:pt x="3098" y="7562"/>
                    <a:pt x="3488" y="7659"/>
                  </a:cubicBezTo>
                  <a:lnTo>
                    <a:pt x="3317" y="8415"/>
                  </a:lnTo>
                  <a:cubicBezTo>
                    <a:pt x="3610" y="8464"/>
                    <a:pt x="3951" y="8513"/>
                    <a:pt x="4268" y="8513"/>
                  </a:cubicBezTo>
                  <a:cubicBezTo>
                    <a:pt x="4756" y="8513"/>
                    <a:pt x="5244" y="8415"/>
                    <a:pt x="5707" y="8269"/>
                  </a:cubicBezTo>
                  <a:lnTo>
                    <a:pt x="5439" y="7537"/>
                  </a:lnTo>
                  <a:cubicBezTo>
                    <a:pt x="5805" y="7415"/>
                    <a:pt x="6146" y="7220"/>
                    <a:pt x="6439" y="7001"/>
                  </a:cubicBezTo>
                  <a:lnTo>
                    <a:pt x="6927" y="7610"/>
                  </a:lnTo>
                  <a:cubicBezTo>
                    <a:pt x="7561" y="7098"/>
                    <a:pt x="8024" y="6415"/>
                    <a:pt x="8293" y="5635"/>
                  </a:cubicBezTo>
                  <a:lnTo>
                    <a:pt x="7585" y="5391"/>
                  </a:lnTo>
                  <a:cubicBezTo>
                    <a:pt x="7707" y="5025"/>
                    <a:pt x="7756" y="4659"/>
                    <a:pt x="7780" y="4269"/>
                  </a:cubicBezTo>
                  <a:lnTo>
                    <a:pt x="7976" y="4269"/>
                  </a:lnTo>
                  <a:lnTo>
                    <a:pt x="8512" y="4318"/>
                  </a:lnTo>
                  <a:lnTo>
                    <a:pt x="8512" y="4269"/>
                  </a:lnTo>
                  <a:cubicBezTo>
                    <a:pt x="8512" y="3440"/>
                    <a:pt x="8293" y="2635"/>
                    <a:pt x="7854" y="1952"/>
                  </a:cubicBezTo>
                  <a:lnTo>
                    <a:pt x="7219" y="2367"/>
                  </a:lnTo>
                  <a:cubicBezTo>
                    <a:pt x="7000" y="2050"/>
                    <a:pt x="6756" y="1757"/>
                    <a:pt x="6463" y="1537"/>
                  </a:cubicBezTo>
                  <a:lnTo>
                    <a:pt x="6927" y="928"/>
                  </a:lnTo>
                  <a:cubicBezTo>
                    <a:pt x="6293" y="391"/>
                    <a:pt x="5512" y="74"/>
                    <a:pt x="470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8" name="Google Shape;722;p37">
            <a:extLst>
              <a:ext uri="{FF2B5EF4-FFF2-40B4-BE49-F238E27FC236}">
                <a16:creationId xmlns:a16="http://schemas.microsoft.com/office/drawing/2014/main" id="{0E226FE6-72A8-4D6C-B2E9-2AB67412DA95}"/>
              </a:ext>
            </a:extLst>
          </p:cNvPr>
          <p:cNvGrpSpPr/>
          <p:nvPr/>
        </p:nvGrpSpPr>
        <p:grpSpPr>
          <a:xfrm>
            <a:off x="1577082" y="3256511"/>
            <a:ext cx="6587582" cy="835011"/>
            <a:chOff x="715100" y="1600313"/>
            <a:chExt cx="3771900" cy="1412550"/>
          </a:xfrm>
        </p:grpSpPr>
        <p:sp>
          <p:nvSpPr>
            <p:cNvPr id="1359" name="Google Shape;723;p37">
              <a:extLst>
                <a:ext uri="{FF2B5EF4-FFF2-40B4-BE49-F238E27FC236}">
                  <a16:creationId xmlns:a16="http://schemas.microsoft.com/office/drawing/2014/main" id="{A73D066B-0D88-93CC-B70C-E15D27C21820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724;p37">
              <a:extLst>
                <a:ext uri="{FF2B5EF4-FFF2-40B4-BE49-F238E27FC236}">
                  <a16:creationId xmlns:a16="http://schemas.microsoft.com/office/drawing/2014/main" id="{155EF924-C0FA-817B-09AA-F6B678E9D6F5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61" name="文本框 1360">
            <a:extLst>
              <a:ext uri="{FF2B5EF4-FFF2-40B4-BE49-F238E27FC236}">
                <a16:creationId xmlns:a16="http://schemas.microsoft.com/office/drawing/2014/main" id="{593A085C-5F61-21A7-AB6B-DFB82554DE2D}"/>
              </a:ext>
            </a:extLst>
          </p:cNvPr>
          <p:cNvSpPr txBox="1"/>
          <p:nvPr/>
        </p:nvSpPr>
        <p:spPr>
          <a:xfrm>
            <a:off x="2954444" y="3316814"/>
            <a:ext cx="486424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Karla" pitchFamily="2" charset="0"/>
              </a:rPr>
              <a:t>Frequency-Domain Masking</a:t>
            </a:r>
          </a:p>
          <a:p>
            <a:r>
              <a:rPr lang="en-US" altLang="zh-CN" dirty="0">
                <a:latin typeface="Karla" pitchFamily="2" charset="0"/>
              </a:rPr>
              <a:t>Allowing different gains for different frequencies.</a:t>
            </a:r>
            <a:endParaRPr lang="zh-CN" altLang="en-US" sz="1200" dirty="0">
              <a:latin typeface="Karla" pitchFamily="2" charset="0"/>
            </a:endParaRPr>
          </a:p>
        </p:txBody>
      </p:sp>
      <p:sp>
        <p:nvSpPr>
          <p:cNvPr id="1362" name="矩形: 圆角 1361">
            <a:extLst>
              <a:ext uri="{FF2B5EF4-FFF2-40B4-BE49-F238E27FC236}">
                <a16:creationId xmlns:a16="http://schemas.microsoft.com/office/drawing/2014/main" id="{B8A432F1-4CD3-A835-0FEF-0E63BBC94332}"/>
              </a:ext>
            </a:extLst>
          </p:cNvPr>
          <p:cNvSpPr/>
          <p:nvPr/>
        </p:nvSpPr>
        <p:spPr>
          <a:xfrm>
            <a:off x="2389179" y="3380162"/>
            <a:ext cx="525824" cy="589088"/>
          </a:xfrm>
          <a:prstGeom prst="roundRect">
            <a:avLst/>
          </a:prstGeom>
          <a:solidFill>
            <a:srgbClr val="E2D0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solidFill>
                  <a:sysClr val="windowText" lastClr="000000"/>
                </a:solidFill>
                <a:latin typeface="Karla" pitchFamily="2" charset="0"/>
              </a:rPr>
              <a:t>03</a:t>
            </a:r>
          </a:p>
        </p:txBody>
      </p:sp>
      <p:grpSp>
        <p:nvGrpSpPr>
          <p:cNvPr id="1381" name="Google Shape;1323;p53">
            <a:extLst>
              <a:ext uri="{FF2B5EF4-FFF2-40B4-BE49-F238E27FC236}">
                <a16:creationId xmlns:a16="http://schemas.microsoft.com/office/drawing/2014/main" id="{6C709574-D09D-A52B-B5C0-ECBBC7AA945F}"/>
              </a:ext>
            </a:extLst>
          </p:cNvPr>
          <p:cNvGrpSpPr/>
          <p:nvPr/>
        </p:nvGrpSpPr>
        <p:grpSpPr>
          <a:xfrm>
            <a:off x="1715470" y="3408015"/>
            <a:ext cx="496038" cy="548193"/>
            <a:chOff x="4830699" y="1600325"/>
            <a:chExt cx="1682152" cy="1253177"/>
          </a:xfrm>
        </p:grpSpPr>
        <p:sp>
          <p:nvSpPr>
            <p:cNvPr id="1382" name="Google Shape;1324;p53">
              <a:extLst>
                <a:ext uri="{FF2B5EF4-FFF2-40B4-BE49-F238E27FC236}">
                  <a16:creationId xmlns:a16="http://schemas.microsoft.com/office/drawing/2014/main" id="{18918E2F-F784-FB62-F8C7-3D5CCC4E050C}"/>
                </a:ext>
              </a:extLst>
            </p:cNvPr>
            <p:cNvSpPr/>
            <p:nvPr/>
          </p:nvSpPr>
          <p:spPr>
            <a:xfrm>
              <a:off x="4830699" y="1600325"/>
              <a:ext cx="1682152" cy="1253177"/>
            </a:xfrm>
            <a:custGeom>
              <a:avLst/>
              <a:gdLst/>
              <a:ahLst/>
              <a:cxnLst/>
              <a:rect l="l" t="t" r="r" b="b"/>
              <a:pathLst>
                <a:path w="32463" h="23927" extrusionOk="0">
                  <a:moveTo>
                    <a:pt x="2610" y="0"/>
                  </a:moveTo>
                  <a:lnTo>
                    <a:pt x="29853" y="0"/>
                  </a:lnTo>
                  <a:cubicBezTo>
                    <a:pt x="31292" y="25"/>
                    <a:pt x="32438" y="1171"/>
                    <a:pt x="32463" y="2610"/>
                  </a:cubicBezTo>
                  <a:lnTo>
                    <a:pt x="32463" y="21341"/>
                  </a:lnTo>
                  <a:cubicBezTo>
                    <a:pt x="32463" y="21512"/>
                    <a:pt x="32438" y="21683"/>
                    <a:pt x="32390" y="21853"/>
                  </a:cubicBezTo>
                  <a:lnTo>
                    <a:pt x="32390" y="21853"/>
                  </a:lnTo>
                  <a:cubicBezTo>
                    <a:pt x="32146" y="23073"/>
                    <a:pt x="31073" y="23927"/>
                    <a:pt x="29853" y="23927"/>
                  </a:cubicBezTo>
                  <a:lnTo>
                    <a:pt x="2610" y="23927"/>
                  </a:lnTo>
                  <a:cubicBezTo>
                    <a:pt x="1366" y="23927"/>
                    <a:pt x="317" y="23073"/>
                    <a:pt x="49" y="21853"/>
                  </a:cubicBezTo>
                  <a:lnTo>
                    <a:pt x="49" y="21853"/>
                  </a:lnTo>
                  <a:cubicBezTo>
                    <a:pt x="24" y="21683"/>
                    <a:pt x="0" y="21512"/>
                    <a:pt x="0" y="21341"/>
                  </a:cubicBezTo>
                  <a:lnTo>
                    <a:pt x="0" y="2610"/>
                  </a:lnTo>
                  <a:cubicBezTo>
                    <a:pt x="0" y="1171"/>
                    <a:pt x="1171" y="25"/>
                    <a:pt x="2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25;p53">
              <a:extLst>
                <a:ext uri="{FF2B5EF4-FFF2-40B4-BE49-F238E27FC236}">
                  <a16:creationId xmlns:a16="http://schemas.microsoft.com/office/drawing/2014/main" id="{F97E87A3-15B5-B822-09E5-764110B2A0CF}"/>
                </a:ext>
              </a:extLst>
            </p:cNvPr>
            <p:cNvSpPr/>
            <p:nvPr/>
          </p:nvSpPr>
          <p:spPr>
            <a:xfrm>
              <a:off x="4850904" y="1622008"/>
              <a:ext cx="1640490" cy="1111398"/>
            </a:xfrm>
            <a:custGeom>
              <a:avLst/>
              <a:gdLst/>
              <a:ahLst/>
              <a:cxnLst/>
              <a:rect l="l" t="t" r="r" b="b"/>
              <a:pathLst>
                <a:path w="31659" h="21220" extrusionOk="0">
                  <a:moveTo>
                    <a:pt x="24097" y="1318"/>
                  </a:moveTo>
                  <a:lnTo>
                    <a:pt x="29463" y="1318"/>
                  </a:lnTo>
                  <a:cubicBezTo>
                    <a:pt x="30219" y="1318"/>
                    <a:pt x="30853" y="1952"/>
                    <a:pt x="30853" y="2708"/>
                  </a:cubicBezTo>
                  <a:lnTo>
                    <a:pt x="30853" y="18805"/>
                  </a:lnTo>
                  <a:cubicBezTo>
                    <a:pt x="30853" y="19561"/>
                    <a:pt x="30219" y="20196"/>
                    <a:pt x="29463" y="20196"/>
                  </a:cubicBezTo>
                  <a:lnTo>
                    <a:pt x="2220" y="20196"/>
                  </a:lnTo>
                  <a:cubicBezTo>
                    <a:pt x="1439" y="20196"/>
                    <a:pt x="829" y="19561"/>
                    <a:pt x="829" y="18805"/>
                  </a:cubicBezTo>
                  <a:lnTo>
                    <a:pt x="829" y="2708"/>
                  </a:lnTo>
                  <a:cubicBezTo>
                    <a:pt x="829" y="1952"/>
                    <a:pt x="1439" y="1318"/>
                    <a:pt x="2220" y="1318"/>
                  </a:cubicBezTo>
                  <a:lnTo>
                    <a:pt x="24073" y="1318"/>
                  </a:lnTo>
                  <a:close/>
                  <a:moveTo>
                    <a:pt x="25" y="21220"/>
                  </a:moveTo>
                  <a:lnTo>
                    <a:pt x="31658" y="21220"/>
                  </a:lnTo>
                  <a:cubicBezTo>
                    <a:pt x="31658" y="21122"/>
                    <a:pt x="31658" y="21000"/>
                    <a:pt x="31658" y="20903"/>
                  </a:cubicBezTo>
                  <a:lnTo>
                    <a:pt x="31658" y="2196"/>
                  </a:lnTo>
                  <a:cubicBezTo>
                    <a:pt x="31658" y="976"/>
                    <a:pt x="30683" y="1"/>
                    <a:pt x="29463" y="1"/>
                  </a:cubicBezTo>
                  <a:lnTo>
                    <a:pt x="2220" y="1"/>
                  </a:lnTo>
                  <a:cubicBezTo>
                    <a:pt x="1000" y="1"/>
                    <a:pt x="0" y="976"/>
                    <a:pt x="0" y="2196"/>
                  </a:cubicBezTo>
                  <a:lnTo>
                    <a:pt x="0" y="20927"/>
                  </a:lnTo>
                  <a:cubicBezTo>
                    <a:pt x="0" y="21025"/>
                    <a:pt x="25" y="21122"/>
                    <a:pt x="25" y="212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26;p53">
              <a:extLst>
                <a:ext uri="{FF2B5EF4-FFF2-40B4-BE49-F238E27FC236}">
                  <a16:creationId xmlns:a16="http://schemas.microsoft.com/office/drawing/2014/main" id="{924B1A77-8BFE-9681-9CB8-79832B84226D}"/>
                </a:ext>
              </a:extLst>
            </p:cNvPr>
            <p:cNvSpPr/>
            <p:nvPr/>
          </p:nvSpPr>
          <p:spPr>
            <a:xfrm>
              <a:off x="5251442" y="1706329"/>
              <a:ext cx="840480" cy="254281"/>
            </a:xfrm>
            <a:custGeom>
              <a:avLst/>
              <a:gdLst/>
              <a:ahLst/>
              <a:cxnLst/>
              <a:rect l="l" t="t" r="r" b="b"/>
              <a:pathLst>
                <a:path w="16220" h="4855" extrusionOk="0">
                  <a:moveTo>
                    <a:pt x="16220" y="2440"/>
                  </a:moveTo>
                  <a:lnTo>
                    <a:pt x="16220" y="1"/>
                  </a:lnTo>
                  <a:lnTo>
                    <a:pt x="1" y="1"/>
                  </a:lnTo>
                  <a:lnTo>
                    <a:pt x="1" y="2440"/>
                  </a:lnTo>
                  <a:lnTo>
                    <a:pt x="1" y="4854"/>
                  </a:lnTo>
                  <a:lnTo>
                    <a:pt x="16220" y="48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27;p53">
              <a:extLst>
                <a:ext uri="{FF2B5EF4-FFF2-40B4-BE49-F238E27FC236}">
                  <a16:creationId xmlns:a16="http://schemas.microsoft.com/office/drawing/2014/main" id="{42EA8CC1-5D5C-B149-36A4-3D34DD6103F3}"/>
                </a:ext>
              </a:extLst>
            </p:cNvPr>
            <p:cNvSpPr/>
            <p:nvPr/>
          </p:nvSpPr>
          <p:spPr>
            <a:xfrm>
              <a:off x="4909035" y="1706329"/>
              <a:ext cx="327383" cy="118839"/>
            </a:xfrm>
            <a:custGeom>
              <a:avLst/>
              <a:gdLst/>
              <a:ahLst/>
              <a:cxnLst/>
              <a:rect l="l" t="t" r="r" b="b"/>
              <a:pathLst>
                <a:path w="6318" h="2269" extrusionOk="0">
                  <a:moveTo>
                    <a:pt x="6317" y="2269"/>
                  </a:moveTo>
                  <a:lnTo>
                    <a:pt x="6317" y="1"/>
                  </a:lnTo>
                  <a:lnTo>
                    <a:pt x="1098" y="1"/>
                  </a:lnTo>
                  <a:cubicBezTo>
                    <a:pt x="805" y="1"/>
                    <a:pt x="512" y="123"/>
                    <a:pt x="317" y="342"/>
                  </a:cubicBezTo>
                  <a:cubicBezTo>
                    <a:pt x="122" y="537"/>
                    <a:pt x="0" y="805"/>
                    <a:pt x="25" y="1098"/>
                  </a:cubicBezTo>
                  <a:lnTo>
                    <a:pt x="25" y="2269"/>
                  </a:lnTo>
                  <a:lnTo>
                    <a:pt x="1195" y="2269"/>
                  </a:lnTo>
                  <a:cubicBezTo>
                    <a:pt x="1220" y="2196"/>
                    <a:pt x="1268" y="2098"/>
                    <a:pt x="1342" y="2049"/>
                  </a:cubicBezTo>
                  <a:cubicBezTo>
                    <a:pt x="1439" y="1927"/>
                    <a:pt x="1585" y="1879"/>
                    <a:pt x="1732" y="1879"/>
                  </a:cubicBezTo>
                  <a:lnTo>
                    <a:pt x="4463" y="1879"/>
                  </a:lnTo>
                  <a:cubicBezTo>
                    <a:pt x="4610" y="1879"/>
                    <a:pt x="4756" y="1927"/>
                    <a:pt x="4854" y="2049"/>
                  </a:cubicBezTo>
                  <a:cubicBezTo>
                    <a:pt x="4927" y="2098"/>
                    <a:pt x="4976" y="2196"/>
                    <a:pt x="5000" y="22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28;p53">
              <a:extLst>
                <a:ext uri="{FF2B5EF4-FFF2-40B4-BE49-F238E27FC236}">
                  <a16:creationId xmlns:a16="http://schemas.microsoft.com/office/drawing/2014/main" id="{C5F15AAE-50AE-8A2F-B196-7B832345642E}"/>
                </a:ext>
              </a:extLst>
            </p:cNvPr>
            <p:cNvSpPr/>
            <p:nvPr/>
          </p:nvSpPr>
          <p:spPr>
            <a:xfrm>
              <a:off x="4910278" y="1841714"/>
              <a:ext cx="326139" cy="118891"/>
            </a:xfrm>
            <a:custGeom>
              <a:avLst/>
              <a:gdLst/>
              <a:ahLst/>
              <a:cxnLst/>
              <a:rect l="l" t="t" r="r" b="b"/>
              <a:pathLst>
                <a:path w="6294" h="2270" extrusionOk="0">
                  <a:moveTo>
                    <a:pt x="6293" y="1"/>
                  </a:moveTo>
                  <a:lnTo>
                    <a:pt x="4976" y="1"/>
                  </a:lnTo>
                  <a:cubicBezTo>
                    <a:pt x="4952" y="74"/>
                    <a:pt x="4903" y="172"/>
                    <a:pt x="4830" y="220"/>
                  </a:cubicBezTo>
                  <a:cubicBezTo>
                    <a:pt x="4732" y="342"/>
                    <a:pt x="4586" y="391"/>
                    <a:pt x="4439" y="391"/>
                  </a:cubicBezTo>
                  <a:lnTo>
                    <a:pt x="1708" y="391"/>
                  </a:lnTo>
                  <a:cubicBezTo>
                    <a:pt x="1561" y="391"/>
                    <a:pt x="1415" y="342"/>
                    <a:pt x="1318" y="220"/>
                  </a:cubicBezTo>
                  <a:cubicBezTo>
                    <a:pt x="1244" y="172"/>
                    <a:pt x="1196" y="74"/>
                    <a:pt x="1171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6293" y="2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29;p53">
              <a:extLst>
                <a:ext uri="{FF2B5EF4-FFF2-40B4-BE49-F238E27FC236}">
                  <a16:creationId xmlns:a16="http://schemas.microsoft.com/office/drawing/2014/main" id="{3C9F8F83-D257-7F83-C270-66D1E7BCF5F1}"/>
                </a:ext>
              </a:extLst>
            </p:cNvPr>
            <p:cNvSpPr/>
            <p:nvPr/>
          </p:nvSpPr>
          <p:spPr>
            <a:xfrm>
              <a:off x="4984832" y="1820032"/>
              <a:ext cx="168148" cy="26868"/>
            </a:xfrm>
            <a:custGeom>
              <a:avLst/>
              <a:gdLst/>
              <a:ahLst/>
              <a:cxnLst/>
              <a:rect l="l" t="t" r="r" b="b"/>
              <a:pathLst>
                <a:path w="3245" h="513" extrusionOk="0">
                  <a:moveTo>
                    <a:pt x="3171" y="439"/>
                  </a:moveTo>
                  <a:cubicBezTo>
                    <a:pt x="3220" y="390"/>
                    <a:pt x="3244" y="317"/>
                    <a:pt x="3244" y="269"/>
                  </a:cubicBezTo>
                  <a:lnTo>
                    <a:pt x="3244" y="269"/>
                  </a:lnTo>
                  <a:cubicBezTo>
                    <a:pt x="3244" y="195"/>
                    <a:pt x="3220" y="122"/>
                    <a:pt x="3171" y="73"/>
                  </a:cubicBezTo>
                  <a:cubicBezTo>
                    <a:pt x="3122" y="25"/>
                    <a:pt x="3074" y="0"/>
                    <a:pt x="3000" y="0"/>
                  </a:cubicBezTo>
                  <a:lnTo>
                    <a:pt x="269" y="0"/>
                  </a:lnTo>
                  <a:cubicBezTo>
                    <a:pt x="122" y="0"/>
                    <a:pt x="1" y="122"/>
                    <a:pt x="1" y="244"/>
                  </a:cubicBezTo>
                  <a:cubicBezTo>
                    <a:pt x="1" y="317"/>
                    <a:pt x="25" y="390"/>
                    <a:pt x="74" y="439"/>
                  </a:cubicBezTo>
                  <a:cubicBezTo>
                    <a:pt x="122" y="488"/>
                    <a:pt x="196" y="512"/>
                    <a:pt x="269" y="512"/>
                  </a:cubicBezTo>
                  <a:lnTo>
                    <a:pt x="3000" y="512"/>
                  </a:lnTo>
                  <a:cubicBezTo>
                    <a:pt x="3074" y="512"/>
                    <a:pt x="3122" y="488"/>
                    <a:pt x="3171" y="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30;p53">
              <a:extLst>
                <a:ext uri="{FF2B5EF4-FFF2-40B4-BE49-F238E27FC236}">
                  <a16:creationId xmlns:a16="http://schemas.microsoft.com/office/drawing/2014/main" id="{CDC24C93-5BFA-AF72-7C3B-5E3EA2EBB132}"/>
                </a:ext>
              </a:extLst>
            </p:cNvPr>
            <p:cNvSpPr/>
            <p:nvPr/>
          </p:nvSpPr>
          <p:spPr>
            <a:xfrm>
              <a:off x="6189036" y="1820032"/>
              <a:ext cx="169443" cy="26868"/>
            </a:xfrm>
            <a:custGeom>
              <a:avLst/>
              <a:gdLst/>
              <a:ahLst/>
              <a:cxnLst/>
              <a:rect l="l" t="t" r="r" b="b"/>
              <a:pathLst>
                <a:path w="3270" h="513" extrusionOk="0">
                  <a:moveTo>
                    <a:pt x="99" y="73"/>
                  </a:moveTo>
                  <a:cubicBezTo>
                    <a:pt x="50" y="122"/>
                    <a:pt x="25" y="195"/>
                    <a:pt x="25" y="269"/>
                  </a:cubicBezTo>
                  <a:lnTo>
                    <a:pt x="25" y="269"/>
                  </a:lnTo>
                  <a:cubicBezTo>
                    <a:pt x="1" y="317"/>
                    <a:pt x="50" y="390"/>
                    <a:pt x="99" y="439"/>
                  </a:cubicBezTo>
                  <a:cubicBezTo>
                    <a:pt x="123" y="488"/>
                    <a:pt x="196" y="512"/>
                    <a:pt x="269" y="512"/>
                  </a:cubicBezTo>
                  <a:lnTo>
                    <a:pt x="3001" y="512"/>
                  </a:lnTo>
                  <a:cubicBezTo>
                    <a:pt x="3074" y="512"/>
                    <a:pt x="3147" y="488"/>
                    <a:pt x="3196" y="439"/>
                  </a:cubicBezTo>
                  <a:cubicBezTo>
                    <a:pt x="3220" y="390"/>
                    <a:pt x="3269" y="317"/>
                    <a:pt x="3269" y="244"/>
                  </a:cubicBezTo>
                  <a:cubicBezTo>
                    <a:pt x="3269" y="122"/>
                    <a:pt x="3147" y="0"/>
                    <a:pt x="3001" y="0"/>
                  </a:cubicBezTo>
                  <a:lnTo>
                    <a:pt x="269" y="0"/>
                  </a:lnTo>
                  <a:cubicBezTo>
                    <a:pt x="196" y="0"/>
                    <a:pt x="123" y="25"/>
                    <a:pt x="99" y="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31;p53">
              <a:extLst>
                <a:ext uri="{FF2B5EF4-FFF2-40B4-BE49-F238E27FC236}">
                  <a16:creationId xmlns:a16="http://schemas.microsoft.com/office/drawing/2014/main" id="{9599E46D-0CA1-EEEC-207C-560BCD376BD1}"/>
                </a:ext>
              </a:extLst>
            </p:cNvPr>
            <p:cNvSpPr/>
            <p:nvPr/>
          </p:nvSpPr>
          <p:spPr>
            <a:xfrm>
              <a:off x="6106918" y="1841714"/>
              <a:ext cx="327383" cy="118891"/>
            </a:xfrm>
            <a:custGeom>
              <a:avLst/>
              <a:gdLst/>
              <a:ahLst/>
              <a:cxnLst/>
              <a:rect l="l" t="t" r="r" b="b"/>
              <a:pathLst>
                <a:path w="6318" h="2270" extrusionOk="0">
                  <a:moveTo>
                    <a:pt x="1854" y="391"/>
                  </a:moveTo>
                  <a:cubicBezTo>
                    <a:pt x="1708" y="391"/>
                    <a:pt x="1562" y="342"/>
                    <a:pt x="1464" y="245"/>
                  </a:cubicBezTo>
                  <a:cubicBezTo>
                    <a:pt x="1391" y="172"/>
                    <a:pt x="1342" y="74"/>
                    <a:pt x="1318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6318" y="2269"/>
                  </a:lnTo>
                  <a:lnTo>
                    <a:pt x="6318" y="1"/>
                  </a:lnTo>
                  <a:lnTo>
                    <a:pt x="5147" y="1"/>
                  </a:lnTo>
                  <a:cubicBezTo>
                    <a:pt x="5122" y="74"/>
                    <a:pt x="5074" y="172"/>
                    <a:pt x="5001" y="245"/>
                  </a:cubicBezTo>
                  <a:cubicBezTo>
                    <a:pt x="4903" y="342"/>
                    <a:pt x="4757" y="391"/>
                    <a:pt x="4610" y="3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32;p53">
              <a:extLst>
                <a:ext uri="{FF2B5EF4-FFF2-40B4-BE49-F238E27FC236}">
                  <a16:creationId xmlns:a16="http://schemas.microsoft.com/office/drawing/2014/main" id="{24C088A4-FF04-3127-B7BC-51766BC8EA9D}"/>
                </a:ext>
              </a:extLst>
            </p:cNvPr>
            <p:cNvSpPr/>
            <p:nvPr/>
          </p:nvSpPr>
          <p:spPr>
            <a:xfrm>
              <a:off x="6106918" y="1706329"/>
              <a:ext cx="327383" cy="118839"/>
            </a:xfrm>
            <a:custGeom>
              <a:avLst/>
              <a:gdLst/>
              <a:ahLst/>
              <a:cxnLst/>
              <a:rect l="l" t="t" r="r" b="b"/>
              <a:pathLst>
                <a:path w="6318" h="2269" extrusionOk="0">
                  <a:moveTo>
                    <a:pt x="1464" y="2049"/>
                  </a:moveTo>
                  <a:cubicBezTo>
                    <a:pt x="1562" y="1927"/>
                    <a:pt x="1708" y="1879"/>
                    <a:pt x="1854" y="1879"/>
                  </a:cubicBezTo>
                  <a:lnTo>
                    <a:pt x="4586" y="1879"/>
                  </a:lnTo>
                  <a:cubicBezTo>
                    <a:pt x="4732" y="1879"/>
                    <a:pt x="4879" y="1927"/>
                    <a:pt x="4976" y="2049"/>
                  </a:cubicBezTo>
                  <a:cubicBezTo>
                    <a:pt x="5049" y="2098"/>
                    <a:pt x="5098" y="2196"/>
                    <a:pt x="5122" y="2269"/>
                  </a:cubicBezTo>
                  <a:lnTo>
                    <a:pt x="6318" y="2269"/>
                  </a:lnTo>
                  <a:lnTo>
                    <a:pt x="6318" y="1098"/>
                  </a:lnTo>
                  <a:cubicBezTo>
                    <a:pt x="6318" y="488"/>
                    <a:pt x="5830" y="25"/>
                    <a:pt x="5244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1318" y="2269"/>
                  </a:lnTo>
                  <a:cubicBezTo>
                    <a:pt x="1342" y="2196"/>
                    <a:pt x="1391" y="2098"/>
                    <a:pt x="1464" y="20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33;p53">
              <a:extLst>
                <a:ext uri="{FF2B5EF4-FFF2-40B4-BE49-F238E27FC236}">
                  <a16:creationId xmlns:a16="http://schemas.microsoft.com/office/drawing/2014/main" id="{CBAE5087-577F-21D2-A873-EB789CA88444}"/>
                </a:ext>
              </a:extLst>
            </p:cNvPr>
            <p:cNvSpPr/>
            <p:nvPr/>
          </p:nvSpPr>
          <p:spPr>
            <a:xfrm>
              <a:off x="4909035" y="1975843"/>
              <a:ext cx="1525455" cy="688574"/>
            </a:xfrm>
            <a:custGeom>
              <a:avLst/>
              <a:gdLst/>
              <a:ahLst/>
              <a:cxnLst/>
              <a:rect l="l" t="t" r="r" b="b"/>
              <a:pathLst>
                <a:path w="29439" h="13147" extrusionOk="0">
                  <a:moveTo>
                    <a:pt x="29439" y="1"/>
                  </a:moveTo>
                  <a:lnTo>
                    <a:pt x="0" y="1"/>
                  </a:lnTo>
                  <a:lnTo>
                    <a:pt x="0" y="12049"/>
                  </a:lnTo>
                  <a:cubicBezTo>
                    <a:pt x="0" y="12659"/>
                    <a:pt x="488" y="13147"/>
                    <a:pt x="1098" y="13147"/>
                  </a:cubicBezTo>
                  <a:lnTo>
                    <a:pt x="28341" y="13147"/>
                  </a:lnTo>
                  <a:cubicBezTo>
                    <a:pt x="28634" y="13147"/>
                    <a:pt x="28902" y="13025"/>
                    <a:pt x="29121" y="12830"/>
                  </a:cubicBezTo>
                  <a:cubicBezTo>
                    <a:pt x="29317" y="12635"/>
                    <a:pt x="29439" y="12366"/>
                    <a:pt x="29439" y="120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34;p53">
              <a:extLst>
                <a:ext uri="{FF2B5EF4-FFF2-40B4-BE49-F238E27FC236}">
                  <a16:creationId xmlns:a16="http://schemas.microsoft.com/office/drawing/2014/main" id="{83E61ED3-DC78-E0FB-1D29-F30ADB4F86D1}"/>
                </a:ext>
              </a:extLst>
            </p:cNvPr>
            <p:cNvSpPr/>
            <p:nvPr/>
          </p:nvSpPr>
          <p:spPr>
            <a:xfrm>
              <a:off x="4857225" y="2753798"/>
              <a:ext cx="1629090" cy="80500"/>
            </a:xfrm>
            <a:custGeom>
              <a:avLst/>
              <a:gdLst/>
              <a:ahLst/>
              <a:cxnLst/>
              <a:rect l="l" t="t" r="r" b="b"/>
              <a:pathLst>
                <a:path w="31439" h="1537" extrusionOk="0">
                  <a:moveTo>
                    <a:pt x="31439" y="0"/>
                  </a:moveTo>
                  <a:lnTo>
                    <a:pt x="0" y="0"/>
                  </a:lnTo>
                  <a:cubicBezTo>
                    <a:pt x="293" y="903"/>
                    <a:pt x="1147" y="1537"/>
                    <a:pt x="2098" y="1537"/>
                  </a:cubicBezTo>
                  <a:lnTo>
                    <a:pt x="29341" y="1537"/>
                  </a:lnTo>
                  <a:cubicBezTo>
                    <a:pt x="29926" y="1537"/>
                    <a:pt x="30487" y="1293"/>
                    <a:pt x="30902" y="878"/>
                  </a:cubicBezTo>
                  <a:cubicBezTo>
                    <a:pt x="31146" y="634"/>
                    <a:pt x="31317" y="342"/>
                    <a:pt x="31439" y="25"/>
                  </a:cubicBezTo>
                  <a:close/>
                  <a:moveTo>
                    <a:pt x="23975" y="756"/>
                  </a:moveTo>
                  <a:cubicBezTo>
                    <a:pt x="23951" y="464"/>
                    <a:pt x="24317" y="293"/>
                    <a:pt x="24512" y="512"/>
                  </a:cubicBezTo>
                  <a:cubicBezTo>
                    <a:pt x="24731" y="707"/>
                    <a:pt x="24585" y="1049"/>
                    <a:pt x="24292" y="1049"/>
                  </a:cubicBezTo>
                  <a:cubicBezTo>
                    <a:pt x="24122" y="1073"/>
                    <a:pt x="23975" y="927"/>
                    <a:pt x="23975" y="756"/>
                  </a:cubicBezTo>
                  <a:close/>
                  <a:moveTo>
                    <a:pt x="25244" y="756"/>
                  </a:moveTo>
                  <a:cubicBezTo>
                    <a:pt x="25244" y="488"/>
                    <a:pt x="25561" y="342"/>
                    <a:pt x="25756" y="537"/>
                  </a:cubicBezTo>
                  <a:cubicBezTo>
                    <a:pt x="25951" y="732"/>
                    <a:pt x="25805" y="1049"/>
                    <a:pt x="25536" y="1049"/>
                  </a:cubicBezTo>
                  <a:cubicBezTo>
                    <a:pt x="25365" y="1049"/>
                    <a:pt x="25244" y="927"/>
                    <a:pt x="25244" y="756"/>
                  </a:cubicBezTo>
                  <a:close/>
                  <a:moveTo>
                    <a:pt x="26487" y="756"/>
                  </a:moveTo>
                  <a:cubicBezTo>
                    <a:pt x="26487" y="488"/>
                    <a:pt x="26829" y="342"/>
                    <a:pt x="27000" y="537"/>
                  </a:cubicBezTo>
                  <a:cubicBezTo>
                    <a:pt x="27195" y="732"/>
                    <a:pt x="27073" y="1049"/>
                    <a:pt x="26804" y="1049"/>
                  </a:cubicBezTo>
                  <a:cubicBezTo>
                    <a:pt x="26634" y="1049"/>
                    <a:pt x="26487" y="927"/>
                    <a:pt x="26487" y="756"/>
                  </a:cubicBezTo>
                  <a:close/>
                  <a:moveTo>
                    <a:pt x="27756" y="756"/>
                  </a:moveTo>
                  <a:cubicBezTo>
                    <a:pt x="27756" y="317"/>
                    <a:pt x="28390" y="317"/>
                    <a:pt x="28390" y="756"/>
                  </a:cubicBezTo>
                  <a:cubicBezTo>
                    <a:pt x="28390" y="1171"/>
                    <a:pt x="27756" y="1171"/>
                    <a:pt x="27756" y="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35;p53">
              <a:extLst>
                <a:ext uri="{FF2B5EF4-FFF2-40B4-BE49-F238E27FC236}">
                  <a16:creationId xmlns:a16="http://schemas.microsoft.com/office/drawing/2014/main" id="{32C36659-3976-DE9B-F8B0-9C9B8732E7E0}"/>
                </a:ext>
              </a:extLst>
            </p:cNvPr>
            <p:cNvSpPr/>
            <p:nvPr/>
          </p:nvSpPr>
          <p:spPr>
            <a:xfrm>
              <a:off x="4830699" y="1600325"/>
              <a:ext cx="1682152" cy="1253177"/>
            </a:xfrm>
            <a:custGeom>
              <a:avLst/>
              <a:gdLst/>
              <a:ahLst/>
              <a:cxnLst/>
              <a:rect l="l" t="t" r="r" b="b"/>
              <a:pathLst>
                <a:path w="32463" h="23927" extrusionOk="0">
                  <a:moveTo>
                    <a:pt x="2610" y="0"/>
                  </a:moveTo>
                  <a:lnTo>
                    <a:pt x="29853" y="0"/>
                  </a:lnTo>
                  <a:cubicBezTo>
                    <a:pt x="31292" y="25"/>
                    <a:pt x="32438" y="1171"/>
                    <a:pt x="32463" y="2610"/>
                  </a:cubicBezTo>
                  <a:lnTo>
                    <a:pt x="32463" y="21341"/>
                  </a:lnTo>
                  <a:cubicBezTo>
                    <a:pt x="32463" y="21512"/>
                    <a:pt x="32438" y="21683"/>
                    <a:pt x="32390" y="21853"/>
                  </a:cubicBezTo>
                  <a:lnTo>
                    <a:pt x="32390" y="21853"/>
                  </a:lnTo>
                  <a:cubicBezTo>
                    <a:pt x="32146" y="23073"/>
                    <a:pt x="31073" y="23927"/>
                    <a:pt x="29853" y="23927"/>
                  </a:cubicBezTo>
                  <a:lnTo>
                    <a:pt x="2610" y="23927"/>
                  </a:lnTo>
                  <a:cubicBezTo>
                    <a:pt x="1366" y="23927"/>
                    <a:pt x="317" y="23073"/>
                    <a:pt x="49" y="21853"/>
                  </a:cubicBezTo>
                  <a:lnTo>
                    <a:pt x="49" y="21853"/>
                  </a:lnTo>
                  <a:cubicBezTo>
                    <a:pt x="24" y="21683"/>
                    <a:pt x="0" y="21512"/>
                    <a:pt x="0" y="21341"/>
                  </a:cubicBezTo>
                  <a:lnTo>
                    <a:pt x="0" y="2610"/>
                  </a:lnTo>
                  <a:cubicBezTo>
                    <a:pt x="0" y="1171"/>
                    <a:pt x="1171" y="25"/>
                    <a:pt x="2610" y="0"/>
                  </a:cubicBezTo>
                  <a:close/>
                  <a:moveTo>
                    <a:pt x="28585" y="22463"/>
                  </a:moveTo>
                  <a:cubicBezTo>
                    <a:pt x="28146" y="22463"/>
                    <a:pt x="28146" y="23097"/>
                    <a:pt x="28585" y="23097"/>
                  </a:cubicBezTo>
                  <a:cubicBezTo>
                    <a:pt x="28999" y="23097"/>
                    <a:pt x="28999" y="22463"/>
                    <a:pt x="28585" y="22463"/>
                  </a:cubicBezTo>
                  <a:close/>
                  <a:moveTo>
                    <a:pt x="27316" y="22463"/>
                  </a:moveTo>
                  <a:cubicBezTo>
                    <a:pt x="27048" y="22463"/>
                    <a:pt x="26902" y="22780"/>
                    <a:pt x="27097" y="22975"/>
                  </a:cubicBezTo>
                  <a:cubicBezTo>
                    <a:pt x="27268" y="23170"/>
                    <a:pt x="27609" y="23048"/>
                    <a:pt x="27609" y="22780"/>
                  </a:cubicBezTo>
                  <a:cubicBezTo>
                    <a:pt x="27634" y="22609"/>
                    <a:pt x="27487" y="22463"/>
                    <a:pt x="27316" y="22463"/>
                  </a:cubicBezTo>
                  <a:close/>
                  <a:moveTo>
                    <a:pt x="26048" y="22463"/>
                  </a:moveTo>
                  <a:cubicBezTo>
                    <a:pt x="25780" y="22463"/>
                    <a:pt x="25658" y="22780"/>
                    <a:pt x="25829" y="22975"/>
                  </a:cubicBezTo>
                  <a:cubicBezTo>
                    <a:pt x="26024" y="23170"/>
                    <a:pt x="26341" y="23048"/>
                    <a:pt x="26365" y="22780"/>
                  </a:cubicBezTo>
                  <a:cubicBezTo>
                    <a:pt x="26365" y="22609"/>
                    <a:pt x="26243" y="22463"/>
                    <a:pt x="26048" y="22463"/>
                  </a:cubicBezTo>
                  <a:close/>
                  <a:moveTo>
                    <a:pt x="24804" y="22463"/>
                  </a:moveTo>
                  <a:cubicBezTo>
                    <a:pt x="24536" y="22463"/>
                    <a:pt x="24390" y="22780"/>
                    <a:pt x="24585" y="22975"/>
                  </a:cubicBezTo>
                  <a:cubicBezTo>
                    <a:pt x="24756" y="23170"/>
                    <a:pt x="25097" y="23048"/>
                    <a:pt x="25097" y="22780"/>
                  </a:cubicBezTo>
                  <a:cubicBezTo>
                    <a:pt x="25121" y="22609"/>
                    <a:pt x="24975" y="22463"/>
                    <a:pt x="24804" y="22463"/>
                  </a:cubicBezTo>
                  <a:close/>
                  <a:moveTo>
                    <a:pt x="415" y="21634"/>
                  </a:moveTo>
                  <a:lnTo>
                    <a:pt x="32024" y="21634"/>
                  </a:lnTo>
                  <a:cubicBezTo>
                    <a:pt x="32048" y="21536"/>
                    <a:pt x="32048" y="21414"/>
                    <a:pt x="32048" y="21317"/>
                  </a:cubicBezTo>
                  <a:lnTo>
                    <a:pt x="32048" y="2610"/>
                  </a:lnTo>
                  <a:cubicBezTo>
                    <a:pt x="32048" y="1390"/>
                    <a:pt x="31048" y="415"/>
                    <a:pt x="29853" y="415"/>
                  </a:cubicBezTo>
                  <a:lnTo>
                    <a:pt x="2610" y="415"/>
                  </a:lnTo>
                  <a:cubicBezTo>
                    <a:pt x="1390" y="415"/>
                    <a:pt x="390" y="1390"/>
                    <a:pt x="390" y="2610"/>
                  </a:cubicBezTo>
                  <a:lnTo>
                    <a:pt x="390" y="21341"/>
                  </a:lnTo>
                  <a:cubicBezTo>
                    <a:pt x="390" y="21439"/>
                    <a:pt x="390" y="21536"/>
                    <a:pt x="415" y="21634"/>
                  </a:cubicBezTo>
                  <a:close/>
                  <a:moveTo>
                    <a:pt x="31926" y="22024"/>
                  </a:moveTo>
                  <a:lnTo>
                    <a:pt x="512" y="22024"/>
                  </a:lnTo>
                  <a:cubicBezTo>
                    <a:pt x="805" y="22927"/>
                    <a:pt x="1659" y="23561"/>
                    <a:pt x="2610" y="23561"/>
                  </a:cubicBezTo>
                  <a:lnTo>
                    <a:pt x="29853" y="23561"/>
                  </a:lnTo>
                  <a:cubicBezTo>
                    <a:pt x="30438" y="23561"/>
                    <a:pt x="30999" y="23317"/>
                    <a:pt x="31414" y="22902"/>
                  </a:cubicBezTo>
                  <a:cubicBezTo>
                    <a:pt x="31658" y="22658"/>
                    <a:pt x="31829" y="22366"/>
                    <a:pt x="31951" y="22049"/>
                  </a:cubicBezTo>
                  <a:close/>
                  <a:moveTo>
                    <a:pt x="24609" y="4293"/>
                  </a:moveTo>
                  <a:lnTo>
                    <a:pt x="25951" y="4293"/>
                  </a:lnTo>
                  <a:cubicBezTo>
                    <a:pt x="25975" y="4220"/>
                    <a:pt x="26024" y="4122"/>
                    <a:pt x="26097" y="4073"/>
                  </a:cubicBezTo>
                  <a:cubicBezTo>
                    <a:pt x="26195" y="3951"/>
                    <a:pt x="26317" y="3903"/>
                    <a:pt x="26463" y="3903"/>
                  </a:cubicBezTo>
                  <a:lnTo>
                    <a:pt x="29219" y="3903"/>
                  </a:lnTo>
                  <a:cubicBezTo>
                    <a:pt x="29365" y="3903"/>
                    <a:pt x="29512" y="3951"/>
                    <a:pt x="29609" y="4073"/>
                  </a:cubicBezTo>
                  <a:cubicBezTo>
                    <a:pt x="29682" y="4122"/>
                    <a:pt x="29731" y="4220"/>
                    <a:pt x="29755" y="4293"/>
                  </a:cubicBezTo>
                  <a:lnTo>
                    <a:pt x="30951" y="4293"/>
                  </a:lnTo>
                  <a:lnTo>
                    <a:pt x="30951" y="3122"/>
                  </a:lnTo>
                  <a:cubicBezTo>
                    <a:pt x="30951" y="2512"/>
                    <a:pt x="30463" y="2049"/>
                    <a:pt x="29877" y="2025"/>
                  </a:cubicBezTo>
                  <a:lnTo>
                    <a:pt x="24634" y="2025"/>
                  </a:lnTo>
                  <a:lnTo>
                    <a:pt x="24634" y="4293"/>
                  </a:lnTo>
                  <a:close/>
                  <a:moveTo>
                    <a:pt x="25951" y="4610"/>
                  </a:moveTo>
                  <a:lnTo>
                    <a:pt x="24609" y="4610"/>
                  </a:lnTo>
                  <a:lnTo>
                    <a:pt x="24609" y="6878"/>
                  </a:lnTo>
                  <a:lnTo>
                    <a:pt x="30951" y="6878"/>
                  </a:lnTo>
                  <a:lnTo>
                    <a:pt x="30951" y="4610"/>
                  </a:lnTo>
                  <a:lnTo>
                    <a:pt x="29780" y="4610"/>
                  </a:lnTo>
                  <a:cubicBezTo>
                    <a:pt x="29755" y="4707"/>
                    <a:pt x="29707" y="4781"/>
                    <a:pt x="29634" y="4854"/>
                  </a:cubicBezTo>
                  <a:cubicBezTo>
                    <a:pt x="29536" y="4951"/>
                    <a:pt x="29390" y="5000"/>
                    <a:pt x="29243" y="5000"/>
                  </a:cubicBezTo>
                  <a:lnTo>
                    <a:pt x="26512" y="5000"/>
                  </a:lnTo>
                  <a:cubicBezTo>
                    <a:pt x="26365" y="5000"/>
                    <a:pt x="26219" y="4951"/>
                    <a:pt x="26121" y="4854"/>
                  </a:cubicBezTo>
                  <a:cubicBezTo>
                    <a:pt x="26048" y="4781"/>
                    <a:pt x="25999" y="4707"/>
                    <a:pt x="25975" y="4610"/>
                  </a:cubicBezTo>
                  <a:close/>
                  <a:moveTo>
                    <a:pt x="24317" y="6878"/>
                  </a:moveTo>
                  <a:lnTo>
                    <a:pt x="24317" y="2025"/>
                  </a:lnTo>
                  <a:lnTo>
                    <a:pt x="8122" y="2025"/>
                  </a:lnTo>
                  <a:lnTo>
                    <a:pt x="8122" y="6878"/>
                  </a:lnTo>
                  <a:close/>
                  <a:moveTo>
                    <a:pt x="29219" y="4220"/>
                  </a:moveTo>
                  <a:lnTo>
                    <a:pt x="26487" y="4220"/>
                  </a:lnTo>
                  <a:cubicBezTo>
                    <a:pt x="26414" y="4220"/>
                    <a:pt x="26341" y="4244"/>
                    <a:pt x="26317" y="4293"/>
                  </a:cubicBezTo>
                  <a:cubicBezTo>
                    <a:pt x="26268" y="4317"/>
                    <a:pt x="26243" y="4390"/>
                    <a:pt x="26243" y="4464"/>
                  </a:cubicBezTo>
                  <a:lnTo>
                    <a:pt x="26243" y="4464"/>
                  </a:lnTo>
                  <a:cubicBezTo>
                    <a:pt x="26219" y="4512"/>
                    <a:pt x="26268" y="4585"/>
                    <a:pt x="26317" y="4634"/>
                  </a:cubicBezTo>
                  <a:cubicBezTo>
                    <a:pt x="26341" y="4683"/>
                    <a:pt x="26414" y="4707"/>
                    <a:pt x="26487" y="4707"/>
                  </a:cubicBezTo>
                  <a:lnTo>
                    <a:pt x="29219" y="4707"/>
                  </a:lnTo>
                  <a:cubicBezTo>
                    <a:pt x="29292" y="4707"/>
                    <a:pt x="29365" y="4683"/>
                    <a:pt x="29414" y="4634"/>
                  </a:cubicBezTo>
                  <a:cubicBezTo>
                    <a:pt x="29438" y="4585"/>
                    <a:pt x="29487" y="4512"/>
                    <a:pt x="29487" y="4464"/>
                  </a:cubicBezTo>
                  <a:lnTo>
                    <a:pt x="29487" y="4464"/>
                  </a:lnTo>
                  <a:cubicBezTo>
                    <a:pt x="29487" y="4317"/>
                    <a:pt x="29365" y="4195"/>
                    <a:pt x="29219" y="4195"/>
                  </a:cubicBezTo>
                  <a:close/>
                  <a:moveTo>
                    <a:pt x="7829" y="4610"/>
                  </a:moveTo>
                  <a:lnTo>
                    <a:pt x="6488" y="4610"/>
                  </a:lnTo>
                  <a:cubicBezTo>
                    <a:pt x="6463" y="4707"/>
                    <a:pt x="6414" y="4781"/>
                    <a:pt x="6366" y="4854"/>
                  </a:cubicBezTo>
                  <a:cubicBezTo>
                    <a:pt x="6244" y="4951"/>
                    <a:pt x="6122" y="5000"/>
                    <a:pt x="5975" y="5000"/>
                  </a:cubicBezTo>
                  <a:lnTo>
                    <a:pt x="3219" y="5000"/>
                  </a:lnTo>
                  <a:cubicBezTo>
                    <a:pt x="3073" y="5000"/>
                    <a:pt x="2927" y="4951"/>
                    <a:pt x="2829" y="4854"/>
                  </a:cubicBezTo>
                  <a:cubicBezTo>
                    <a:pt x="2780" y="4781"/>
                    <a:pt x="2707" y="4707"/>
                    <a:pt x="2683" y="4610"/>
                  </a:cubicBezTo>
                  <a:lnTo>
                    <a:pt x="1512" y="4610"/>
                  </a:lnTo>
                  <a:lnTo>
                    <a:pt x="1512" y="6878"/>
                  </a:lnTo>
                  <a:lnTo>
                    <a:pt x="7829" y="6878"/>
                  </a:lnTo>
                  <a:lnTo>
                    <a:pt x="7829" y="4610"/>
                  </a:lnTo>
                  <a:close/>
                  <a:moveTo>
                    <a:pt x="6488" y="4293"/>
                  </a:moveTo>
                  <a:lnTo>
                    <a:pt x="7829" y="4293"/>
                  </a:lnTo>
                  <a:lnTo>
                    <a:pt x="7829" y="2025"/>
                  </a:lnTo>
                  <a:lnTo>
                    <a:pt x="2610" y="2025"/>
                  </a:lnTo>
                  <a:cubicBezTo>
                    <a:pt x="2317" y="2025"/>
                    <a:pt x="2024" y="2147"/>
                    <a:pt x="1829" y="2366"/>
                  </a:cubicBezTo>
                  <a:cubicBezTo>
                    <a:pt x="1634" y="2561"/>
                    <a:pt x="1512" y="2829"/>
                    <a:pt x="1537" y="3122"/>
                  </a:cubicBezTo>
                  <a:lnTo>
                    <a:pt x="1537" y="4293"/>
                  </a:lnTo>
                  <a:lnTo>
                    <a:pt x="2707" y="4293"/>
                  </a:lnTo>
                  <a:cubicBezTo>
                    <a:pt x="2732" y="4220"/>
                    <a:pt x="2780" y="4122"/>
                    <a:pt x="2854" y="4073"/>
                  </a:cubicBezTo>
                  <a:cubicBezTo>
                    <a:pt x="2951" y="3951"/>
                    <a:pt x="3097" y="3903"/>
                    <a:pt x="3244" y="3903"/>
                  </a:cubicBezTo>
                  <a:lnTo>
                    <a:pt x="5975" y="3903"/>
                  </a:lnTo>
                  <a:cubicBezTo>
                    <a:pt x="6122" y="3903"/>
                    <a:pt x="6268" y="3951"/>
                    <a:pt x="6366" y="4073"/>
                  </a:cubicBezTo>
                  <a:cubicBezTo>
                    <a:pt x="6439" y="4122"/>
                    <a:pt x="6488" y="4220"/>
                    <a:pt x="6512" y="4293"/>
                  </a:cubicBezTo>
                  <a:close/>
                  <a:moveTo>
                    <a:pt x="5975" y="4195"/>
                  </a:moveTo>
                  <a:lnTo>
                    <a:pt x="3219" y="4195"/>
                  </a:lnTo>
                  <a:cubicBezTo>
                    <a:pt x="3073" y="4195"/>
                    <a:pt x="2976" y="4317"/>
                    <a:pt x="2976" y="4439"/>
                  </a:cubicBezTo>
                  <a:lnTo>
                    <a:pt x="2976" y="4439"/>
                  </a:lnTo>
                  <a:cubicBezTo>
                    <a:pt x="2976" y="4512"/>
                    <a:pt x="3000" y="4585"/>
                    <a:pt x="3049" y="4634"/>
                  </a:cubicBezTo>
                  <a:cubicBezTo>
                    <a:pt x="3097" y="4683"/>
                    <a:pt x="3146" y="4707"/>
                    <a:pt x="3219" y="4707"/>
                  </a:cubicBezTo>
                  <a:lnTo>
                    <a:pt x="5975" y="4707"/>
                  </a:lnTo>
                  <a:cubicBezTo>
                    <a:pt x="6024" y="4707"/>
                    <a:pt x="6097" y="4683"/>
                    <a:pt x="6146" y="4634"/>
                  </a:cubicBezTo>
                  <a:cubicBezTo>
                    <a:pt x="6195" y="4585"/>
                    <a:pt x="6219" y="4512"/>
                    <a:pt x="6219" y="4464"/>
                  </a:cubicBezTo>
                  <a:lnTo>
                    <a:pt x="6219" y="4464"/>
                  </a:lnTo>
                  <a:cubicBezTo>
                    <a:pt x="6219" y="4390"/>
                    <a:pt x="6195" y="4317"/>
                    <a:pt x="6146" y="4268"/>
                  </a:cubicBezTo>
                  <a:cubicBezTo>
                    <a:pt x="6097" y="4220"/>
                    <a:pt x="6024" y="4195"/>
                    <a:pt x="5975" y="4195"/>
                  </a:cubicBezTo>
                  <a:close/>
                  <a:moveTo>
                    <a:pt x="30951" y="7171"/>
                  </a:moveTo>
                  <a:lnTo>
                    <a:pt x="1512" y="7171"/>
                  </a:lnTo>
                  <a:lnTo>
                    <a:pt x="1512" y="19219"/>
                  </a:lnTo>
                  <a:cubicBezTo>
                    <a:pt x="1512" y="19829"/>
                    <a:pt x="2000" y="20317"/>
                    <a:pt x="2610" y="20317"/>
                  </a:cubicBezTo>
                  <a:lnTo>
                    <a:pt x="29853" y="20317"/>
                  </a:lnTo>
                  <a:cubicBezTo>
                    <a:pt x="30146" y="20317"/>
                    <a:pt x="30414" y="20195"/>
                    <a:pt x="30633" y="20000"/>
                  </a:cubicBezTo>
                  <a:cubicBezTo>
                    <a:pt x="30829" y="19805"/>
                    <a:pt x="30951" y="19536"/>
                    <a:pt x="30951" y="19244"/>
                  </a:cubicBezTo>
                  <a:lnTo>
                    <a:pt x="30951" y="7171"/>
                  </a:lnTo>
                  <a:close/>
                  <a:moveTo>
                    <a:pt x="1634" y="2147"/>
                  </a:moveTo>
                  <a:cubicBezTo>
                    <a:pt x="1390" y="2390"/>
                    <a:pt x="1244" y="2756"/>
                    <a:pt x="1244" y="3122"/>
                  </a:cubicBezTo>
                  <a:lnTo>
                    <a:pt x="1244" y="19219"/>
                  </a:lnTo>
                  <a:cubicBezTo>
                    <a:pt x="1244" y="19975"/>
                    <a:pt x="1854" y="20610"/>
                    <a:pt x="2610" y="20610"/>
                  </a:cubicBezTo>
                  <a:lnTo>
                    <a:pt x="29877" y="20610"/>
                  </a:lnTo>
                  <a:cubicBezTo>
                    <a:pt x="30633" y="20610"/>
                    <a:pt x="31243" y="19975"/>
                    <a:pt x="31243" y="19219"/>
                  </a:cubicBezTo>
                  <a:lnTo>
                    <a:pt x="31243" y="3122"/>
                  </a:lnTo>
                  <a:cubicBezTo>
                    <a:pt x="31243" y="2366"/>
                    <a:pt x="30633" y="1732"/>
                    <a:pt x="29877" y="1732"/>
                  </a:cubicBezTo>
                  <a:lnTo>
                    <a:pt x="2610" y="1732"/>
                  </a:lnTo>
                  <a:cubicBezTo>
                    <a:pt x="2244" y="1732"/>
                    <a:pt x="1878" y="1878"/>
                    <a:pt x="1634" y="2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36;p53">
              <a:extLst>
                <a:ext uri="{FF2B5EF4-FFF2-40B4-BE49-F238E27FC236}">
                  <a16:creationId xmlns:a16="http://schemas.microsoft.com/office/drawing/2014/main" id="{6DF3AEB3-8439-E984-F799-5E30C72B59CF}"/>
                </a:ext>
              </a:extLst>
            </p:cNvPr>
            <p:cNvSpPr/>
            <p:nvPr/>
          </p:nvSpPr>
          <p:spPr>
            <a:xfrm>
              <a:off x="5571158" y="1735710"/>
              <a:ext cx="441122" cy="20479"/>
            </a:xfrm>
            <a:custGeom>
              <a:avLst/>
              <a:gdLst/>
              <a:ahLst/>
              <a:cxnLst/>
              <a:rect l="l" t="t" r="r" b="b"/>
              <a:pathLst>
                <a:path w="8513" h="391" extrusionOk="0">
                  <a:moveTo>
                    <a:pt x="195" y="391"/>
                  </a:moveTo>
                  <a:cubicBezTo>
                    <a:pt x="98" y="391"/>
                    <a:pt x="0" y="293"/>
                    <a:pt x="0" y="196"/>
                  </a:cubicBezTo>
                  <a:cubicBezTo>
                    <a:pt x="0" y="74"/>
                    <a:pt x="98" y="1"/>
                    <a:pt x="195" y="1"/>
                  </a:cubicBezTo>
                  <a:lnTo>
                    <a:pt x="7366" y="1"/>
                  </a:lnTo>
                  <a:cubicBezTo>
                    <a:pt x="7464" y="1"/>
                    <a:pt x="7561" y="74"/>
                    <a:pt x="7561" y="196"/>
                  </a:cubicBezTo>
                  <a:cubicBezTo>
                    <a:pt x="7561" y="293"/>
                    <a:pt x="7464" y="391"/>
                    <a:pt x="7366" y="391"/>
                  </a:cubicBezTo>
                  <a:close/>
                  <a:moveTo>
                    <a:pt x="8000" y="391"/>
                  </a:moveTo>
                  <a:cubicBezTo>
                    <a:pt x="7903" y="391"/>
                    <a:pt x="7805" y="293"/>
                    <a:pt x="7805" y="196"/>
                  </a:cubicBezTo>
                  <a:cubicBezTo>
                    <a:pt x="7805" y="74"/>
                    <a:pt x="7903" y="1"/>
                    <a:pt x="8000" y="1"/>
                  </a:cubicBezTo>
                  <a:lnTo>
                    <a:pt x="8317" y="1"/>
                  </a:lnTo>
                  <a:cubicBezTo>
                    <a:pt x="8415" y="1"/>
                    <a:pt x="8512" y="74"/>
                    <a:pt x="8512" y="196"/>
                  </a:cubicBezTo>
                  <a:cubicBezTo>
                    <a:pt x="8512" y="293"/>
                    <a:pt x="8415" y="391"/>
                    <a:pt x="8317" y="3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37;p53">
              <a:extLst>
                <a:ext uri="{FF2B5EF4-FFF2-40B4-BE49-F238E27FC236}">
                  <a16:creationId xmlns:a16="http://schemas.microsoft.com/office/drawing/2014/main" id="{81922909-74A0-236D-8B38-4CB9D4F228A8}"/>
                </a:ext>
              </a:extLst>
            </p:cNvPr>
            <p:cNvSpPr/>
            <p:nvPr/>
          </p:nvSpPr>
          <p:spPr>
            <a:xfrm>
              <a:off x="5945169" y="2003967"/>
              <a:ext cx="441122" cy="21736"/>
            </a:xfrm>
            <a:custGeom>
              <a:avLst/>
              <a:gdLst/>
              <a:ahLst/>
              <a:cxnLst/>
              <a:rect l="l" t="t" r="r" b="b"/>
              <a:pathLst>
                <a:path w="8513" h="415" extrusionOk="0">
                  <a:moveTo>
                    <a:pt x="196" y="415"/>
                  </a:moveTo>
                  <a:cubicBezTo>
                    <a:pt x="74" y="415"/>
                    <a:pt x="1" y="317"/>
                    <a:pt x="1" y="195"/>
                  </a:cubicBezTo>
                  <a:cubicBezTo>
                    <a:pt x="1" y="98"/>
                    <a:pt x="74" y="0"/>
                    <a:pt x="196" y="0"/>
                  </a:cubicBezTo>
                  <a:lnTo>
                    <a:pt x="7366" y="0"/>
                  </a:lnTo>
                  <a:cubicBezTo>
                    <a:pt x="7464" y="0"/>
                    <a:pt x="7562" y="98"/>
                    <a:pt x="7562" y="195"/>
                  </a:cubicBezTo>
                  <a:cubicBezTo>
                    <a:pt x="7562" y="317"/>
                    <a:pt x="7464" y="415"/>
                    <a:pt x="7366" y="415"/>
                  </a:cubicBezTo>
                  <a:close/>
                  <a:moveTo>
                    <a:pt x="8001" y="415"/>
                  </a:moveTo>
                  <a:cubicBezTo>
                    <a:pt x="7879" y="415"/>
                    <a:pt x="7805" y="317"/>
                    <a:pt x="7805" y="195"/>
                  </a:cubicBezTo>
                  <a:cubicBezTo>
                    <a:pt x="7805" y="98"/>
                    <a:pt x="7879" y="0"/>
                    <a:pt x="8001" y="0"/>
                  </a:cubicBezTo>
                  <a:lnTo>
                    <a:pt x="8293" y="0"/>
                  </a:lnTo>
                  <a:cubicBezTo>
                    <a:pt x="8415" y="0"/>
                    <a:pt x="8513" y="98"/>
                    <a:pt x="8513" y="195"/>
                  </a:cubicBezTo>
                  <a:cubicBezTo>
                    <a:pt x="8513" y="317"/>
                    <a:pt x="8415" y="415"/>
                    <a:pt x="8293" y="4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38;p53">
              <a:extLst>
                <a:ext uri="{FF2B5EF4-FFF2-40B4-BE49-F238E27FC236}">
                  <a16:creationId xmlns:a16="http://schemas.microsoft.com/office/drawing/2014/main" id="{3FCE4FE2-707F-61DA-5AA5-84FDA355E1B4}"/>
                </a:ext>
              </a:extLst>
            </p:cNvPr>
            <p:cNvSpPr/>
            <p:nvPr/>
          </p:nvSpPr>
          <p:spPr>
            <a:xfrm>
              <a:off x="4912817" y="1975843"/>
              <a:ext cx="1521673" cy="687317"/>
            </a:xfrm>
            <a:custGeom>
              <a:avLst/>
              <a:gdLst/>
              <a:ahLst/>
              <a:cxnLst/>
              <a:rect l="l" t="t" r="r" b="b"/>
              <a:pathLst>
                <a:path w="29366" h="13123" extrusionOk="0">
                  <a:moveTo>
                    <a:pt x="28805" y="1"/>
                  </a:moveTo>
                  <a:lnTo>
                    <a:pt x="28805" y="11464"/>
                  </a:lnTo>
                  <a:cubicBezTo>
                    <a:pt x="28780" y="12049"/>
                    <a:pt x="28317" y="12537"/>
                    <a:pt x="27707" y="12561"/>
                  </a:cubicBezTo>
                  <a:lnTo>
                    <a:pt x="464" y="12561"/>
                  </a:lnTo>
                  <a:cubicBezTo>
                    <a:pt x="293" y="12537"/>
                    <a:pt x="147" y="12513"/>
                    <a:pt x="0" y="12440"/>
                  </a:cubicBezTo>
                  <a:cubicBezTo>
                    <a:pt x="74" y="12586"/>
                    <a:pt x="147" y="12708"/>
                    <a:pt x="244" y="12830"/>
                  </a:cubicBezTo>
                  <a:cubicBezTo>
                    <a:pt x="464" y="13025"/>
                    <a:pt x="732" y="13122"/>
                    <a:pt x="1025" y="13122"/>
                  </a:cubicBezTo>
                  <a:lnTo>
                    <a:pt x="28268" y="13122"/>
                  </a:lnTo>
                  <a:cubicBezTo>
                    <a:pt x="28561" y="13122"/>
                    <a:pt x="28829" y="13025"/>
                    <a:pt x="29024" y="12830"/>
                  </a:cubicBezTo>
                  <a:cubicBezTo>
                    <a:pt x="29244" y="12610"/>
                    <a:pt x="29366" y="12342"/>
                    <a:pt x="29366" y="12049"/>
                  </a:cubicBezTo>
                  <a:lnTo>
                    <a:pt x="29366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5" name="Google Shape;722;p37">
            <a:extLst>
              <a:ext uri="{FF2B5EF4-FFF2-40B4-BE49-F238E27FC236}">
                <a16:creationId xmlns:a16="http://schemas.microsoft.com/office/drawing/2014/main" id="{29E8C8F1-02E2-1480-F87F-8056208D0334}"/>
              </a:ext>
            </a:extLst>
          </p:cNvPr>
          <p:cNvGrpSpPr/>
          <p:nvPr/>
        </p:nvGrpSpPr>
        <p:grpSpPr>
          <a:xfrm>
            <a:off x="1583959" y="4066231"/>
            <a:ext cx="6587582" cy="835011"/>
            <a:chOff x="715100" y="1600313"/>
            <a:chExt cx="3771900" cy="1412550"/>
          </a:xfrm>
        </p:grpSpPr>
        <p:sp>
          <p:nvSpPr>
            <p:cNvPr id="1286" name="Google Shape;723;p37">
              <a:extLst>
                <a:ext uri="{FF2B5EF4-FFF2-40B4-BE49-F238E27FC236}">
                  <a16:creationId xmlns:a16="http://schemas.microsoft.com/office/drawing/2014/main" id="{845BBB01-A4B1-6EA5-4175-7CDF374B9251}"/>
                </a:ext>
              </a:extLst>
            </p:cNvPr>
            <p:cNvSpPr/>
            <p:nvPr/>
          </p:nvSpPr>
          <p:spPr>
            <a:xfrm>
              <a:off x="812900" y="169166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724;p37">
              <a:extLst>
                <a:ext uri="{FF2B5EF4-FFF2-40B4-BE49-F238E27FC236}">
                  <a16:creationId xmlns:a16="http://schemas.microsoft.com/office/drawing/2014/main" id="{DF99438F-7EF6-93AE-5838-6593A8B45559}"/>
                </a:ext>
              </a:extLst>
            </p:cNvPr>
            <p:cNvSpPr/>
            <p:nvPr/>
          </p:nvSpPr>
          <p:spPr>
            <a:xfrm>
              <a:off x="715100" y="1600313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88" name="文本框 1287">
            <a:extLst>
              <a:ext uri="{FF2B5EF4-FFF2-40B4-BE49-F238E27FC236}">
                <a16:creationId xmlns:a16="http://schemas.microsoft.com/office/drawing/2014/main" id="{783F1B4C-EC96-C296-0495-25606C1429DB}"/>
              </a:ext>
            </a:extLst>
          </p:cNvPr>
          <p:cNvSpPr txBox="1"/>
          <p:nvPr/>
        </p:nvSpPr>
        <p:spPr>
          <a:xfrm>
            <a:off x="2951045" y="4052823"/>
            <a:ext cx="50742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Karla" pitchFamily="2" charset="0"/>
              </a:rPr>
              <a:t>Wiener-Style Mask</a:t>
            </a:r>
          </a:p>
          <a:p>
            <a:r>
              <a:rPr lang="en-US" altLang="zh-CN" dirty="0">
                <a:latin typeface="Karla" pitchFamily="2" charset="0"/>
              </a:rPr>
              <a:t>Designing frequency-dependent attenuation based on the power of speech and noise.</a:t>
            </a:r>
            <a:endParaRPr lang="zh-CN" altLang="en-US" sz="1050" dirty="0">
              <a:latin typeface="Karla" pitchFamily="2" charset="0"/>
            </a:endParaRPr>
          </a:p>
        </p:txBody>
      </p:sp>
      <p:sp>
        <p:nvSpPr>
          <p:cNvPr id="1289" name="矩形: 圆角 1288">
            <a:extLst>
              <a:ext uri="{FF2B5EF4-FFF2-40B4-BE49-F238E27FC236}">
                <a16:creationId xmlns:a16="http://schemas.microsoft.com/office/drawing/2014/main" id="{99A3BCE9-A2FB-A3BC-9761-21F5BC5CF675}"/>
              </a:ext>
            </a:extLst>
          </p:cNvPr>
          <p:cNvSpPr/>
          <p:nvPr/>
        </p:nvSpPr>
        <p:spPr>
          <a:xfrm>
            <a:off x="2389179" y="4161173"/>
            <a:ext cx="525824" cy="589088"/>
          </a:xfrm>
          <a:prstGeom prst="roundRect">
            <a:avLst/>
          </a:prstGeom>
          <a:solidFill>
            <a:srgbClr val="FDE9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solidFill>
                  <a:sysClr val="windowText" lastClr="000000"/>
                </a:solidFill>
                <a:latin typeface="Karla" pitchFamily="2" charset="0"/>
              </a:rPr>
              <a:t>04</a:t>
            </a:r>
          </a:p>
        </p:txBody>
      </p:sp>
      <p:grpSp>
        <p:nvGrpSpPr>
          <p:cNvPr id="1352" name="Google Shape;1352;p53"/>
          <p:cNvGrpSpPr/>
          <p:nvPr/>
        </p:nvGrpSpPr>
        <p:grpSpPr>
          <a:xfrm>
            <a:off x="1715469" y="4200624"/>
            <a:ext cx="502903" cy="502903"/>
            <a:chOff x="5527763" y="4002275"/>
            <a:chExt cx="502903" cy="502903"/>
          </a:xfrm>
        </p:grpSpPr>
        <p:sp>
          <p:nvSpPr>
            <p:cNvPr id="1353" name="Google Shape;1353;p53"/>
            <p:cNvSpPr/>
            <p:nvPr/>
          </p:nvSpPr>
          <p:spPr>
            <a:xfrm>
              <a:off x="5527763" y="4002275"/>
              <a:ext cx="502903" cy="502903"/>
            </a:xfrm>
            <a:custGeom>
              <a:avLst/>
              <a:gdLst/>
              <a:ahLst/>
              <a:cxnLst/>
              <a:rect l="l" t="t" r="r" b="b"/>
              <a:pathLst>
                <a:path w="14708" h="14708" extrusionOk="0">
                  <a:moveTo>
                    <a:pt x="2123" y="0"/>
                  </a:moveTo>
                  <a:cubicBezTo>
                    <a:pt x="952" y="0"/>
                    <a:pt x="1" y="951"/>
                    <a:pt x="1" y="2122"/>
                  </a:cubicBezTo>
                  <a:lnTo>
                    <a:pt x="1" y="12585"/>
                  </a:lnTo>
                  <a:cubicBezTo>
                    <a:pt x="1" y="13780"/>
                    <a:pt x="952" y="14707"/>
                    <a:pt x="2123" y="14707"/>
                  </a:cubicBezTo>
                  <a:lnTo>
                    <a:pt x="12586" y="14707"/>
                  </a:lnTo>
                  <a:cubicBezTo>
                    <a:pt x="13756" y="14707"/>
                    <a:pt x="14708" y="13780"/>
                    <a:pt x="14708" y="12585"/>
                  </a:cubicBezTo>
                  <a:lnTo>
                    <a:pt x="14708" y="2122"/>
                  </a:lnTo>
                  <a:cubicBezTo>
                    <a:pt x="14708" y="951"/>
                    <a:pt x="13756" y="0"/>
                    <a:pt x="12586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53"/>
            <p:cNvSpPr/>
            <p:nvPr/>
          </p:nvSpPr>
          <p:spPr>
            <a:xfrm>
              <a:off x="5619196" y="4093708"/>
              <a:ext cx="320037" cy="320038"/>
            </a:xfrm>
            <a:custGeom>
              <a:avLst/>
              <a:gdLst/>
              <a:ahLst/>
              <a:cxnLst/>
              <a:rect l="l" t="t" r="r" b="b"/>
              <a:pathLst>
                <a:path w="4805" h="4610" extrusionOk="0">
                  <a:moveTo>
                    <a:pt x="3537" y="0"/>
                  </a:moveTo>
                  <a:lnTo>
                    <a:pt x="1707" y="2415"/>
                  </a:lnTo>
                  <a:lnTo>
                    <a:pt x="927" y="1878"/>
                  </a:lnTo>
                  <a:lnTo>
                    <a:pt x="0" y="3171"/>
                  </a:lnTo>
                  <a:lnTo>
                    <a:pt x="2049" y="4610"/>
                  </a:lnTo>
                  <a:lnTo>
                    <a:pt x="4805" y="976"/>
                  </a:lnTo>
                  <a:lnTo>
                    <a:pt x="3537" y="0"/>
                  </a:ln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6578B19-D909-74B7-8AA5-D392068D357E}"/>
              </a:ext>
            </a:extLst>
          </p:cNvPr>
          <p:cNvSpPr txBox="1"/>
          <p:nvPr/>
        </p:nvSpPr>
        <p:spPr>
          <a:xfrm>
            <a:off x="2954300" y="1983658"/>
            <a:ext cx="53468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Karla" pitchFamily="2" charset="0"/>
              </a:rPr>
              <a:t>Modeling the voice denoising as a Signals and Systems problem.</a:t>
            </a:r>
            <a:endParaRPr lang="zh-CN" altLang="en-US" dirty="0">
              <a:latin typeface="Karla" pitchFamily="2" charset="0"/>
            </a:endParaRP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A6A2F7-B589-459F-7AA0-7B0EC58F0D75}"/>
              </a:ext>
            </a:extLst>
          </p:cNvPr>
          <p:cNvSpPr txBox="1"/>
          <p:nvPr/>
        </p:nvSpPr>
        <p:spPr>
          <a:xfrm>
            <a:off x="302587" y="204856"/>
            <a:ext cx="56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36;p52"/>
          <p:cNvSpPr txBox="1"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165441" y="1728691"/>
            <a:ext cx="4572000" cy="19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dirty="0"/>
              <a:t>Thanks</a:t>
            </a:r>
            <a:r>
              <a:rPr lang="en-GB" sz="6600" dirty="0"/>
              <a:t>!</a:t>
            </a:r>
          </a:p>
        </p:txBody>
      </p:sp>
      <p:sp>
        <p:nvSpPr>
          <p:cNvPr id="4" name="Google Shape;1235;p52"/>
          <p:cNvSpPr txBox="1"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110851" y="3285236"/>
            <a:ext cx="5208112" cy="91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altLang="zh-CN" sz="2000" dirty="0"/>
              <a:t>Junze Xie | Ming Chen | Zifan Xu </a:t>
            </a:r>
          </a:p>
          <a:p>
            <a:pPr marL="0" lvl="0" indent="0"/>
            <a:r>
              <a:rPr lang="en-GB" altLang="zh-CN" sz="2000" dirty="0"/>
              <a:t> Yimin Chen | Wanting Luo</a:t>
            </a:r>
          </a:p>
        </p:txBody>
      </p:sp>
      <p:grpSp>
        <p:nvGrpSpPr>
          <p:cNvPr id="22" name="Google Shape;1238;p52"/>
          <p:cNvGrpSpPr/>
          <p:nvPr/>
        </p:nvGrpSpPr>
        <p:grpSpPr>
          <a:xfrm>
            <a:off x="274188" y="1428844"/>
            <a:ext cx="1827475" cy="1051350"/>
            <a:chOff x="6161988" y="3104373"/>
            <a:chExt cx="1827475" cy="1051350"/>
          </a:xfrm>
        </p:grpSpPr>
        <p:grpSp>
          <p:nvGrpSpPr>
            <p:cNvPr id="23" name="Google Shape;1239;p52"/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24" name="Google Shape;1240;p52"/>
              <p:cNvSpPr/>
              <p:nvPr>
                <p:custDataLst>
                  <p:tags r:id="rId29"/>
                </p:custDataLst>
              </p:nvPr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1241;p52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26" name="Google Shape;1242;p52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7" name="Google Shape;1243;p52"/>
                <p:cNvCxnSpPr/>
                <p:nvPr>
                  <p:custDataLst>
                    <p:tags r:id="rId31"/>
                  </p:custDataLst>
                </p:nvPr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8" name="Google Shape;1244;p52"/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29" name="Google Shape;1245;p52"/>
              <p:cNvSpPr/>
              <p:nvPr>
                <p:custDataLst>
                  <p:tags r:id="rId25"/>
                </p:custDataLst>
              </p:nvPr>
            </p:nvSpPr>
            <p:spPr>
              <a:xfrm>
                <a:off x="6343699" y="3524445"/>
                <a:ext cx="776865" cy="54206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48" extrusionOk="0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246;p52"/>
              <p:cNvSpPr/>
              <p:nvPr>
                <p:custDataLst>
                  <p:tags r:id="rId26"/>
                </p:custDataLst>
              </p:nvPr>
            </p:nvSpPr>
            <p:spPr>
              <a:xfrm>
                <a:off x="6343699" y="3651035"/>
                <a:ext cx="777147" cy="55131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371" extrusionOk="0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247;p52"/>
              <p:cNvSpPr/>
              <p:nvPr>
                <p:custDataLst>
                  <p:tags r:id="rId27"/>
                </p:custDataLst>
              </p:nvPr>
            </p:nvSpPr>
            <p:spPr>
              <a:xfrm>
                <a:off x="6343699" y="3778469"/>
                <a:ext cx="776865" cy="55172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72" extrusionOk="0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248;p52"/>
              <p:cNvSpPr/>
              <p:nvPr>
                <p:custDataLst>
                  <p:tags r:id="rId28"/>
                </p:custDataLst>
              </p:nvPr>
            </p:nvSpPr>
            <p:spPr>
              <a:xfrm>
                <a:off x="7286224" y="3416675"/>
                <a:ext cx="413947" cy="509050"/>
              </a:xfrm>
              <a:custGeom>
                <a:avLst/>
                <a:gdLst/>
                <a:ahLst/>
                <a:cxnLst/>
                <a:rect l="l" t="t" r="r" b="b"/>
                <a:pathLst>
                  <a:path w="10294" h="12659" extrusionOk="0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1265;p52"/>
          <p:cNvGrpSpPr/>
          <p:nvPr/>
        </p:nvGrpSpPr>
        <p:grpSpPr>
          <a:xfrm>
            <a:off x="274211" y="2663294"/>
            <a:ext cx="1823501" cy="1051350"/>
            <a:chOff x="7469486" y="1480344"/>
            <a:chExt cx="1823501" cy="1051350"/>
          </a:xfrm>
        </p:grpSpPr>
        <p:grpSp>
          <p:nvGrpSpPr>
            <p:cNvPr id="34" name="Google Shape;1266;p52"/>
            <p:cNvGrpSpPr/>
            <p:nvPr/>
          </p:nvGrpSpPr>
          <p:grpSpPr>
            <a:xfrm>
              <a:off x="7469709" y="1480344"/>
              <a:ext cx="1823279" cy="1051350"/>
              <a:chOff x="278384" y="1278048"/>
              <a:chExt cx="1823279" cy="1051350"/>
            </a:xfrm>
          </p:grpSpPr>
          <p:sp>
            <p:nvSpPr>
              <p:cNvPr id="35" name="Google Shape;1267;p52"/>
              <p:cNvSpPr/>
              <p:nvPr>
                <p:custDataLst>
                  <p:tags r:id="rId22"/>
                </p:custDataLst>
              </p:nvPr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" name="Google Shape;1268;p52"/>
              <p:cNvGrpSpPr/>
              <p:nvPr/>
            </p:nvGrpSpPr>
            <p:grpSpPr>
              <a:xfrm>
                <a:off x="278384" y="1278048"/>
                <a:ext cx="1737300" cy="960000"/>
                <a:chOff x="7150671" y="2190661"/>
                <a:chExt cx="1737300" cy="960000"/>
              </a:xfrm>
            </p:grpSpPr>
            <p:sp>
              <p:nvSpPr>
                <p:cNvPr id="37" name="Google Shape;1269;p52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7150671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8" name="Google Shape;1270;p52"/>
                <p:cNvCxnSpPr/>
                <p:nvPr>
                  <p:custDataLst>
                    <p:tags r:id="rId24"/>
                  </p:custDataLst>
                </p:nvPr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39" name="Google Shape;1271;p52"/>
            <p:cNvCxnSpPr/>
            <p:nvPr>
              <p:custDataLst>
                <p:tags r:id="rId19"/>
              </p:custDataLst>
            </p:nvPr>
          </p:nvCxnSpPr>
          <p:spPr>
            <a:xfrm>
              <a:off x="7469486" y="2052225"/>
              <a:ext cx="1724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0" name="Google Shape;1272;p52"/>
            <p:cNvSpPr/>
            <p:nvPr>
              <p:custDataLst>
                <p:tags r:id="rId20"/>
              </p:custDataLst>
            </p:nvPr>
          </p:nvSpPr>
          <p:spPr>
            <a:xfrm>
              <a:off x="8031688" y="1782907"/>
              <a:ext cx="599697" cy="538636"/>
            </a:xfrm>
            <a:custGeom>
              <a:avLst/>
              <a:gdLst/>
              <a:ahLst/>
              <a:cxnLst/>
              <a:rect l="l" t="t" r="r" b="b"/>
              <a:pathLst>
                <a:path w="11123" h="9990" extrusionOk="0">
                  <a:moveTo>
                    <a:pt x="5566" y="0"/>
                  </a:moveTo>
                  <a:cubicBezTo>
                    <a:pt x="4372" y="0"/>
                    <a:pt x="3174" y="424"/>
                    <a:pt x="2220" y="1288"/>
                  </a:cubicBezTo>
                  <a:cubicBezTo>
                    <a:pt x="172" y="3117"/>
                    <a:pt x="1" y="6287"/>
                    <a:pt x="1855" y="8336"/>
                  </a:cubicBezTo>
                  <a:cubicBezTo>
                    <a:pt x="2832" y="9431"/>
                    <a:pt x="4192" y="9989"/>
                    <a:pt x="5560" y="9989"/>
                  </a:cubicBezTo>
                  <a:cubicBezTo>
                    <a:pt x="6752" y="9989"/>
                    <a:pt x="7949" y="9565"/>
                    <a:pt x="8903" y="8702"/>
                  </a:cubicBezTo>
                  <a:cubicBezTo>
                    <a:pt x="10952" y="6873"/>
                    <a:pt x="11123" y="3702"/>
                    <a:pt x="9293" y="1653"/>
                  </a:cubicBezTo>
                  <a:cubicBezTo>
                    <a:pt x="8303" y="559"/>
                    <a:pt x="6936" y="0"/>
                    <a:pt x="5566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273;p52"/>
            <p:cNvSpPr/>
            <p:nvPr>
              <p:custDataLst>
                <p:tags r:id="rId21"/>
              </p:custDataLst>
            </p:nvPr>
          </p:nvSpPr>
          <p:spPr>
            <a:xfrm>
              <a:off x="8111159" y="1873044"/>
              <a:ext cx="448465" cy="440236"/>
            </a:xfrm>
            <a:custGeom>
              <a:avLst/>
              <a:gdLst/>
              <a:ahLst/>
              <a:cxnLst/>
              <a:rect l="l" t="t" r="r" b="b"/>
              <a:pathLst>
                <a:path w="8318" h="8165" extrusionOk="0">
                  <a:moveTo>
                    <a:pt x="4147" y="0"/>
                  </a:moveTo>
                  <a:cubicBezTo>
                    <a:pt x="1171" y="0"/>
                    <a:pt x="1366" y="3829"/>
                    <a:pt x="1366" y="3829"/>
                  </a:cubicBezTo>
                  <a:lnTo>
                    <a:pt x="2513" y="3829"/>
                  </a:lnTo>
                  <a:cubicBezTo>
                    <a:pt x="2659" y="4098"/>
                    <a:pt x="2854" y="4366"/>
                    <a:pt x="3074" y="4561"/>
                  </a:cubicBezTo>
                  <a:cubicBezTo>
                    <a:pt x="1952" y="4707"/>
                    <a:pt x="879" y="5195"/>
                    <a:pt x="1" y="5951"/>
                  </a:cubicBezTo>
                  <a:cubicBezTo>
                    <a:pt x="1000" y="7427"/>
                    <a:pt x="2580" y="8165"/>
                    <a:pt x="4159" y="8165"/>
                  </a:cubicBezTo>
                  <a:cubicBezTo>
                    <a:pt x="5738" y="8165"/>
                    <a:pt x="7317" y="7427"/>
                    <a:pt x="8317" y="5951"/>
                  </a:cubicBezTo>
                  <a:cubicBezTo>
                    <a:pt x="7439" y="5195"/>
                    <a:pt x="6366" y="4707"/>
                    <a:pt x="5220" y="4561"/>
                  </a:cubicBezTo>
                  <a:cubicBezTo>
                    <a:pt x="5464" y="4366"/>
                    <a:pt x="5659" y="4098"/>
                    <a:pt x="5805" y="3829"/>
                  </a:cubicBezTo>
                  <a:lnTo>
                    <a:pt x="6952" y="3829"/>
                  </a:lnTo>
                  <a:cubicBezTo>
                    <a:pt x="6952" y="3829"/>
                    <a:pt x="7122" y="0"/>
                    <a:pt x="4147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1274;p52"/>
          <p:cNvGrpSpPr/>
          <p:nvPr/>
        </p:nvGrpSpPr>
        <p:grpSpPr>
          <a:xfrm>
            <a:off x="7927951" y="2080033"/>
            <a:ext cx="941841" cy="2789257"/>
            <a:chOff x="6592201" y="2061933"/>
            <a:chExt cx="941841" cy="2789257"/>
          </a:xfrm>
        </p:grpSpPr>
        <p:sp>
          <p:nvSpPr>
            <p:cNvPr id="43" name="Google Shape;1275;p52"/>
            <p:cNvSpPr/>
            <p:nvPr>
              <p:custDataLst>
                <p:tags r:id="rId9"/>
              </p:custDataLst>
            </p:nvPr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69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06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  <a:moveTo>
                    <a:pt x="4172" y="3293"/>
                  </a:moveTo>
                  <a:cubicBezTo>
                    <a:pt x="4952" y="3293"/>
                    <a:pt x="4952" y="2147"/>
                    <a:pt x="4172" y="2147"/>
                  </a:cubicBezTo>
                  <a:cubicBezTo>
                    <a:pt x="4025" y="2147"/>
                    <a:pt x="3879" y="2196"/>
                    <a:pt x="3757" y="2318"/>
                  </a:cubicBezTo>
                  <a:cubicBezTo>
                    <a:pt x="3537" y="2537"/>
                    <a:pt x="3537" y="2903"/>
                    <a:pt x="3757" y="3123"/>
                  </a:cubicBezTo>
                  <a:cubicBezTo>
                    <a:pt x="3879" y="3244"/>
                    <a:pt x="4025" y="3293"/>
                    <a:pt x="4172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76;p52"/>
            <p:cNvSpPr/>
            <p:nvPr>
              <p:custDataLst>
                <p:tags r:id="rId10"/>
              </p:custDataLst>
            </p:nvPr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391" y="23464"/>
                  </a:moveTo>
                  <a:cubicBezTo>
                    <a:pt x="391" y="23756"/>
                    <a:pt x="513" y="24049"/>
                    <a:pt x="733" y="24268"/>
                  </a:cubicBezTo>
                  <a:cubicBezTo>
                    <a:pt x="928" y="24488"/>
                    <a:pt x="1220" y="24585"/>
                    <a:pt x="1537" y="24585"/>
                  </a:cubicBezTo>
                  <a:lnTo>
                    <a:pt x="6806" y="24585"/>
                  </a:lnTo>
                  <a:cubicBezTo>
                    <a:pt x="7440" y="24585"/>
                    <a:pt x="7952" y="24073"/>
                    <a:pt x="7952" y="23464"/>
                  </a:cubicBezTo>
                  <a:lnTo>
                    <a:pt x="7952" y="4074"/>
                  </a:lnTo>
                  <a:cubicBezTo>
                    <a:pt x="7879" y="2025"/>
                    <a:pt x="6220" y="391"/>
                    <a:pt x="4172" y="391"/>
                  </a:cubicBezTo>
                  <a:cubicBezTo>
                    <a:pt x="2123" y="391"/>
                    <a:pt x="440" y="2025"/>
                    <a:pt x="391" y="4074"/>
                  </a:cubicBezTo>
                  <a:close/>
                  <a:moveTo>
                    <a:pt x="4172" y="2196"/>
                  </a:moveTo>
                  <a:cubicBezTo>
                    <a:pt x="4854" y="2196"/>
                    <a:pt x="4854" y="3244"/>
                    <a:pt x="4172" y="3244"/>
                  </a:cubicBezTo>
                  <a:cubicBezTo>
                    <a:pt x="4025" y="3244"/>
                    <a:pt x="3903" y="3171"/>
                    <a:pt x="3806" y="3074"/>
                  </a:cubicBezTo>
                  <a:cubicBezTo>
                    <a:pt x="3611" y="2879"/>
                    <a:pt x="3611" y="2562"/>
                    <a:pt x="3806" y="2342"/>
                  </a:cubicBezTo>
                  <a:cubicBezTo>
                    <a:pt x="3903" y="2245"/>
                    <a:pt x="4025" y="2196"/>
                    <a:pt x="4172" y="2196"/>
                  </a:cubicBezTo>
                  <a:close/>
                  <a:moveTo>
                    <a:pt x="3611" y="2147"/>
                  </a:moveTo>
                  <a:cubicBezTo>
                    <a:pt x="4220" y="1513"/>
                    <a:pt x="5269" y="2196"/>
                    <a:pt x="4928" y="3025"/>
                  </a:cubicBezTo>
                  <a:cubicBezTo>
                    <a:pt x="4586" y="3854"/>
                    <a:pt x="3367" y="3610"/>
                    <a:pt x="3367" y="2708"/>
                  </a:cubicBezTo>
                  <a:cubicBezTo>
                    <a:pt x="3367" y="2488"/>
                    <a:pt x="3440" y="2293"/>
                    <a:pt x="3611" y="2147"/>
                  </a:cubicBezTo>
                  <a:close/>
                  <a:moveTo>
                    <a:pt x="7196" y="19951"/>
                  </a:moveTo>
                  <a:lnTo>
                    <a:pt x="7196" y="19951"/>
                  </a:lnTo>
                  <a:lnTo>
                    <a:pt x="7196" y="22805"/>
                  </a:lnTo>
                  <a:cubicBezTo>
                    <a:pt x="7196" y="22878"/>
                    <a:pt x="7123" y="22951"/>
                    <a:pt x="7049" y="22951"/>
                  </a:cubicBezTo>
                  <a:lnTo>
                    <a:pt x="1294" y="22951"/>
                  </a:lnTo>
                  <a:cubicBezTo>
                    <a:pt x="1220" y="22951"/>
                    <a:pt x="1147" y="22878"/>
                    <a:pt x="1147" y="22805"/>
                  </a:cubicBezTo>
                  <a:lnTo>
                    <a:pt x="1147" y="5635"/>
                  </a:lnTo>
                  <a:cubicBezTo>
                    <a:pt x="1147" y="5562"/>
                    <a:pt x="1220" y="5488"/>
                    <a:pt x="1294" y="5488"/>
                  </a:cubicBezTo>
                  <a:lnTo>
                    <a:pt x="7025" y="5488"/>
                  </a:lnTo>
                  <a:cubicBezTo>
                    <a:pt x="7123" y="5488"/>
                    <a:pt x="7196" y="5562"/>
                    <a:pt x="7196" y="5635"/>
                  </a:cubicBezTo>
                  <a:lnTo>
                    <a:pt x="7196" y="8488"/>
                  </a:lnTo>
                  <a:lnTo>
                    <a:pt x="7196" y="8488"/>
                  </a:lnTo>
                  <a:lnTo>
                    <a:pt x="7196" y="11366"/>
                  </a:lnTo>
                  <a:lnTo>
                    <a:pt x="7196" y="11366"/>
                  </a:lnTo>
                  <a:lnTo>
                    <a:pt x="7196" y="14220"/>
                  </a:lnTo>
                  <a:lnTo>
                    <a:pt x="7196" y="14220"/>
                  </a:lnTo>
                  <a:lnTo>
                    <a:pt x="7196" y="17073"/>
                  </a:lnTo>
                  <a:lnTo>
                    <a:pt x="7196" y="17073"/>
                  </a:lnTo>
                  <a:lnTo>
                    <a:pt x="7196" y="19927"/>
                  </a:lnTo>
                  <a:close/>
                  <a:moveTo>
                    <a:pt x="6879" y="20098"/>
                  </a:moveTo>
                  <a:lnTo>
                    <a:pt x="6879" y="22659"/>
                  </a:lnTo>
                  <a:lnTo>
                    <a:pt x="1440" y="22659"/>
                  </a:lnTo>
                  <a:lnTo>
                    <a:pt x="1440" y="20098"/>
                  </a:lnTo>
                  <a:close/>
                  <a:moveTo>
                    <a:pt x="1440" y="19781"/>
                  </a:moveTo>
                  <a:lnTo>
                    <a:pt x="1440" y="17220"/>
                  </a:lnTo>
                  <a:lnTo>
                    <a:pt x="6879" y="17220"/>
                  </a:lnTo>
                  <a:lnTo>
                    <a:pt x="6879" y="19781"/>
                  </a:lnTo>
                  <a:close/>
                  <a:moveTo>
                    <a:pt x="1440" y="16927"/>
                  </a:moveTo>
                  <a:lnTo>
                    <a:pt x="1440" y="14366"/>
                  </a:lnTo>
                  <a:lnTo>
                    <a:pt x="6879" y="14366"/>
                  </a:lnTo>
                  <a:lnTo>
                    <a:pt x="6879" y="16927"/>
                  </a:lnTo>
                  <a:close/>
                  <a:moveTo>
                    <a:pt x="1440" y="14074"/>
                  </a:moveTo>
                  <a:lnTo>
                    <a:pt x="1440" y="11513"/>
                  </a:lnTo>
                  <a:lnTo>
                    <a:pt x="6879" y="11513"/>
                  </a:lnTo>
                  <a:lnTo>
                    <a:pt x="6879" y="14074"/>
                  </a:lnTo>
                  <a:close/>
                  <a:moveTo>
                    <a:pt x="1440" y="11196"/>
                  </a:moveTo>
                  <a:lnTo>
                    <a:pt x="1440" y="8635"/>
                  </a:lnTo>
                  <a:lnTo>
                    <a:pt x="6879" y="8635"/>
                  </a:lnTo>
                  <a:lnTo>
                    <a:pt x="6879" y="11196"/>
                  </a:lnTo>
                  <a:close/>
                  <a:moveTo>
                    <a:pt x="1440" y="8342"/>
                  </a:moveTo>
                  <a:lnTo>
                    <a:pt x="1440" y="5805"/>
                  </a:lnTo>
                  <a:lnTo>
                    <a:pt x="6879" y="5805"/>
                  </a:lnTo>
                  <a:lnTo>
                    <a:pt x="6879" y="8366"/>
                  </a:lnTo>
                  <a:close/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93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30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77;p52"/>
            <p:cNvSpPr/>
            <p:nvPr>
              <p:custDataLst>
                <p:tags r:id="rId11"/>
              </p:custDataLst>
            </p:nvPr>
          </p:nvSpPr>
          <p:spPr>
            <a:xfrm>
              <a:off x="6636341" y="2105487"/>
              <a:ext cx="853561" cy="2702149"/>
            </a:xfrm>
            <a:custGeom>
              <a:avLst/>
              <a:gdLst/>
              <a:ahLst/>
              <a:cxnLst/>
              <a:rect l="l" t="t" r="r" b="b"/>
              <a:pathLst>
                <a:path w="7561" h="24196" extrusionOk="0">
                  <a:moveTo>
                    <a:pt x="0" y="3684"/>
                  </a:moveTo>
                  <a:lnTo>
                    <a:pt x="0" y="23074"/>
                  </a:lnTo>
                  <a:cubicBezTo>
                    <a:pt x="0" y="23366"/>
                    <a:pt x="122" y="23659"/>
                    <a:pt x="342" y="23878"/>
                  </a:cubicBezTo>
                  <a:cubicBezTo>
                    <a:pt x="537" y="24098"/>
                    <a:pt x="829" y="24195"/>
                    <a:pt x="1146" y="24195"/>
                  </a:cubicBezTo>
                  <a:lnTo>
                    <a:pt x="6415" y="24195"/>
                  </a:lnTo>
                  <a:cubicBezTo>
                    <a:pt x="7049" y="24195"/>
                    <a:pt x="7561" y="23683"/>
                    <a:pt x="7561" y="23074"/>
                  </a:cubicBezTo>
                  <a:lnTo>
                    <a:pt x="7561" y="3684"/>
                  </a:lnTo>
                  <a:cubicBezTo>
                    <a:pt x="7488" y="1635"/>
                    <a:pt x="5829" y="1"/>
                    <a:pt x="3781" y="1"/>
                  </a:cubicBezTo>
                  <a:cubicBezTo>
                    <a:pt x="1732" y="1"/>
                    <a:pt x="49" y="1635"/>
                    <a:pt x="0" y="3684"/>
                  </a:cubicBezTo>
                  <a:close/>
                  <a:moveTo>
                    <a:pt x="4585" y="2318"/>
                  </a:moveTo>
                  <a:cubicBezTo>
                    <a:pt x="4585" y="3220"/>
                    <a:pt x="3366" y="3464"/>
                    <a:pt x="3024" y="2635"/>
                  </a:cubicBezTo>
                  <a:cubicBezTo>
                    <a:pt x="2683" y="1806"/>
                    <a:pt x="3732" y="1123"/>
                    <a:pt x="4366" y="1757"/>
                  </a:cubicBezTo>
                  <a:cubicBezTo>
                    <a:pt x="4512" y="1903"/>
                    <a:pt x="4585" y="2098"/>
                    <a:pt x="4585" y="2318"/>
                  </a:cubicBezTo>
                  <a:close/>
                  <a:moveTo>
                    <a:pt x="903" y="5098"/>
                  </a:moveTo>
                  <a:lnTo>
                    <a:pt x="6634" y="5098"/>
                  </a:lnTo>
                  <a:cubicBezTo>
                    <a:pt x="6732" y="5098"/>
                    <a:pt x="6805" y="5172"/>
                    <a:pt x="6805" y="5245"/>
                  </a:cubicBezTo>
                  <a:lnTo>
                    <a:pt x="6805" y="8123"/>
                  </a:lnTo>
                  <a:lnTo>
                    <a:pt x="6805" y="8123"/>
                  </a:lnTo>
                  <a:lnTo>
                    <a:pt x="6805" y="10976"/>
                  </a:lnTo>
                  <a:lnTo>
                    <a:pt x="6805" y="10976"/>
                  </a:lnTo>
                  <a:lnTo>
                    <a:pt x="6805" y="13830"/>
                  </a:lnTo>
                  <a:lnTo>
                    <a:pt x="6805" y="13830"/>
                  </a:lnTo>
                  <a:lnTo>
                    <a:pt x="6805" y="16683"/>
                  </a:lnTo>
                  <a:lnTo>
                    <a:pt x="6805" y="16683"/>
                  </a:lnTo>
                  <a:lnTo>
                    <a:pt x="6805" y="19537"/>
                  </a:lnTo>
                  <a:lnTo>
                    <a:pt x="6805" y="19537"/>
                  </a:lnTo>
                  <a:lnTo>
                    <a:pt x="6805" y="22415"/>
                  </a:lnTo>
                  <a:cubicBezTo>
                    <a:pt x="6805" y="22488"/>
                    <a:pt x="6732" y="22561"/>
                    <a:pt x="6634" y="22561"/>
                  </a:cubicBezTo>
                  <a:lnTo>
                    <a:pt x="903" y="22561"/>
                  </a:lnTo>
                  <a:cubicBezTo>
                    <a:pt x="829" y="22561"/>
                    <a:pt x="756" y="22488"/>
                    <a:pt x="756" y="22415"/>
                  </a:cubicBezTo>
                  <a:lnTo>
                    <a:pt x="756" y="5245"/>
                  </a:lnTo>
                  <a:cubicBezTo>
                    <a:pt x="756" y="5172"/>
                    <a:pt x="829" y="5098"/>
                    <a:pt x="903" y="50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78;p52"/>
            <p:cNvSpPr/>
            <p:nvPr>
              <p:custDataLst>
                <p:tags r:id="rId12"/>
              </p:custDataLst>
            </p:nvPr>
          </p:nvSpPr>
          <p:spPr>
            <a:xfrm>
              <a:off x="6754649" y="2707541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6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79;p52"/>
            <p:cNvSpPr/>
            <p:nvPr>
              <p:custDataLst>
                <p:tags r:id="rId13"/>
              </p:custDataLst>
            </p:nvPr>
          </p:nvSpPr>
          <p:spPr>
            <a:xfrm>
              <a:off x="6754649" y="3028949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7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80;p52"/>
            <p:cNvSpPr/>
            <p:nvPr>
              <p:custDataLst>
                <p:tags r:id="rId14"/>
              </p:custDataLst>
            </p:nvPr>
          </p:nvSpPr>
          <p:spPr>
            <a:xfrm>
              <a:off x="6754649" y="3347564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81;p52"/>
            <p:cNvSpPr/>
            <p:nvPr>
              <p:custDataLst>
                <p:tags r:id="rId15"/>
              </p:custDataLst>
            </p:nvPr>
          </p:nvSpPr>
          <p:spPr>
            <a:xfrm>
              <a:off x="6754649" y="3666292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8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282;p52"/>
            <p:cNvSpPr/>
            <p:nvPr>
              <p:custDataLst>
                <p:tags r:id="rId16"/>
              </p:custDataLst>
            </p:nvPr>
          </p:nvSpPr>
          <p:spPr>
            <a:xfrm>
              <a:off x="6754649" y="3987700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9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83;p52"/>
            <p:cNvSpPr/>
            <p:nvPr>
              <p:custDataLst>
                <p:tags r:id="rId17"/>
              </p:custDataLst>
            </p:nvPr>
          </p:nvSpPr>
          <p:spPr>
            <a:xfrm>
              <a:off x="6754649" y="4306316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284;p52"/>
            <p:cNvSpPr/>
            <p:nvPr>
              <p:custDataLst>
                <p:tags r:id="rId18"/>
              </p:custDataLst>
            </p:nvPr>
          </p:nvSpPr>
          <p:spPr>
            <a:xfrm>
              <a:off x="6655532" y="2184555"/>
              <a:ext cx="834370" cy="2623081"/>
            </a:xfrm>
            <a:custGeom>
              <a:avLst/>
              <a:gdLst/>
              <a:ahLst/>
              <a:cxnLst/>
              <a:rect l="l" t="t" r="r" b="b"/>
              <a:pathLst>
                <a:path w="7391" h="23488" extrusionOk="0">
                  <a:moveTo>
                    <a:pt x="6928" y="21951"/>
                  </a:moveTo>
                  <a:cubicBezTo>
                    <a:pt x="6928" y="22244"/>
                    <a:pt x="6830" y="22536"/>
                    <a:pt x="6610" y="22756"/>
                  </a:cubicBezTo>
                  <a:cubicBezTo>
                    <a:pt x="6391" y="22975"/>
                    <a:pt x="6098" y="23073"/>
                    <a:pt x="5806" y="23097"/>
                  </a:cubicBezTo>
                  <a:lnTo>
                    <a:pt x="513" y="23097"/>
                  </a:lnTo>
                  <a:cubicBezTo>
                    <a:pt x="342" y="23097"/>
                    <a:pt x="172" y="23048"/>
                    <a:pt x="1" y="22951"/>
                  </a:cubicBezTo>
                  <a:cubicBezTo>
                    <a:pt x="50" y="23024"/>
                    <a:pt x="98" y="23097"/>
                    <a:pt x="172" y="23170"/>
                  </a:cubicBezTo>
                  <a:cubicBezTo>
                    <a:pt x="367" y="23390"/>
                    <a:pt x="659" y="23487"/>
                    <a:pt x="976" y="23487"/>
                  </a:cubicBezTo>
                  <a:lnTo>
                    <a:pt x="6245" y="23487"/>
                  </a:lnTo>
                  <a:cubicBezTo>
                    <a:pt x="6879" y="23487"/>
                    <a:pt x="7391" y="22975"/>
                    <a:pt x="7391" y="22366"/>
                  </a:cubicBezTo>
                  <a:lnTo>
                    <a:pt x="7391" y="2976"/>
                  </a:lnTo>
                  <a:cubicBezTo>
                    <a:pt x="7391" y="1976"/>
                    <a:pt x="6976" y="1025"/>
                    <a:pt x="6269" y="317"/>
                  </a:cubicBezTo>
                  <a:cubicBezTo>
                    <a:pt x="6171" y="195"/>
                    <a:pt x="6049" y="98"/>
                    <a:pt x="5928" y="0"/>
                  </a:cubicBezTo>
                  <a:cubicBezTo>
                    <a:pt x="6586" y="707"/>
                    <a:pt x="6952" y="1610"/>
                    <a:pt x="6928" y="256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1285;p52"/>
          <p:cNvGrpSpPr/>
          <p:nvPr/>
        </p:nvGrpSpPr>
        <p:grpSpPr>
          <a:xfrm>
            <a:off x="7141459" y="1885950"/>
            <a:ext cx="603495" cy="1371596"/>
            <a:chOff x="3724575" y="3497700"/>
            <a:chExt cx="603495" cy="1371596"/>
          </a:xfrm>
        </p:grpSpPr>
        <p:sp>
          <p:nvSpPr>
            <p:cNvPr id="54" name="Google Shape;1286;p52"/>
            <p:cNvSpPr/>
            <p:nvPr>
              <p:custDataLst>
                <p:tags r:id="rId3"/>
              </p:custDataLst>
            </p:nvPr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87;p52"/>
            <p:cNvSpPr/>
            <p:nvPr>
              <p:custDataLst>
                <p:tags r:id="rId4"/>
              </p:custDataLst>
            </p:nvPr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288;p52"/>
            <p:cNvSpPr/>
            <p:nvPr>
              <p:custDataLst>
                <p:tags r:id="rId5"/>
              </p:custDataLst>
            </p:nvPr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289;p52"/>
            <p:cNvSpPr/>
            <p:nvPr>
              <p:custDataLst>
                <p:tags r:id="rId6"/>
              </p:custDataLst>
            </p:nvPr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290;p52"/>
            <p:cNvSpPr/>
            <p:nvPr>
              <p:custDataLst>
                <p:tags r:id="rId7"/>
              </p:custDataLst>
            </p:nvPr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291;p52"/>
            <p:cNvSpPr/>
            <p:nvPr>
              <p:custDataLst>
                <p:tags r:id="rId8"/>
              </p:custDataLst>
            </p:nvPr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0c52069-792a-4106-b81a-63497c6daf71"/>
  <p:tag name="COMMONDATA" val="eyJoZGlkIjoiODQzMmJhODVhMWUxNTYyZjlmZjI0Zjk1ZDVhZjUzZ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764</Words>
  <Application>Microsoft Macintosh PowerPoint</Application>
  <PresentationFormat>全屏显示(16:9)</PresentationFormat>
  <Paragraphs>163</Paragraphs>
  <Slides>23</Slides>
  <Notes>23</Notes>
  <HiddenSlides>0</HiddenSlides>
  <MMClips>4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Cambria Math</vt:lpstr>
      <vt:lpstr>Bebas Neue</vt:lpstr>
      <vt:lpstr>Karla</vt:lpstr>
      <vt:lpstr>Times New Roman</vt:lpstr>
      <vt:lpstr>Rubik Black</vt:lpstr>
      <vt:lpstr>Arial</vt:lpstr>
      <vt:lpstr>Soft Colors UI Design for Agencies by Slidesgo</vt:lpstr>
      <vt:lpstr>Silence in the Spectrum: Unmasking Speech From Noise</vt:lpstr>
      <vt:lpstr>01</vt:lpstr>
      <vt:lpstr>01</vt:lpstr>
      <vt:lpstr>Scenario</vt:lpstr>
      <vt:lpstr>Scope</vt:lpstr>
      <vt:lpstr>Problem Statement</vt:lpstr>
      <vt:lpstr>02</vt:lpstr>
      <vt:lpstr>Signal Model</vt:lpstr>
      <vt:lpstr>Frequency-Domain Observation</vt:lpstr>
      <vt:lpstr>Frequency-Domain Observation</vt:lpstr>
      <vt:lpstr> Low-Pass Filter</vt:lpstr>
      <vt:lpstr>Parameter Choice</vt:lpstr>
      <vt:lpstr>Shortage of low-pass filter</vt:lpstr>
      <vt:lpstr>03</vt:lpstr>
      <vt:lpstr>Frequency-Domain Masking</vt:lpstr>
      <vt:lpstr>Short-time Fourier Transform</vt:lpstr>
      <vt:lpstr>Frequency-domain mask</vt:lpstr>
      <vt:lpstr>Wiener-Style Mask</vt:lpstr>
      <vt:lpstr>Improved method workflow</vt:lpstr>
      <vt:lpstr>Demo</vt:lpstr>
      <vt:lpstr>Result comparison</vt:lpstr>
      <vt:lpstr>A simple filter can become a richer system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Colors UI Design for Agencies</dc:title>
  <dc:creator>陈怡敏</dc:creator>
  <cp:lastModifiedBy>office</cp:lastModifiedBy>
  <cp:revision>44</cp:revision>
  <dcterms:created xsi:type="dcterms:W3CDTF">2023-06-21T09:46:51Z</dcterms:created>
  <dcterms:modified xsi:type="dcterms:W3CDTF">2026-05-09T12:26:15Z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64E7ED1BA5EB4F4D9EA8860AF89282AF_12</vt:lpwstr>
  </property>
  <property fmtid="{D5CDD505-2E9C-101B-9397-08002B2CF9AE}" pid="3" name="KSOProductBuildVer">
    <vt:lpwstr>2052-11.1.0.14309</vt:lpwstr>
  </property>
</Properties>
</file>